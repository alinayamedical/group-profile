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0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75" r:id="rId13"/>
    <p:sldId id="276" r:id="rId14"/>
    <p:sldId id="277" r:id="rId15"/>
    <p:sldId id="278" r:id="rId16"/>
    <p:sldId id="266" r:id="rId17"/>
    <p:sldId id="267" r:id="rId18"/>
    <p:sldId id="268" r:id="rId19"/>
    <p:sldId id="271" r:id="rId20"/>
    <p:sldId id="273" r:id="rId21"/>
  </p:sldIdLst>
  <p:sldSz cx="18288000" cy="10287000"/>
  <p:notesSz cx="6858000" cy="9144000"/>
  <p:embeddedFontLst>
    <p:embeddedFont>
      <p:font typeface="29LT Adir" panose="020B0604020202020204" charset="-78"/>
      <p:regular r:id="rId22"/>
    </p:embeddedFont>
    <p:embeddedFont>
      <p:font typeface="29LT Adir Bold" panose="020B0604020202020204" charset="-78"/>
      <p:regular r:id="rId23"/>
    </p:embeddedFont>
    <p:embeddedFont>
      <p:font typeface="Arial Bold" panose="020B0704020202020204" pitchFamily="34" charset="0"/>
      <p:regular r:id="rId24"/>
      <p:bold r:id="rId25"/>
    </p:embeddedFont>
    <p:embeddedFont>
      <p:font typeface="Calibri (MS)" panose="020B0604020202020204" charset="0"/>
      <p:regular r:id="rId26"/>
    </p:embeddedFont>
    <p:embeddedFont>
      <p:font typeface="Calibri (MS)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2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svg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9.jpeg"/><Relationship Id="rId16" Type="http://schemas.openxmlformats.org/officeDocument/2006/relationships/image" Target="../media/image32.svg"/><Relationship Id="rId20" Type="http://schemas.openxmlformats.org/officeDocument/2006/relationships/image" Target="../media/image3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jpe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10.png"/><Relationship Id="rId7" Type="http://schemas.openxmlformats.org/officeDocument/2006/relationships/image" Target="../media/image4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10.png"/><Relationship Id="rId7" Type="http://schemas.openxmlformats.org/officeDocument/2006/relationships/image" Target="../media/image4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svg"/><Relationship Id="rId18" Type="http://schemas.openxmlformats.org/officeDocument/2006/relationships/image" Target="../media/image59.svg"/><Relationship Id="rId26" Type="http://schemas.openxmlformats.org/officeDocument/2006/relationships/image" Target="../media/image67.svg"/><Relationship Id="rId3" Type="http://schemas.openxmlformats.org/officeDocument/2006/relationships/image" Target="../media/image10.png"/><Relationship Id="rId21" Type="http://schemas.openxmlformats.org/officeDocument/2006/relationships/image" Target="../media/image62.png"/><Relationship Id="rId34" Type="http://schemas.openxmlformats.org/officeDocument/2006/relationships/image" Target="../media/image75.svg"/><Relationship Id="rId7" Type="http://schemas.openxmlformats.org/officeDocument/2006/relationships/image" Target="../media/image48.sv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33" Type="http://schemas.openxmlformats.org/officeDocument/2006/relationships/image" Target="../media/image74.png"/><Relationship Id="rId2" Type="http://schemas.openxmlformats.org/officeDocument/2006/relationships/image" Target="../media/image9.jpeg"/><Relationship Id="rId16" Type="http://schemas.openxmlformats.org/officeDocument/2006/relationships/image" Target="../media/image57.svg"/><Relationship Id="rId20" Type="http://schemas.openxmlformats.org/officeDocument/2006/relationships/image" Target="../media/image61.png"/><Relationship Id="rId29" Type="http://schemas.openxmlformats.org/officeDocument/2006/relationships/image" Target="../media/image7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24" Type="http://schemas.openxmlformats.org/officeDocument/2006/relationships/image" Target="../media/image65.svg"/><Relationship Id="rId32" Type="http://schemas.openxmlformats.org/officeDocument/2006/relationships/image" Target="../media/image73.sv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10" Type="http://schemas.openxmlformats.org/officeDocument/2006/relationships/image" Target="../media/image51.svg"/><Relationship Id="rId19" Type="http://schemas.openxmlformats.org/officeDocument/2006/relationships/image" Target="../media/image60.png"/><Relationship Id="rId31" Type="http://schemas.openxmlformats.org/officeDocument/2006/relationships/image" Target="../media/image72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svg"/><Relationship Id="rId27" Type="http://schemas.openxmlformats.org/officeDocument/2006/relationships/image" Target="../media/image68.png"/><Relationship Id="rId30" Type="http://schemas.openxmlformats.org/officeDocument/2006/relationships/image" Target="../media/image71.png"/><Relationship Id="rId35" Type="http://schemas.openxmlformats.org/officeDocument/2006/relationships/image" Target="../media/image76.png"/><Relationship Id="rId8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0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svg"/><Relationship Id="rId4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image" Target="../media/image10.png"/><Relationship Id="rId21" Type="http://schemas.openxmlformats.org/officeDocument/2006/relationships/image" Target="../media/image98.png"/><Relationship Id="rId7" Type="http://schemas.openxmlformats.org/officeDocument/2006/relationships/image" Target="../media/image84.jpe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" Type="http://schemas.openxmlformats.org/officeDocument/2006/relationships/image" Target="../media/image9.jpeg"/><Relationship Id="rId16" Type="http://schemas.openxmlformats.org/officeDocument/2006/relationships/image" Target="../media/image93.png"/><Relationship Id="rId20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24" Type="http://schemas.openxmlformats.org/officeDocument/2006/relationships/image" Target="../media/image101.png"/><Relationship Id="rId5" Type="http://schemas.openxmlformats.org/officeDocument/2006/relationships/image" Target="../media/image82.png"/><Relationship Id="rId15" Type="http://schemas.openxmlformats.org/officeDocument/2006/relationships/image" Target="../media/image92.jpeg"/><Relationship Id="rId23" Type="http://schemas.openxmlformats.org/officeDocument/2006/relationships/image" Target="../media/image100.png"/><Relationship Id="rId10" Type="http://schemas.openxmlformats.org/officeDocument/2006/relationships/image" Target="../media/image87.png"/><Relationship Id="rId19" Type="http://schemas.openxmlformats.org/officeDocument/2006/relationships/image" Target="../media/image96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Relationship Id="rId22" Type="http://schemas.openxmlformats.org/officeDocument/2006/relationships/image" Target="../media/image9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svg"/><Relationship Id="rId13" Type="http://schemas.openxmlformats.org/officeDocument/2006/relationships/image" Target="../media/image111.svg"/><Relationship Id="rId3" Type="http://schemas.openxmlformats.org/officeDocument/2006/relationships/image" Target="../media/image10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svg"/><Relationship Id="rId15" Type="http://schemas.openxmlformats.org/officeDocument/2006/relationships/image" Target="../media/image113.png"/><Relationship Id="rId10" Type="http://schemas.openxmlformats.org/officeDocument/2006/relationships/image" Target="../media/image108.sv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125.svg"/><Relationship Id="rId3" Type="http://schemas.openxmlformats.org/officeDocument/2006/relationships/image" Target="../media/image10.png"/><Relationship Id="rId7" Type="http://schemas.openxmlformats.org/officeDocument/2006/relationships/hyperlink" Target="https://www.linkedin.com/company/taib-saudi/" TargetMode="External"/><Relationship Id="rId12" Type="http://schemas.openxmlformats.org/officeDocument/2006/relationships/image" Target="../media/image119.svg"/><Relationship Id="rId17" Type="http://schemas.openxmlformats.org/officeDocument/2006/relationships/image" Target="../media/image124.png"/><Relationship Id="rId2" Type="http://schemas.openxmlformats.org/officeDocument/2006/relationships/image" Target="../media/image13.png"/><Relationship Id="rId16" Type="http://schemas.openxmlformats.org/officeDocument/2006/relationships/image" Target="../media/image123.svg"/><Relationship Id="rId20" Type="http://schemas.openxmlformats.org/officeDocument/2006/relationships/hyperlink" Target="mailto:halsaggaf@taibsa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taibsa.com/" TargetMode="External"/><Relationship Id="rId11" Type="http://schemas.openxmlformats.org/officeDocument/2006/relationships/image" Target="../media/image118.png"/><Relationship Id="rId5" Type="http://schemas.openxmlformats.org/officeDocument/2006/relationships/hyperlink" Target="mailto:info@taibsa.com" TargetMode="External"/><Relationship Id="rId15" Type="http://schemas.openxmlformats.org/officeDocument/2006/relationships/image" Target="../media/image122.png"/><Relationship Id="rId10" Type="http://schemas.openxmlformats.org/officeDocument/2006/relationships/image" Target="../media/image117.png"/><Relationship Id="rId19" Type="http://schemas.openxmlformats.org/officeDocument/2006/relationships/image" Target="../media/image126.png"/><Relationship Id="rId4" Type="http://schemas.openxmlformats.org/officeDocument/2006/relationships/image" Target="../media/image114.png"/><Relationship Id="rId9" Type="http://schemas.openxmlformats.org/officeDocument/2006/relationships/image" Target="../media/image116.svg"/><Relationship Id="rId14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9081B">
                <a:alpha val="56078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173B6C">
                <a:alpha val="2549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416719" y="9453562"/>
            <a:ext cx="1583531" cy="642938"/>
          </a:xfrm>
          <a:custGeom>
            <a:avLst/>
            <a:gdLst/>
            <a:ahLst/>
            <a:cxnLst/>
            <a:rect l="l" t="t" r="r" b="b"/>
            <a:pathLst>
              <a:path w="1583531" h="642938">
                <a:moveTo>
                  <a:pt x="0" y="0"/>
                </a:moveTo>
                <a:lnTo>
                  <a:pt x="1583531" y="0"/>
                </a:lnTo>
                <a:lnTo>
                  <a:pt x="1583531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" r="-155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37DC756-55FB-BBA0-69DD-6775B7F4CF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6802" y="6025078"/>
            <a:ext cx="3505434" cy="250957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08F078D-B111-8B86-0D82-F9408923615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339" y="6079547"/>
            <a:ext cx="6544588" cy="240063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58F2F5B-A775-C267-E00D-A480E546D47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268194"/>
            <a:ext cx="4965079" cy="34342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D22FB15-C8F3-FB2B-4CDB-16005381E0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0696" y="1124494"/>
            <a:ext cx="3941183" cy="37216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0A6C5-D913-FDAF-FC05-46B133DEA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1A3120-E2EF-8157-2F13-02EC48C3697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F700E86-579D-AF00-E3EE-D218CEE7D246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80F0F9A-05A0-DF93-49D2-3B7E3A7E0FDD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9081B">
                <a:alpha val="56078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873D8B7-B0A8-4188-A6B7-68F97F3F200E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E5BC5CE-74DB-C90A-2526-8023E0869BC4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173B6C">
                <a:alpha val="2549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278AA03-48DC-CE15-DF51-7AF3723C70F6}"/>
              </a:ext>
            </a:extLst>
          </p:cNvPr>
          <p:cNvSpPr/>
          <p:nvPr/>
        </p:nvSpPr>
        <p:spPr>
          <a:xfrm>
            <a:off x="10108882" y="0"/>
            <a:ext cx="8179118" cy="6387941"/>
          </a:xfrm>
          <a:custGeom>
            <a:avLst/>
            <a:gdLst/>
            <a:ahLst/>
            <a:cxnLst/>
            <a:rect l="l" t="t" r="r" b="b"/>
            <a:pathLst>
              <a:path w="8179118" h="6387941">
                <a:moveTo>
                  <a:pt x="0" y="0"/>
                </a:moveTo>
                <a:lnTo>
                  <a:pt x="8179118" y="0"/>
                </a:lnTo>
                <a:lnTo>
                  <a:pt x="8179118" y="6387941"/>
                </a:lnTo>
                <a:lnTo>
                  <a:pt x="0" y="63879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" b="-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F5E6ED-0D33-D775-F614-1DFAB8C01BA4}"/>
              </a:ext>
            </a:extLst>
          </p:cNvPr>
          <p:cNvSpPr/>
          <p:nvPr/>
        </p:nvSpPr>
        <p:spPr>
          <a:xfrm>
            <a:off x="416719" y="9453562"/>
            <a:ext cx="1583531" cy="642938"/>
          </a:xfrm>
          <a:custGeom>
            <a:avLst/>
            <a:gdLst/>
            <a:ahLst/>
            <a:cxnLst/>
            <a:rect l="l" t="t" r="r" b="b"/>
            <a:pathLst>
              <a:path w="1583531" h="642938">
                <a:moveTo>
                  <a:pt x="0" y="0"/>
                </a:moveTo>
                <a:lnTo>
                  <a:pt x="1583531" y="0"/>
                </a:lnTo>
                <a:lnTo>
                  <a:pt x="1583531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4" r="-1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BE79958-69F0-4201-7D4A-824C3C4378A5}"/>
              </a:ext>
            </a:extLst>
          </p:cNvPr>
          <p:cNvSpPr/>
          <p:nvPr/>
        </p:nvSpPr>
        <p:spPr>
          <a:xfrm>
            <a:off x="-198570" y="-55848"/>
            <a:ext cx="18486570" cy="10398695"/>
          </a:xfrm>
          <a:custGeom>
            <a:avLst/>
            <a:gdLst/>
            <a:ahLst/>
            <a:cxnLst/>
            <a:rect l="l" t="t" r="r" b="b"/>
            <a:pathLst>
              <a:path w="18486570" h="10398695">
                <a:moveTo>
                  <a:pt x="0" y="0"/>
                </a:moveTo>
                <a:lnTo>
                  <a:pt x="18486570" y="0"/>
                </a:lnTo>
                <a:lnTo>
                  <a:pt x="18486570" y="10398695"/>
                </a:lnTo>
                <a:lnTo>
                  <a:pt x="0" y="10398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33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537508" y="1490612"/>
            <a:ext cx="5337154" cy="3652888"/>
          </a:xfrm>
          <a:custGeom>
            <a:avLst/>
            <a:gdLst/>
            <a:ahLst/>
            <a:cxnLst/>
            <a:rect l="l" t="t" r="r" b="b"/>
            <a:pathLst>
              <a:path w="5337154" h="3652888">
                <a:moveTo>
                  <a:pt x="0" y="0"/>
                </a:moveTo>
                <a:lnTo>
                  <a:pt x="5337153" y="0"/>
                </a:lnTo>
                <a:lnTo>
                  <a:pt x="5337153" y="3652888"/>
                </a:lnTo>
                <a:lnTo>
                  <a:pt x="0" y="3652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006575" y="5859849"/>
            <a:ext cx="6252725" cy="2821591"/>
          </a:xfrm>
          <a:custGeom>
            <a:avLst/>
            <a:gdLst/>
            <a:ahLst/>
            <a:cxnLst/>
            <a:rect l="l" t="t" r="r" b="b"/>
            <a:pathLst>
              <a:path w="6252725" h="2821591">
                <a:moveTo>
                  <a:pt x="0" y="0"/>
                </a:moveTo>
                <a:lnTo>
                  <a:pt x="6252725" y="0"/>
                </a:lnTo>
                <a:lnTo>
                  <a:pt x="6252725" y="2821591"/>
                </a:lnTo>
                <a:lnTo>
                  <a:pt x="0" y="28215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77651" y="2347913"/>
            <a:ext cx="10628923" cy="558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999"/>
              </a:lnSpc>
              <a:spcBef>
                <a:spcPct val="0"/>
              </a:spcBef>
            </a:pP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تُعد طيب مجموعة رائدة في قطاع الرعاية الصحية، تأسست عام </a:t>
            </a:r>
            <a:r>
              <a:rPr lang="en-US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2018</a:t>
            </a: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، ويعمل لديها أكثر من </a:t>
            </a:r>
            <a:r>
              <a:rPr lang="en-US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140</a:t>
            </a: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موظفًا مؤهلًا.</a:t>
            </a: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endParaRPr lang="ar-EG" sz="2499" dirty="0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طيب هي شركة تابعة لـ </a:t>
            </a:r>
            <a:r>
              <a:rPr lang="en-US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BLOMINVEST</a:t>
            </a: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، أحد أبرز صناديق الاستثمار في المملكة العربية السعودية، مما يمنحها قاعدة قوية ودعمًا مستمرًا لمواصلة النمو والتوسع.</a:t>
            </a: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endParaRPr lang="ar-EG" sz="2499" dirty="0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وتفخر طيب بكونها من أوائل مقدمي خدمات الرعاية الصحية المنزلية الحاصلين على اعتماد المجلس المركزي لاعتماد المنشآت الصحية (</a:t>
            </a:r>
            <a:r>
              <a:rPr lang="en-US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CBAHI</a:t>
            </a: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)، وهو ما يعكس التزامها بتقديم خدمات عالية الجودة.</a:t>
            </a: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endParaRPr lang="ar-EG" sz="2499" dirty="0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نقوم بتقديم خدماتنا الطبية في أي مكان توجد فيه الحاجة.</a:t>
            </a: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endParaRPr lang="ar-EG" sz="2499" dirty="0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ومن خلال العديد من الشراكات الاستراتيجية مع القطاعين العام والخاص، تواصل طيب توسعها الطموح، وتفخر بتوافقها مع رؤية المملكة العربية السعودية </a:t>
            </a:r>
            <a:r>
              <a:rPr lang="en-US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2030</a:t>
            </a: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الهادفة إلى تحسين جودة الحياة وتطوير القطاع الصحي</a:t>
            </a: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endParaRPr lang="ar-EG" sz="2499" dirty="0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38743" y="1929498"/>
            <a:ext cx="6256925" cy="6433204"/>
          </a:xfrm>
          <a:custGeom>
            <a:avLst/>
            <a:gdLst/>
            <a:ahLst/>
            <a:cxnLst/>
            <a:rect l="l" t="t" r="r" b="b"/>
            <a:pathLst>
              <a:path w="6256925" h="6433204">
                <a:moveTo>
                  <a:pt x="0" y="0"/>
                </a:moveTo>
                <a:lnTo>
                  <a:pt x="6256925" y="0"/>
                </a:lnTo>
                <a:lnTo>
                  <a:pt x="6256925" y="6433204"/>
                </a:lnTo>
                <a:lnTo>
                  <a:pt x="0" y="6433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" b="-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33863" y="1081564"/>
            <a:ext cx="10041731" cy="909476"/>
          </a:xfrm>
          <a:custGeom>
            <a:avLst/>
            <a:gdLst/>
            <a:ahLst/>
            <a:cxnLst/>
            <a:rect l="l" t="t" r="r" b="b"/>
            <a:pathLst>
              <a:path w="10041731" h="909476">
                <a:moveTo>
                  <a:pt x="0" y="0"/>
                </a:moveTo>
                <a:lnTo>
                  <a:pt x="10041731" y="0"/>
                </a:lnTo>
                <a:lnTo>
                  <a:pt x="10041731" y="909475"/>
                </a:lnTo>
                <a:lnTo>
                  <a:pt x="0" y="9094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723731" y="1183877"/>
            <a:ext cx="124440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5475"/>
              </a:lnSpc>
            </a:pPr>
            <a:r>
              <a:rPr lang="ar-EG" sz="4562" spc="-12">
                <a:solidFill>
                  <a:srgbClr val="FFFFFF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رؤيتنا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7624" y="2119789"/>
            <a:ext cx="4356199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ar-EG" sz="2499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رعاية صحية ميسّرة في أي مكان وللجميع</a:t>
            </a:r>
          </a:p>
          <a:p>
            <a:pPr algn="l">
              <a:lnSpc>
                <a:spcPts val="2999"/>
              </a:lnSpc>
            </a:pPr>
            <a:endParaRPr lang="ar-EG" sz="2499" dirty="0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l">
              <a:lnSpc>
                <a:spcPts val="2999"/>
              </a:lnSpc>
            </a:pPr>
            <a:endParaRPr lang="ar-EG" sz="2499" dirty="0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l">
              <a:lnSpc>
                <a:spcPts val="2999"/>
              </a:lnSpc>
            </a:pPr>
            <a:endParaRPr lang="ar-EG" sz="2499" dirty="0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033863" y="3796189"/>
            <a:ext cx="2624138" cy="908847"/>
          </a:xfrm>
          <a:custGeom>
            <a:avLst/>
            <a:gdLst/>
            <a:ahLst/>
            <a:cxnLst/>
            <a:rect l="l" t="t" r="r" b="b"/>
            <a:pathLst>
              <a:path w="2624138" h="908847">
                <a:moveTo>
                  <a:pt x="0" y="0"/>
                </a:moveTo>
                <a:lnTo>
                  <a:pt x="2624137" y="0"/>
                </a:lnTo>
                <a:lnTo>
                  <a:pt x="2624137" y="908847"/>
                </a:lnTo>
                <a:lnTo>
                  <a:pt x="0" y="9088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513934" y="3946236"/>
            <a:ext cx="1663995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5475"/>
              </a:lnSpc>
            </a:pPr>
            <a:r>
              <a:rPr lang="ar-EG" sz="4562" spc="118" dirty="0">
                <a:solidFill>
                  <a:srgbClr val="FFFFFF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الرسالة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7624" y="4876486"/>
            <a:ext cx="9966322" cy="1315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18"/>
              </a:lnSpc>
            </a:pPr>
            <a:r>
              <a:rPr lang="ar-EG" sz="2499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تقديم خدمات رعاية صحية استثنائية تضع المريض في صميم الاهتمام، من خلال توظيف التكنولوجيا والخبرة المهنية المتسمة بالرحمة لتحسين النتائج الصحية وتعزيز جودة الحياة بشكل عام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33863" y="6522720"/>
            <a:ext cx="2624138" cy="896941"/>
          </a:xfrm>
          <a:custGeom>
            <a:avLst/>
            <a:gdLst/>
            <a:ahLst/>
            <a:cxnLst/>
            <a:rect l="l" t="t" r="r" b="b"/>
            <a:pathLst>
              <a:path w="2624138" h="896941">
                <a:moveTo>
                  <a:pt x="0" y="0"/>
                </a:moveTo>
                <a:lnTo>
                  <a:pt x="2624137" y="0"/>
                </a:lnTo>
                <a:lnTo>
                  <a:pt x="2624137" y="896941"/>
                </a:lnTo>
                <a:lnTo>
                  <a:pt x="0" y="8969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834856" y="6618765"/>
            <a:ext cx="102215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475"/>
              </a:lnSpc>
            </a:pPr>
            <a:r>
              <a:rPr lang="ar-EG" sz="4562" spc="-12">
                <a:solidFill>
                  <a:srgbClr val="FFFFFF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القيم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5209" y="7465619"/>
            <a:ext cx="6464697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ar-EG" sz="2499" spc="-12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التعاطف، النزاهة، العمل الجماعي، والجودة دون أي مساومة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454438" y="8501062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712244" y="7938373"/>
            <a:ext cx="12880181" cy="1216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r>
              <a:rPr lang="ar-EG" sz="3800" b="1">
                <a:solidFill>
                  <a:srgbClr val="000000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خدماتنا تغطي مناطق واسعة في المملكة</a:t>
            </a:r>
          </a:p>
          <a:p>
            <a:pPr algn="ctr">
              <a:lnSpc>
                <a:spcPts val="4987"/>
              </a:lnSpc>
            </a:pPr>
            <a:endParaRPr lang="ar-EG" sz="3800" b="1">
              <a:solidFill>
                <a:srgbClr val="000000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3059563" y="2002555"/>
            <a:ext cx="5797496" cy="4761852"/>
          </a:xfrm>
          <a:custGeom>
            <a:avLst/>
            <a:gdLst/>
            <a:ahLst/>
            <a:cxnLst/>
            <a:rect l="l" t="t" r="r" b="b"/>
            <a:pathLst>
              <a:path w="5797496" h="4761852">
                <a:moveTo>
                  <a:pt x="0" y="0"/>
                </a:moveTo>
                <a:lnTo>
                  <a:pt x="5797496" y="0"/>
                </a:lnTo>
                <a:lnTo>
                  <a:pt x="5797496" y="4761852"/>
                </a:lnTo>
                <a:lnTo>
                  <a:pt x="0" y="4761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5" r="-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903595" y="4260532"/>
            <a:ext cx="254003" cy="265748"/>
          </a:xfrm>
          <a:custGeom>
            <a:avLst/>
            <a:gdLst/>
            <a:ahLst/>
            <a:cxnLst/>
            <a:rect l="l" t="t" r="r" b="b"/>
            <a:pathLst>
              <a:path w="254003" h="265748">
                <a:moveTo>
                  <a:pt x="0" y="0"/>
                </a:moveTo>
                <a:lnTo>
                  <a:pt x="254003" y="0"/>
                </a:lnTo>
                <a:lnTo>
                  <a:pt x="254003" y="265748"/>
                </a:lnTo>
                <a:lnTo>
                  <a:pt x="0" y="2657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64" b="-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379595" y="5010626"/>
            <a:ext cx="242097" cy="277654"/>
          </a:xfrm>
          <a:custGeom>
            <a:avLst/>
            <a:gdLst/>
            <a:ahLst/>
            <a:cxnLst/>
            <a:rect l="l" t="t" r="r" b="b"/>
            <a:pathLst>
              <a:path w="242097" h="277654">
                <a:moveTo>
                  <a:pt x="0" y="0"/>
                </a:moveTo>
                <a:lnTo>
                  <a:pt x="242097" y="0"/>
                </a:lnTo>
                <a:lnTo>
                  <a:pt x="242097" y="277654"/>
                </a:lnTo>
                <a:lnTo>
                  <a:pt x="0" y="2776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37"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486751" y="4201001"/>
            <a:ext cx="254003" cy="265748"/>
          </a:xfrm>
          <a:custGeom>
            <a:avLst/>
            <a:gdLst/>
            <a:ahLst/>
            <a:cxnLst/>
            <a:rect l="l" t="t" r="r" b="b"/>
            <a:pathLst>
              <a:path w="254003" h="265748">
                <a:moveTo>
                  <a:pt x="0" y="0"/>
                </a:moveTo>
                <a:lnTo>
                  <a:pt x="254003" y="0"/>
                </a:lnTo>
                <a:lnTo>
                  <a:pt x="254003" y="265748"/>
                </a:lnTo>
                <a:lnTo>
                  <a:pt x="0" y="2657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64" b="-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6987064" y="3546158"/>
            <a:ext cx="242097" cy="265748"/>
          </a:xfrm>
          <a:custGeom>
            <a:avLst/>
            <a:gdLst/>
            <a:ahLst/>
            <a:cxnLst/>
            <a:rect l="l" t="t" r="r" b="b"/>
            <a:pathLst>
              <a:path w="242097" h="265748">
                <a:moveTo>
                  <a:pt x="0" y="0"/>
                </a:moveTo>
                <a:lnTo>
                  <a:pt x="242097" y="0"/>
                </a:lnTo>
                <a:lnTo>
                  <a:pt x="242097" y="265747"/>
                </a:lnTo>
                <a:lnTo>
                  <a:pt x="0" y="2657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03" b="-1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7094220" y="3927158"/>
            <a:ext cx="254003" cy="277654"/>
          </a:xfrm>
          <a:custGeom>
            <a:avLst/>
            <a:gdLst/>
            <a:ahLst/>
            <a:cxnLst/>
            <a:rect l="l" t="t" r="r" b="b"/>
            <a:pathLst>
              <a:path w="254003" h="277654">
                <a:moveTo>
                  <a:pt x="0" y="0"/>
                </a:moveTo>
                <a:lnTo>
                  <a:pt x="254003" y="0"/>
                </a:lnTo>
                <a:lnTo>
                  <a:pt x="254003" y="277653"/>
                </a:lnTo>
                <a:lnTo>
                  <a:pt x="0" y="2776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96" b="-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5320189" y="3522345"/>
            <a:ext cx="242097" cy="277654"/>
          </a:xfrm>
          <a:custGeom>
            <a:avLst/>
            <a:gdLst/>
            <a:ahLst/>
            <a:cxnLst/>
            <a:rect l="l" t="t" r="r" b="b"/>
            <a:pathLst>
              <a:path w="242097" h="277654">
                <a:moveTo>
                  <a:pt x="0" y="0"/>
                </a:moveTo>
                <a:lnTo>
                  <a:pt x="242097" y="0"/>
                </a:lnTo>
                <a:lnTo>
                  <a:pt x="242097" y="277654"/>
                </a:lnTo>
                <a:lnTo>
                  <a:pt x="0" y="2776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37"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4260532" y="4712970"/>
            <a:ext cx="242097" cy="277654"/>
          </a:xfrm>
          <a:custGeom>
            <a:avLst/>
            <a:gdLst/>
            <a:ahLst/>
            <a:cxnLst/>
            <a:rect l="l" t="t" r="r" b="b"/>
            <a:pathLst>
              <a:path w="242097" h="277654">
                <a:moveTo>
                  <a:pt x="0" y="0"/>
                </a:moveTo>
                <a:lnTo>
                  <a:pt x="242097" y="0"/>
                </a:lnTo>
                <a:lnTo>
                  <a:pt x="242097" y="277654"/>
                </a:lnTo>
                <a:lnTo>
                  <a:pt x="0" y="2776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37"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6522720" y="3546158"/>
            <a:ext cx="254003" cy="265748"/>
          </a:xfrm>
          <a:custGeom>
            <a:avLst/>
            <a:gdLst/>
            <a:ahLst/>
            <a:cxnLst/>
            <a:rect l="l" t="t" r="r" b="b"/>
            <a:pathLst>
              <a:path w="254003" h="265748">
                <a:moveTo>
                  <a:pt x="0" y="0"/>
                </a:moveTo>
                <a:lnTo>
                  <a:pt x="254003" y="0"/>
                </a:lnTo>
                <a:lnTo>
                  <a:pt x="254003" y="265747"/>
                </a:lnTo>
                <a:lnTo>
                  <a:pt x="0" y="26574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64" b="-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5320189" y="5760720"/>
            <a:ext cx="242097" cy="265748"/>
          </a:xfrm>
          <a:custGeom>
            <a:avLst/>
            <a:gdLst/>
            <a:ahLst/>
            <a:cxnLst/>
            <a:rect l="l" t="t" r="r" b="b"/>
            <a:pathLst>
              <a:path w="242097" h="265748">
                <a:moveTo>
                  <a:pt x="0" y="0"/>
                </a:moveTo>
                <a:lnTo>
                  <a:pt x="242097" y="0"/>
                </a:lnTo>
                <a:lnTo>
                  <a:pt x="242097" y="265748"/>
                </a:lnTo>
                <a:lnTo>
                  <a:pt x="0" y="26574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103" b="-1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4486751" y="3153251"/>
            <a:ext cx="254003" cy="265748"/>
          </a:xfrm>
          <a:custGeom>
            <a:avLst/>
            <a:gdLst/>
            <a:ahLst/>
            <a:cxnLst/>
            <a:rect l="l" t="t" r="r" b="b"/>
            <a:pathLst>
              <a:path w="254003" h="265748">
                <a:moveTo>
                  <a:pt x="0" y="0"/>
                </a:moveTo>
                <a:lnTo>
                  <a:pt x="254003" y="0"/>
                </a:lnTo>
                <a:lnTo>
                  <a:pt x="254003" y="265748"/>
                </a:lnTo>
                <a:lnTo>
                  <a:pt x="0" y="2657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64" b="-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9152334" y="436245"/>
            <a:ext cx="8507806" cy="342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99"/>
              </a:lnSpc>
            </a:pPr>
            <a:r>
              <a:rPr lang="ar-EG" sz="5499" b="1" spc="-1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نطاق تغطيتنا</a:t>
            </a:r>
          </a:p>
          <a:p>
            <a:pPr algn="l">
              <a:lnSpc>
                <a:spcPts val="6599"/>
              </a:lnSpc>
            </a:pPr>
            <a:endParaRPr lang="ar-EG" sz="5499" b="1" spc="-1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l">
              <a:lnSpc>
                <a:spcPts val="6599"/>
              </a:lnSpc>
            </a:pPr>
            <a:endParaRPr lang="ar-EG" sz="5499" b="1" spc="-1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l">
              <a:lnSpc>
                <a:spcPts val="6600"/>
              </a:lnSpc>
            </a:pPr>
            <a:endParaRPr lang="ar-EG" sz="5499" b="1" spc="-1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2749689" y="2879408"/>
            <a:ext cx="4456909" cy="539753"/>
          </a:xfrm>
          <a:custGeom>
            <a:avLst/>
            <a:gdLst/>
            <a:ahLst/>
            <a:cxnLst/>
            <a:rect l="l" t="t" r="r" b="b"/>
            <a:pathLst>
              <a:path w="4456909" h="539753">
                <a:moveTo>
                  <a:pt x="0" y="0"/>
                </a:moveTo>
                <a:lnTo>
                  <a:pt x="4456909" y="0"/>
                </a:lnTo>
                <a:lnTo>
                  <a:pt x="4456909" y="539753"/>
                </a:lnTo>
                <a:lnTo>
                  <a:pt x="0" y="5397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2796838" y="2988869"/>
            <a:ext cx="2943898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</a:t>
            </a:r>
            <a:r>
              <a:rPr lang="ar-EG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الرياض وضواحيها، القصيم</a:t>
            </a:r>
            <a:r>
              <a:rPr lang="en-US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249376" y="2819876"/>
            <a:ext cx="2516191" cy="670722"/>
          </a:xfrm>
          <a:custGeom>
            <a:avLst/>
            <a:gdLst/>
            <a:ahLst/>
            <a:cxnLst/>
            <a:rect l="l" t="t" r="r" b="b"/>
            <a:pathLst>
              <a:path w="2516191" h="670722">
                <a:moveTo>
                  <a:pt x="0" y="0"/>
                </a:moveTo>
                <a:lnTo>
                  <a:pt x="2516191" y="0"/>
                </a:lnTo>
                <a:lnTo>
                  <a:pt x="2516191" y="670722"/>
                </a:lnTo>
                <a:lnTo>
                  <a:pt x="0" y="67072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0506819" y="2984183"/>
            <a:ext cx="1834356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774"/>
              </a:lnSpc>
            </a:pPr>
            <a:r>
              <a:rPr lang="ar-EG" sz="23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المنطقة الوسطى </a:t>
            </a:r>
          </a:p>
        </p:txBody>
      </p:sp>
      <p:sp>
        <p:nvSpPr>
          <p:cNvPr id="22" name="Freeform 22"/>
          <p:cNvSpPr/>
          <p:nvPr/>
        </p:nvSpPr>
        <p:spPr>
          <a:xfrm>
            <a:off x="12749689" y="3569970"/>
            <a:ext cx="4456909" cy="527847"/>
          </a:xfrm>
          <a:custGeom>
            <a:avLst/>
            <a:gdLst/>
            <a:ahLst/>
            <a:cxnLst/>
            <a:rect l="l" t="t" r="r" b="b"/>
            <a:pathLst>
              <a:path w="4456909" h="527847">
                <a:moveTo>
                  <a:pt x="0" y="0"/>
                </a:moveTo>
                <a:lnTo>
                  <a:pt x="4456909" y="0"/>
                </a:lnTo>
                <a:lnTo>
                  <a:pt x="4456909" y="527847"/>
                </a:lnTo>
                <a:lnTo>
                  <a:pt x="0" y="52784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2796838" y="3632597"/>
            <a:ext cx="425767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</a:t>
            </a:r>
            <a:r>
              <a:rPr lang="ar-EG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جدة، مكة، جموم، الطائف، المدينة المنورة، ينبع، رابغ</a:t>
            </a:r>
            <a:r>
              <a:rPr lang="en-US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  <a:p>
            <a:pPr algn="l">
              <a:lnSpc>
                <a:spcPts val="1649"/>
              </a:lnSpc>
            </a:pPr>
            <a:endParaRPr lang="en-US" sz="1375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0249376" y="3498533"/>
            <a:ext cx="2516191" cy="670722"/>
          </a:xfrm>
          <a:custGeom>
            <a:avLst/>
            <a:gdLst/>
            <a:ahLst/>
            <a:cxnLst/>
            <a:rect l="l" t="t" r="r" b="b"/>
            <a:pathLst>
              <a:path w="2516191" h="670722">
                <a:moveTo>
                  <a:pt x="0" y="0"/>
                </a:moveTo>
                <a:lnTo>
                  <a:pt x="2516191" y="0"/>
                </a:lnTo>
                <a:lnTo>
                  <a:pt x="2516191" y="670721"/>
                </a:lnTo>
                <a:lnTo>
                  <a:pt x="0" y="670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0706447" y="3663634"/>
            <a:ext cx="163472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775"/>
              </a:lnSpc>
            </a:pPr>
            <a:r>
              <a:rPr lang="ar-EG" sz="23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المنطقة الغربية </a:t>
            </a:r>
          </a:p>
        </p:txBody>
      </p:sp>
      <p:sp>
        <p:nvSpPr>
          <p:cNvPr id="26" name="Freeform 26"/>
          <p:cNvSpPr/>
          <p:nvPr/>
        </p:nvSpPr>
        <p:spPr>
          <a:xfrm>
            <a:off x="12749689" y="4248626"/>
            <a:ext cx="4456909" cy="539753"/>
          </a:xfrm>
          <a:custGeom>
            <a:avLst/>
            <a:gdLst/>
            <a:ahLst/>
            <a:cxnLst/>
            <a:rect l="l" t="t" r="r" b="b"/>
            <a:pathLst>
              <a:path w="4456909" h="539753">
                <a:moveTo>
                  <a:pt x="0" y="0"/>
                </a:moveTo>
                <a:lnTo>
                  <a:pt x="4456909" y="0"/>
                </a:lnTo>
                <a:lnTo>
                  <a:pt x="4456909" y="539753"/>
                </a:lnTo>
                <a:lnTo>
                  <a:pt x="0" y="5397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2796838" y="4354906"/>
            <a:ext cx="313372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</a:t>
            </a:r>
            <a:r>
              <a:rPr lang="ar-EG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الخبر، الدمام، الجبيل، الهفوف، القطيف</a:t>
            </a:r>
            <a:r>
              <a:rPr lang="en-US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  <a:p>
            <a:pPr algn="l">
              <a:lnSpc>
                <a:spcPts val="1649"/>
              </a:lnSpc>
            </a:pPr>
            <a:endParaRPr lang="en-US" sz="1375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10249376" y="4189095"/>
            <a:ext cx="2516191" cy="658816"/>
          </a:xfrm>
          <a:custGeom>
            <a:avLst/>
            <a:gdLst/>
            <a:ahLst/>
            <a:cxnLst/>
            <a:rect l="l" t="t" r="r" b="b"/>
            <a:pathLst>
              <a:path w="2516191" h="658816">
                <a:moveTo>
                  <a:pt x="0" y="0"/>
                </a:moveTo>
                <a:lnTo>
                  <a:pt x="2516191" y="0"/>
                </a:lnTo>
                <a:lnTo>
                  <a:pt x="2516191" y="658816"/>
                </a:lnTo>
                <a:lnTo>
                  <a:pt x="0" y="6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0667702" y="4340704"/>
            <a:ext cx="171221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775"/>
              </a:lnSpc>
            </a:pPr>
            <a:r>
              <a:rPr lang="ar-EG" sz="23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المنطقة الشرقية</a:t>
            </a:r>
          </a:p>
        </p:txBody>
      </p:sp>
      <p:sp>
        <p:nvSpPr>
          <p:cNvPr id="30" name="Freeform 30"/>
          <p:cNvSpPr/>
          <p:nvPr/>
        </p:nvSpPr>
        <p:spPr>
          <a:xfrm>
            <a:off x="12749689" y="4927282"/>
            <a:ext cx="4456909" cy="539753"/>
          </a:xfrm>
          <a:custGeom>
            <a:avLst/>
            <a:gdLst/>
            <a:ahLst/>
            <a:cxnLst/>
            <a:rect l="l" t="t" r="r" b="b"/>
            <a:pathLst>
              <a:path w="4456909" h="539753">
                <a:moveTo>
                  <a:pt x="0" y="0"/>
                </a:moveTo>
                <a:lnTo>
                  <a:pt x="4456909" y="0"/>
                </a:lnTo>
                <a:lnTo>
                  <a:pt x="4456909" y="539754"/>
                </a:lnTo>
                <a:lnTo>
                  <a:pt x="0" y="53975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2796838" y="5038011"/>
            <a:ext cx="265192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</a:t>
            </a:r>
            <a:r>
              <a:rPr lang="ar-EG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أبها، خميس مشيط والمناطق المحيطة</a:t>
            </a:r>
            <a:r>
              <a:rPr lang="en-US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  <a:p>
            <a:pPr algn="l">
              <a:lnSpc>
                <a:spcPts val="1649"/>
              </a:lnSpc>
            </a:pPr>
            <a:endParaRPr lang="en-US" sz="1375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0249376" y="4867751"/>
            <a:ext cx="2516191" cy="658816"/>
          </a:xfrm>
          <a:custGeom>
            <a:avLst/>
            <a:gdLst/>
            <a:ahLst/>
            <a:cxnLst/>
            <a:rect l="l" t="t" r="r" b="b"/>
            <a:pathLst>
              <a:path w="2516191" h="658816">
                <a:moveTo>
                  <a:pt x="0" y="0"/>
                </a:moveTo>
                <a:lnTo>
                  <a:pt x="2516191" y="0"/>
                </a:lnTo>
                <a:lnTo>
                  <a:pt x="2516191" y="658816"/>
                </a:lnTo>
                <a:lnTo>
                  <a:pt x="0" y="6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10627420" y="5020947"/>
            <a:ext cx="1752501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775"/>
              </a:lnSpc>
            </a:pPr>
            <a:r>
              <a:rPr lang="ar-EG" sz="23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المنطقة الجنوبية </a:t>
            </a:r>
          </a:p>
        </p:txBody>
      </p:sp>
      <p:sp>
        <p:nvSpPr>
          <p:cNvPr id="34" name="Freeform 34"/>
          <p:cNvSpPr/>
          <p:nvPr/>
        </p:nvSpPr>
        <p:spPr>
          <a:xfrm>
            <a:off x="12749689" y="5617845"/>
            <a:ext cx="4456909" cy="527847"/>
          </a:xfrm>
          <a:custGeom>
            <a:avLst/>
            <a:gdLst/>
            <a:ahLst/>
            <a:cxnLst/>
            <a:rect l="l" t="t" r="r" b="b"/>
            <a:pathLst>
              <a:path w="4456909" h="527847">
                <a:moveTo>
                  <a:pt x="0" y="0"/>
                </a:moveTo>
                <a:lnTo>
                  <a:pt x="4456909" y="0"/>
                </a:lnTo>
                <a:lnTo>
                  <a:pt x="4456909" y="527847"/>
                </a:lnTo>
                <a:lnTo>
                  <a:pt x="0" y="52784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0249376" y="5546408"/>
            <a:ext cx="2516191" cy="670722"/>
          </a:xfrm>
          <a:custGeom>
            <a:avLst/>
            <a:gdLst/>
            <a:ahLst/>
            <a:cxnLst/>
            <a:rect l="l" t="t" r="r" b="b"/>
            <a:pathLst>
              <a:path w="2516191" h="670722">
                <a:moveTo>
                  <a:pt x="0" y="0"/>
                </a:moveTo>
                <a:lnTo>
                  <a:pt x="2516191" y="0"/>
                </a:lnTo>
                <a:lnTo>
                  <a:pt x="2516191" y="670721"/>
                </a:lnTo>
                <a:lnTo>
                  <a:pt x="0" y="670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10627420" y="5698017"/>
            <a:ext cx="186263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775"/>
              </a:lnSpc>
            </a:pPr>
            <a:r>
              <a:rPr lang="ar-EG" sz="23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المنطقة الشمالية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205534" y="5688806"/>
            <a:ext cx="265192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649"/>
              </a:lnSpc>
            </a:pPr>
            <a:r>
              <a:rPr lang="ar-EG" sz="13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حائل وضواحيها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178969" y="1905000"/>
            <a:ext cx="4964906" cy="7060406"/>
          </a:xfrm>
          <a:custGeom>
            <a:avLst/>
            <a:gdLst/>
            <a:ahLst/>
            <a:cxnLst/>
            <a:rect l="l" t="t" r="r" b="b"/>
            <a:pathLst>
              <a:path w="4964906" h="7060406">
                <a:moveTo>
                  <a:pt x="0" y="0"/>
                </a:moveTo>
                <a:lnTo>
                  <a:pt x="4964906" y="0"/>
                </a:lnTo>
                <a:lnTo>
                  <a:pt x="4964906" y="7060406"/>
                </a:lnTo>
                <a:lnTo>
                  <a:pt x="0" y="7060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" r="-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988277" y="3840737"/>
            <a:ext cx="7088743" cy="2671762"/>
          </a:xfrm>
          <a:custGeom>
            <a:avLst/>
            <a:gdLst/>
            <a:ahLst/>
            <a:cxnLst/>
            <a:rect l="l" t="t" r="r" b="b"/>
            <a:pathLst>
              <a:path w="7088743" h="2671762">
                <a:moveTo>
                  <a:pt x="0" y="0"/>
                </a:moveTo>
                <a:lnTo>
                  <a:pt x="7088743" y="0"/>
                </a:lnTo>
                <a:lnTo>
                  <a:pt x="7088743" y="2671763"/>
                </a:lnTo>
                <a:lnTo>
                  <a:pt x="0" y="26717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" b="-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36194" y="477993"/>
            <a:ext cx="3908422" cy="983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 spc="-12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Accreditation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52537" y="379190"/>
            <a:ext cx="14053737" cy="342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ar-EG" sz="5499" spc="-27">
                <a:solidFill>
                  <a:srgbClr val="2E85D4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رواد في خدمات التطعيم</a:t>
            </a:r>
          </a:p>
          <a:p>
            <a:pPr algn="l">
              <a:lnSpc>
                <a:spcPts val="6599"/>
              </a:lnSpc>
            </a:pPr>
            <a:endParaRPr lang="ar-EG" sz="5499" spc="-27">
              <a:solidFill>
                <a:srgbClr val="2E85D4"/>
              </a:solidFill>
              <a:latin typeface="Calibri (MS)"/>
              <a:ea typeface="Calibri (MS)"/>
              <a:cs typeface="Calibri (MS)"/>
              <a:sym typeface="Calibri (MS)"/>
              <a:rtl/>
            </a:endParaRPr>
          </a:p>
          <a:p>
            <a:pPr algn="l">
              <a:lnSpc>
                <a:spcPts val="6599"/>
              </a:lnSpc>
            </a:pPr>
            <a:endParaRPr lang="ar-EG" sz="5499" spc="-27">
              <a:solidFill>
                <a:srgbClr val="2E85D4"/>
              </a:solidFill>
              <a:latin typeface="Calibri (MS)"/>
              <a:ea typeface="Calibri (MS)"/>
              <a:cs typeface="Calibri (MS)"/>
              <a:sym typeface="Calibri (MS)"/>
              <a:rtl/>
            </a:endParaRPr>
          </a:p>
          <a:p>
            <a:pPr algn="ctr">
              <a:lnSpc>
                <a:spcPts val="6600"/>
              </a:lnSpc>
            </a:pPr>
            <a:endParaRPr lang="ar-EG" sz="5499" spc="-27">
              <a:solidFill>
                <a:srgbClr val="2E85D4"/>
              </a:solidFill>
              <a:latin typeface="Calibri (MS)"/>
              <a:ea typeface="Calibri (MS)"/>
              <a:cs typeface="Calibri (MS)"/>
              <a:sym typeface="Calibri (MS)"/>
              <a:rtl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414063" y="2591038"/>
            <a:ext cx="4707931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99"/>
              </a:lnSpc>
            </a:pPr>
            <a:r>
              <a:rPr lang="en-US" sz="8999" spc="-31">
                <a:solidFill>
                  <a:srgbClr val="173B6C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#1</a:t>
            </a:r>
          </a:p>
          <a:p>
            <a:pPr algn="ctr">
              <a:lnSpc>
                <a:spcPts val="2999"/>
              </a:lnSpc>
            </a:pPr>
            <a:r>
              <a:rPr lang="ar-EG" sz="2499" spc="-12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أحد أبرز مزوّدي خدمات التطعيم واللقاحات المنزلية</a:t>
            </a:r>
            <a:r>
              <a:rPr lang="en-US" sz="2499" spc="-12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16023" y="2591038"/>
            <a:ext cx="4362450" cy="191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99"/>
              </a:lnSpc>
            </a:pPr>
            <a:r>
              <a:rPr lang="en-US" sz="8999" spc="-12">
                <a:solidFill>
                  <a:srgbClr val="173B6C"/>
                </a:solidFill>
                <a:latin typeface="Calibri (MS)"/>
                <a:ea typeface="Calibri (MS)"/>
                <a:cs typeface="Calibri (MS)"/>
                <a:sym typeface="Calibri (MS)"/>
              </a:rPr>
              <a:t>+100,000</a:t>
            </a:r>
          </a:p>
          <a:p>
            <a:pPr algn="l">
              <a:lnSpc>
                <a:spcPts val="2999"/>
              </a:lnSpc>
            </a:pPr>
            <a:r>
              <a:rPr lang="en-US" sz="2499" spc="-3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</a:rPr>
              <a:t>              2025 </a:t>
            </a:r>
            <a:r>
              <a:rPr lang="ar-EG" sz="2499" spc="-3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لقاح خلال عام</a:t>
            </a:r>
            <a:r>
              <a:rPr lang="en-US" sz="2499" spc="-3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85605" y="6269659"/>
            <a:ext cx="971679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9"/>
              </a:lnSpc>
            </a:pPr>
            <a:r>
              <a:rPr lang="ar-EG" sz="2649" i="1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لقاحات الأطفال، لقاح التهاب السحايا، لقاح الإنفلونزا، لقاح الحزام الناري، وغيرها المزيد</a:t>
            </a:r>
          </a:p>
        </p:txBody>
      </p:sp>
      <p:sp>
        <p:nvSpPr>
          <p:cNvPr id="9" name="Freeform 9"/>
          <p:cNvSpPr/>
          <p:nvPr/>
        </p:nvSpPr>
        <p:spPr>
          <a:xfrm>
            <a:off x="8672989" y="7134438"/>
            <a:ext cx="942975" cy="942975"/>
          </a:xfrm>
          <a:custGeom>
            <a:avLst/>
            <a:gdLst/>
            <a:ahLst/>
            <a:cxnLst/>
            <a:rect l="l" t="t" r="r" b="b"/>
            <a:pathLst>
              <a:path w="942975" h="942975">
                <a:moveTo>
                  <a:pt x="0" y="0"/>
                </a:moveTo>
                <a:lnTo>
                  <a:pt x="942975" y="0"/>
                </a:lnTo>
                <a:lnTo>
                  <a:pt x="94297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972150" y="493490"/>
            <a:ext cx="907256" cy="954881"/>
          </a:xfrm>
          <a:custGeom>
            <a:avLst/>
            <a:gdLst/>
            <a:ahLst/>
            <a:cxnLst/>
            <a:rect l="l" t="t" r="r" b="b"/>
            <a:pathLst>
              <a:path w="907256" h="954881">
                <a:moveTo>
                  <a:pt x="0" y="0"/>
                </a:moveTo>
                <a:lnTo>
                  <a:pt x="907256" y="0"/>
                </a:lnTo>
                <a:lnTo>
                  <a:pt x="907256" y="954882"/>
                </a:lnTo>
                <a:lnTo>
                  <a:pt x="0" y="9548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557988" y="624916"/>
            <a:ext cx="9982641" cy="3019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688"/>
              </a:lnSpc>
            </a:pPr>
            <a:r>
              <a:rPr lang="ar-EG" sz="3906" b="1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تشغيل العيادات بأعلى مستوى من الجودة</a:t>
            </a:r>
          </a:p>
          <a:p>
            <a:pPr algn="l">
              <a:lnSpc>
                <a:spcPts val="4688"/>
              </a:lnSpc>
            </a:pPr>
            <a:endParaRPr lang="ar-EG" sz="3906" b="1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l">
              <a:lnSpc>
                <a:spcPts val="4688"/>
              </a:lnSpc>
            </a:pPr>
            <a:endParaRPr lang="ar-EG" sz="3906" b="1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l">
              <a:lnSpc>
                <a:spcPts val="4688"/>
              </a:lnSpc>
            </a:pPr>
            <a:endParaRPr lang="ar-EG" sz="3906" b="1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l">
              <a:lnSpc>
                <a:spcPts val="4688"/>
              </a:lnSpc>
            </a:pPr>
            <a:endParaRPr lang="ar-EG" sz="3906" b="1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688556" y="2591829"/>
            <a:ext cx="3205953" cy="451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99"/>
              </a:lnSpc>
            </a:pPr>
            <a:r>
              <a:rPr lang="en-US" sz="8999" spc="-31">
                <a:solidFill>
                  <a:srgbClr val="173B6C"/>
                </a:solidFill>
                <a:latin typeface="Calibri (MS)"/>
                <a:ea typeface="Calibri (MS)"/>
                <a:cs typeface="Calibri (MS)"/>
                <a:sym typeface="Calibri (MS)"/>
              </a:rPr>
              <a:t>#1</a:t>
            </a:r>
          </a:p>
          <a:p>
            <a:pPr algn="ctr">
              <a:lnSpc>
                <a:spcPts val="2999"/>
              </a:lnSpc>
            </a:pPr>
            <a:r>
              <a:rPr lang="ar-EG" sz="2499" spc="-12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نمثّل عملاءنا بأعلى مستويات الجودة في العمليات التشغيلية وتمثيل الكوادر الطبية</a:t>
            </a:r>
            <a:r>
              <a:rPr lang="en-US" sz="2499" spc="-12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</a:rPr>
              <a:t>.</a:t>
            </a:r>
          </a:p>
          <a:p>
            <a:pPr algn="ctr">
              <a:lnSpc>
                <a:spcPts val="2999"/>
              </a:lnSpc>
            </a:pPr>
            <a:endParaRPr lang="en-US" sz="2499" spc="-12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ctr">
              <a:lnSpc>
                <a:spcPts val="2999"/>
              </a:lnSpc>
            </a:pPr>
            <a:endParaRPr lang="en-US" sz="2499" spc="-12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ctr">
              <a:lnSpc>
                <a:spcPts val="2999"/>
              </a:lnSpc>
            </a:pPr>
            <a:endParaRPr lang="en-US" sz="2499" spc="-12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ctr">
              <a:lnSpc>
                <a:spcPts val="2999"/>
              </a:lnSpc>
            </a:pPr>
            <a:endParaRPr lang="en-US" sz="2499" spc="-12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776072" y="2591829"/>
            <a:ext cx="2990059" cy="451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sz="8999" spc="-31">
                <a:solidFill>
                  <a:srgbClr val="173B6C"/>
                </a:solidFill>
                <a:latin typeface="Calibri (MS)"/>
                <a:ea typeface="Calibri (MS)"/>
                <a:cs typeface="Calibri (MS)"/>
                <a:sym typeface="Calibri (MS)"/>
              </a:rPr>
              <a:t>+20</a:t>
            </a:r>
          </a:p>
          <a:p>
            <a:pPr algn="ctr">
              <a:lnSpc>
                <a:spcPts val="2999"/>
              </a:lnSpc>
            </a:pPr>
            <a:r>
              <a:rPr lang="ar-EG" sz="2499" spc="-7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عيادات تُدار بواسطة فرقنا، وغالبًا ما تكون خدمات بعلامة بيضاء</a:t>
            </a:r>
            <a:r>
              <a:rPr lang="en-US" sz="2499" spc="-7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</a:rPr>
              <a:t> (White-Labeled) </a:t>
            </a:r>
            <a:r>
              <a:rPr lang="ar-EG" sz="2499" spc="-7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مع التزام قوي بمؤشرات الأداء الرئيسية</a:t>
            </a:r>
            <a:r>
              <a:rPr lang="en-US" sz="2499" spc="-7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</a:rPr>
              <a:t> (KPIs).</a:t>
            </a:r>
          </a:p>
          <a:p>
            <a:pPr algn="ctr">
              <a:lnSpc>
                <a:spcPts val="2999"/>
              </a:lnSpc>
            </a:pPr>
            <a:endParaRPr lang="en-US" sz="2499" spc="-7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ctr">
              <a:lnSpc>
                <a:spcPts val="2999"/>
              </a:lnSpc>
            </a:pPr>
            <a:endParaRPr lang="en-US" sz="2499" spc="-7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48607" y="7097154"/>
            <a:ext cx="9289256" cy="71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2"/>
              </a:lnSpc>
            </a:pPr>
            <a:r>
              <a:rPr lang="ar-EG" sz="2349" i="1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ممرضون وممرضات مرخّصون، مسعفون</a:t>
            </a:r>
            <a:r>
              <a:rPr lang="en-US" sz="2349" i="1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 (EMT &amp; EMS)، </a:t>
            </a:r>
            <a:r>
              <a:rPr lang="ar-EG" sz="2349" i="1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أطباء عموميون، سائقو سيارات إسعاف، أخصائيو تغذية، أخصائيو علاج وظيفي، أخصائيو علاج تنفسي، وغيرهم المزيد</a:t>
            </a:r>
          </a:p>
        </p:txBody>
      </p:sp>
      <p:sp>
        <p:nvSpPr>
          <p:cNvPr id="9" name="Freeform 9"/>
          <p:cNvSpPr/>
          <p:nvPr/>
        </p:nvSpPr>
        <p:spPr>
          <a:xfrm>
            <a:off x="16972150" y="493490"/>
            <a:ext cx="907256" cy="954881"/>
          </a:xfrm>
          <a:custGeom>
            <a:avLst/>
            <a:gdLst/>
            <a:ahLst/>
            <a:cxnLst/>
            <a:rect l="l" t="t" r="r" b="b"/>
            <a:pathLst>
              <a:path w="907256" h="954881">
                <a:moveTo>
                  <a:pt x="0" y="0"/>
                </a:moveTo>
                <a:lnTo>
                  <a:pt x="907256" y="0"/>
                </a:lnTo>
                <a:lnTo>
                  <a:pt x="907256" y="954882"/>
                </a:lnTo>
                <a:lnTo>
                  <a:pt x="0" y="9548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8767239" y="8781212"/>
            <a:ext cx="1493044" cy="1275559"/>
          </a:xfrm>
          <a:custGeom>
            <a:avLst/>
            <a:gdLst/>
            <a:ahLst/>
            <a:cxnLst/>
            <a:rect l="l" t="t" r="r" b="b"/>
            <a:pathLst>
              <a:path w="1493044" h="1275559">
                <a:moveTo>
                  <a:pt x="0" y="0"/>
                </a:moveTo>
                <a:lnTo>
                  <a:pt x="1493043" y="0"/>
                </a:lnTo>
                <a:lnTo>
                  <a:pt x="1493043" y="1275559"/>
                </a:lnTo>
                <a:lnTo>
                  <a:pt x="0" y="12755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2810011" y="612581"/>
            <a:ext cx="3692001" cy="425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ar-EG" sz="5499" b="1" spc="-1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برامج جديدة</a:t>
            </a:r>
          </a:p>
          <a:p>
            <a:pPr algn="l">
              <a:lnSpc>
                <a:spcPts val="6599"/>
              </a:lnSpc>
            </a:pPr>
            <a:endParaRPr lang="ar-EG" sz="5499" b="1" spc="-1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l">
              <a:lnSpc>
                <a:spcPts val="6599"/>
              </a:lnSpc>
            </a:pPr>
            <a:endParaRPr lang="ar-EG" sz="5499" b="1" spc="-1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l">
              <a:lnSpc>
                <a:spcPts val="6599"/>
              </a:lnSpc>
            </a:pPr>
            <a:endParaRPr lang="ar-EG" sz="5499" b="1" spc="-1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l">
              <a:lnSpc>
                <a:spcPts val="6600"/>
              </a:lnSpc>
            </a:pPr>
            <a:endParaRPr lang="ar-EG" sz="5499" b="1" spc="-1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95337" y="3824411"/>
            <a:ext cx="4452147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5399"/>
              </a:lnSpc>
            </a:pPr>
            <a:r>
              <a:rPr lang="ar-EG" sz="4499" b="1" spc="-12">
                <a:solidFill>
                  <a:srgbClr val="173B6C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الطب الاتصالي</a:t>
            </a:r>
          </a:p>
          <a:p>
            <a:pPr algn="ctr">
              <a:lnSpc>
                <a:spcPts val="2999"/>
              </a:lnSpc>
            </a:pPr>
            <a:r>
              <a:rPr lang="ar-EG" sz="2499" spc="-6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إعادة الوصفات الطبية، تفسير الفحوصات المخبرية، إدارة الأمراض المزمنة</a:t>
            </a:r>
          </a:p>
        </p:txBody>
      </p:sp>
      <p:sp>
        <p:nvSpPr>
          <p:cNvPr id="7" name="Freeform 7"/>
          <p:cNvSpPr/>
          <p:nvPr/>
        </p:nvSpPr>
        <p:spPr>
          <a:xfrm>
            <a:off x="16972150" y="493490"/>
            <a:ext cx="907256" cy="954881"/>
          </a:xfrm>
          <a:custGeom>
            <a:avLst/>
            <a:gdLst/>
            <a:ahLst/>
            <a:cxnLst/>
            <a:rect l="l" t="t" r="r" b="b"/>
            <a:pathLst>
              <a:path w="907256" h="954881">
                <a:moveTo>
                  <a:pt x="0" y="0"/>
                </a:moveTo>
                <a:lnTo>
                  <a:pt x="907256" y="0"/>
                </a:lnTo>
                <a:lnTo>
                  <a:pt x="907256" y="954882"/>
                </a:lnTo>
                <a:lnTo>
                  <a:pt x="0" y="9548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810011" y="3812981"/>
            <a:ext cx="4668364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</a:pPr>
            <a:r>
              <a:rPr lang="ar-EG" sz="4499" b="1" spc="-22">
                <a:solidFill>
                  <a:srgbClr val="173B6C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المستشفى في المنزل</a:t>
            </a:r>
          </a:p>
          <a:p>
            <a:pPr algn="ctr">
              <a:lnSpc>
                <a:spcPts val="2999"/>
              </a:lnSpc>
            </a:pPr>
            <a:r>
              <a:rPr lang="en-US" sz="2499" spc="-12">
                <a:solidFill>
                  <a:srgbClr val="173B6C"/>
                </a:solidFill>
                <a:latin typeface="Calibri (MS)"/>
                <a:ea typeface="Calibri (MS)"/>
                <a:cs typeface="Calibri (MS)"/>
                <a:sym typeface="Calibri (MS)"/>
              </a:rPr>
              <a:t>FY2026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71892" y="3803456"/>
            <a:ext cx="4544216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ar-EG" sz="4500" b="1">
                <a:solidFill>
                  <a:srgbClr val="173B6C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رعاية كبار السن</a:t>
            </a:r>
          </a:p>
          <a:p>
            <a:pPr algn="ctr">
              <a:lnSpc>
                <a:spcPts val="2999"/>
              </a:lnSpc>
            </a:pPr>
            <a:r>
              <a:rPr lang="ar-EG" sz="2499" spc="-12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الرعاية الممتدة، الرعاية التلطيفية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50081" y="2133200"/>
            <a:ext cx="2778128" cy="208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4"/>
              </a:lnSpc>
            </a:pPr>
            <a:r>
              <a:rPr lang="ar-EG" sz="3187" b="1">
                <a:solidFill>
                  <a:srgbClr val="2E5496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الرعاية الأولية</a:t>
            </a: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50081" y="2975286"/>
            <a:ext cx="3796503" cy="366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زيارات الأطباء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خدمة التمريض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خدمة التطعيم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الخدمات المخبرية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سيارة إسعاف طارئة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سيارة إسعاف غير طارئة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العلاج الطبيعي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برامج التأهيل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إدارة مرض السكري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برنامج الحمل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 spc="-13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spc="-13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اختبار التوظيف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80809" y="2175586"/>
            <a:ext cx="235485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4"/>
              </a:lnSpc>
            </a:pPr>
            <a:r>
              <a:rPr lang="ar-EG" sz="3187" b="1">
                <a:solidFill>
                  <a:srgbClr val="2E5496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الرعاية التخصصية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08816" y="2975286"/>
            <a:ext cx="3428209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المستشفى في المنزل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برنامج العافية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الفحص الطبي للتوظيف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رعاية كبار السن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إدارة صحة السكان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برنامج العناية بالجروح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 spc="-13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spc="-13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برنامج الرعاية الممتدة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12004" y="2133200"/>
            <a:ext cx="2894111" cy="208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4"/>
              </a:lnSpc>
            </a:pPr>
            <a:r>
              <a:rPr lang="ar-EG" sz="3187" b="1">
                <a:solidFill>
                  <a:srgbClr val="2E5496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التصوير التشخيصي</a:t>
            </a: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352460" y="3020218"/>
            <a:ext cx="3855706" cy="199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0378" lvl="1" indent="-240189" algn="just">
              <a:lnSpc>
                <a:spcPts val="2670"/>
              </a:lnSpc>
              <a:buFont typeface="Arial"/>
              <a:buChar char="•"/>
            </a:pP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الأشعة السينية في المنزل</a:t>
            </a:r>
          </a:p>
          <a:p>
            <a:pPr marL="480378" lvl="1" indent="-240189" algn="just">
              <a:lnSpc>
                <a:spcPts val="2670"/>
              </a:lnSpc>
              <a:buFont typeface="Arial"/>
              <a:buChar char="•"/>
            </a:pP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الموجات فوق الصوتية في المنزل</a:t>
            </a:r>
          </a:p>
          <a:p>
            <a:pPr marL="480378" lvl="1" indent="-240189" algn="just">
              <a:lnSpc>
                <a:spcPts val="2670"/>
              </a:lnSpc>
              <a:buFont typeface="Arial"/>
              <a:buChar char="•"/>
            </a:pP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تخطيط القلب الكهربائي</a:t>
            </a: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(ECG)</a:t>
            </a:r>
          </a:p>
          <a:p>
            <a:pPr marL="480378" lvl="1" indent="-240189" algn="just">
              <a:lnSpc>
                <a:spcPts val="2670"/>
              </a:lnSpc>
              <a:buFont typeface="Arial"/>
              <a:buChar char="•"/>
            </a:pP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تخطيط القلب تحت الإجهاد</a:t>
            </a: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(Stress ECG)</a:t>
            </a:r>
          </a:p>
          <a:p>
            <a:pPr algn="just">
              <a:lnSpc>
                <a:spcPts val="2550"/>
              </a:lnSpc>
            </a:pPr>
            <a:endParaRPr lang="en-US" sz="2225" dirty="0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335336" y="490537"/>
            <a:ext cx="14053737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00"/>
              </a:lnSpc>
            </a:pPr>
            <a:r>
              <a:rPr lang="ar-EG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خدماتنا (الرعاية المنزلية + الشركات)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29836" y="2135905"/>
            <a:ext cx="2056209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4"/>
              </a:lnSpc>
            </a:pPr>
            <a:r>
              <a:rPr lang="ar-EG" sz="3187" b="1">
                <a:solidFill>
                  <a:srgbClr val="2E5496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برامج الشركات</a:t>
            </a: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58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929836" y="2951559"/>
            <a:ext cx="159831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70"/>
              </a:lnSpc>
            </a:pPr>
            <a:r>
              <a:rPr lang="ar-EG" sz="2225" spc="-13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تشغيل العيادات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23602" y="3309234"/>
            <a:ext cx="3679884" cy="2769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0378" lvl="1" indent="-240189" algn="l">
              <a:lnSpc>
                <a:spcPts val="3735"/>
              </a:lnSpc>
              <a:buFont typeface="Arial"/>
              <a:buChar char="•"/>
            </a:pPr>
            <a:r>
              <a:rPr lang="ar-EG" sz="2225" spc="-13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عيادات الإسعافات الأولية للشركات</a:t>
            </a:r>
          </a:p>
          <a:p>
            <a:pPr marL="480378" lvl="1" indent="-240189" algn="l">
              <a:lnSpc>
                <a:spcPts val="3733"/>
              </a:lnSpc>
              <a:buFont typeface="Arial"/>
              <a:buChar char="•"/>
            </a:pPr>
            <a:r>
              <a:rPr lang="en-US" sz="2225" spc="-13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spc="-13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عيادة الطوارئ في الموقع (للفعاليات، مواقع البناء)</a:t>
            </a:r>
          </a:p>
          <a:p>
            <a:pPr marL="480378" lvl="1" indent="-240189" algn="l">
              <a:lnSpc>
                <a:spcPts val="3733"/>
              </a:lnSpc>
              <a:buFont typeface="Arial"/>
              <a:buChar char="•"/>
            </a:pPr>
            <a:r>
              <a:rPr lang="en-US" sz="2225" spc="-13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spc="-13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تشغيل كامل للعيادات  ومراكز الرعاية الأولية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611AE-E709-943D-C5F5-8A5405D3E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291132-AA64-F79E-90AE-79D126960DCC}"/>
              </a:ext>
            </a:extLst>
          </p:cNvPr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F97944A-B20B-81E4-5CFB-B1BA970447A4}"/>
              </a:ext>
            </a:extLst>
          </p:cNvPr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6F3B792-2EE7-0D83-2BED-09AA4AFF5BCC}"/>
              </a:ext>
            </a:extLst>
          </p:cNvPr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D18A998-1BE6-76C5-7178-11CAD11A27AB}"/>
              </a:ext>
            </a:extLst>
          </p:cNvPr>
          <p:cNvSpPr txBox="1"/>
          <p:nvPr/>
        </p:nvSpPr>
        <p:spPr>
          <a:xfrm>
            <a:off x="7086600" y="630368"/>
            <a:ext cx="1005839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99"/>
              </a:lnSpc>
            </a:pPr>
            <a:r>
              <a:rPr lang="ar-EG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خدماتنا</a:t>
            </a:r>
            <a:r>
              <a:rPr lang="ar-SA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للعلاج الطبيعي </a:t>
            </a:r>
            <a:endParaRPr lang="ar-EG" sz="5499" b="1" spc="-10" dirty="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EF7A34A-6848-3E0A-C110-9184D052C4D4}"/>
              </a:ext>
            </a:extLst>
          </p:cNvPr>
          <p:cNvSpPr txBox="1"/>
          <p:nvPr/>
        </p:nvSpPr>
        <p:spPr>
          <a:xfrm>
            <a:off x="1524000" y="2019921"/>
            <a:ext cx="15590636" cy="90483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5399"/>
              </a:lnSpc>
            </a:pPr>
            <a:r>
              <a:rPr lang="ar-SA" sz="48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التأهيل العصبي</a:t>
            </a:r>
          </a:p>
          <a:p>
            <a:pPr algn="r" rtl="1">
              <a:lnSpc>
                <a:spcPts val="5399"/>
              </a:lnSpc>
            </a:pPr>
            <a:endParaRPr lang="ar-EG" sz="4800" b="1" spc="-12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 Bold"/>
              <a:cs typeface="29LT Adir" panose="020B0604020202020204" charset="-78"/>
              <a:sym typeface="29LT Adir Bold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نقدم برامج تأهيل متخصصة لحالات الأعصاب التي تؤثر على الحركة، التوازن، والتحكم الوظيفي، بهدف استعادة أكبر قدر ممكن من الاستقلالية وتحسين جودة الحياة.</a:t>
            </a:r>
          </a:p>
          <a:p>
            <a:pPr algn="r"/>
            <a:endParaRPr lang="ar-SA" sz="3200" b="1" spc="-6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"/>
              <a:cs typeface="29LT Adir" panose="020B0604020202020204" charset="-78"/>
              <a:sym typeface="29LT Adir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يشمل ذلك:</a:t>
            </a:r>
          </a:p>
          <a:p>
            <a:pPr algn="r"/>
            <a:endParaRPr lang="ar-SA" sz="2800" b="1" spc="-6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"/>
              <a:cs typeface="29LT Adir" panose="020B0604020202020204" charset="-78"/>
              <a:sym typeface="29LT Adir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تأهيل ما بعد الجلطات الدماغية</a:t>
            </a: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التصلب اللويحي 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متلازمة غيلان باريه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إصابات الأعصاب الطرفية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ضعف أو شلل الأطراف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اضطرابات التوازن والمشي ذات المنشأ العصبي</a:t>
            </a:r>
          </a:p>
          <a:p>
            <a:pPr algn="r"/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/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EG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</p:txBody>
      </p:sp>
    </p:spTree>
    <p:extLst>
      <p:ext uri="{BB962C8B-B14F-4D97-AF65-F5344CB8AC3E}">
        <p14:creationId xmlns:p14="http://schemas.microsoft.com/office/powerpoint/2010/main" val="3305537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305BE-23D4-92C6-C6CA-B6B555CDE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98EE4E-FAA8-02FA-E5A3-327E8EB5FF37}"/>
              </a:ext>
            </a:extLst>
          </p:cNvPr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0C3EDE7-6584-98E7-1945-7E048C1BF14B}"/>
              </a:ext>
            </a:extLst>
          </p:cNvPr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389A3E2-82AC-F62C-0DF0-3D496B79FDBA}"/>
              </a:ext>
            </a:extLst>
          </p:cNvPr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5DFD9C1-16FF-6E9F-DE7A-B5ACFBD9366E}"/>
              </a:ext>
            </a:extLst>
          </p:cNvPr>
          <p:cNvSpPr txBox="1"/>
          <p:nvPr/>
        </p:nvSpPr>
        <p:spPr>
          <a:xfrm>
            <a:off x="7086600" y="630368"/>
            <a:ext cx="1005839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99"/>
              </a:lnSpc>
            </a:pPr>
            <a:r>
              <a:rPr lang="ar-EG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خدماتنا</a:t>
            </a:r>
            <a:r>
              <a:rPr lang="ar-SA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للعلاج الطبيعي </a:t>
            </a:r>
            <a:endParaRPr lang="ar-EG" sz="5499" b="1" spc="-10" dirty="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71B391D-750A-597E-521E-2461931FEAE7}"/>
              </a:ext>
            </a:extLst>
          </p:cNvPr>
          <p:cNvSpPr txBox="1"/>
          <p:nvPr/>
        </p:nvSpPr>
        <p:spPr>
          <a:xfrm>
            <a:off x="1524000" y="2019921"/>
            <a:ext cx="15590636" cy="9540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5399"/>
              </a:lnSpc>
            </a:pPr>
            <a:r>
              <a:rPr lang="ar-SA" sz="48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التأهيل العضلي الهيكلي</a:t>
            </a:r>
            <a:endParaRPr lang="en-US" sz="48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 rtl="1">
              <a:lnSpc>
                <a:spcPts val="5399"/>
              </a:lnSpc>
            </a:pPr>
            <a:endParaRPr lang="ar-EG" sz="4800" b="1" spc="-12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 Bold"/>
              <a:cs typeface="29LT Adir" panose="020B0604020202020204" charset="-78"/>
              <a:sym typeface="29LT Adir Bold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علاج وإعادة تأهيل آلام العضلات والمفاصل والعمود الفقري، مع خطط علاجية مخصصة حسب حالة كل مريض.</a:t>
            </a:r>
          </a:p>
          <a:p>
            <a:pPr algn="r"/>
            <a:endParaRPr lang="ar-SA" sz="3200" b="1" spc="-6" dirty="0">
              <a:solidFill>
                <a:schemeClr val="tx2">
                  <a:lumMod val="75000"/>
                </a:schemeClr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يشمل ذلك: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endParaRPr lang="en-US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آلام الرقبة والصداع الناتج عنها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آلام أسفل الظهر والعمود الفقري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آلام الكتف والركبة والورك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الشدود والتمزقات العضلية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إصابات الملاعب والإصابات الرياضية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التأهيل بعد عمليات تبديل المفاصل والكسور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endParaRPr lang="ar-SA" sz="28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endParaRPr lang="en-US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/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EG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</p:txBody>
      </p:sp>
    </p:spTree>
    <p:extLst>
      <p:ext uri="{BB962C8B-B14F-4D97-AF65-F5344CB8AC3E}">
        <p14:creationId xmlns:p14="http://schemas.microsoft.com/office/powerpoint/2010/main" val="3000119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9CEC0-3509-B09E-377B-8C866ABD7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350BE7C-0CFD-12CF-2075-CF4B41218DEF}"/>
              </a:ext>
            </a:extLst>
          </p:cNvPr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B42FC67-3E8C-20A6-11A0-D650B0AE8A09}"/>
              </a:ext>
            </a:extLst>
          </p:cNvPr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06CA562-9C2B-0C61-C65E-45D4569A8C01}"/>
              </a:ext>
            </a:extLst>
          </p:cNvPr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BDCC626-0579-876A-F3A1-9318BB73CBCF}"/>
              </a:ext>
            </a:extLst>
          </p:cNvPr>
          <p:cNvSpPr txBox="1"/>
          <p:nvPr/>
        </p:nvSpPr>
        <p:spPr>
          <a:xfrm>
            <a:off x="7086600" y="630368"/>
            <a:ext cx="1005839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99"/>
              </a:lnSpc>
            </a:pPr>
            <a:r>
              <a:rPr lang="ar-EG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خدماتنا</a:t>
            </a:r>
            <a:r>
              <a:rPr lang="ar-SA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للعلاج الطبيعي </a:t>
            </a:r>
            <a:endParaRPr lang="ar-EG" sz="5499" b="1" spc="-10" dirty="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E753C90-0B1B-4508-78AD-40163EA124FA}"/>
              </a:ext>
            </a:extLst>
          </p:cNvPr>
          <p:cNvSpPr txBox="1"/>
          <p:nvPr/>
        </p:nvSpPr>
        <p:spPr>
          <a:xfrm>
            <a:off x="1524000" y="2019921"/>
            <a:ext cx="15590636" cy="9540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5399"/>
              </a:lnSpc>
            </a:pPr>
            <a:r>
              <a:rPr lang="ar-SA" sz="48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تأهيل كبار السن</a:t>
            </a:r>
          </a:p>
          <a:p>
            <a:pPr algn="r" rtl="1">
              <a:lnSpc>
                <a:spcPts val="5399"/>
              </a:lnSpc>
            </a:pPr>
            <a:endParaRPr lang="ar-EG" sz="4800" b="1" spc="-12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 Bold"/>
              <a:cs typeface="29LT Adir" panose="020B0604020202020204" charset="-78"/>
              <a:sym typeface="29LT Adir Bold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برامج تأهيلية شاملة تهدف إلى الحفاظ على الاستقلالية، تقليل خطر السقوط، وتحسين القدرة الحركية لكبار السن.</a:t>
            </a:r>
          </a:p>
          <a:p>
            <a:pPr algn="r"/>
            <a:endParaRPr lang="ar-SA" sz="3200" b="1" spc="-6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"/>
              <a:cs typeface="29LT Adir" panose="020B0604020202020204" charset="-78"/>
              <a:sym typeface="29LT Adir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يشمل ذلك: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endParaRPr lang="ar-SA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حالات السقوط المتكرر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صعوبة الحركة والمشي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ضعف التوازن والقوة العضلية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آلام المفاصل المزمنة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التأهيل بعد كسور كبار السن (مثل كسر عنق الفخذ)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تحسين أداء الأنشطة اليومية بأمان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endParaRPr lang="ar-SA" sz="28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endParaRPr lang="en-US" sz="2499" b="1" spc="-6" dirty="0">
              <a:solidFill>
                <a:srgbClr val="173B6C"/>
              </a:solidFill>
              <a:latin typeface="29LT Adir" panose="020B0604020202020204" charset="-78"/>
              <a:ea typeface="29LT Adir"/>
              <a:cs typeface="29LT Adir" panose="020B0604020202020204" charset="-78"/>
              <a:sym typeface="29LT Adir"/>
              <a:rtl/>
            </a:endParaRPr>
          </a:p>
          <a:p>
            <a:pPr algn="r"/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EG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</p:txBody>
      </p:sp>
    </p:spTree>
    <p:extLst>
      <p:ext uri="{BB962C8B-B14F-4D97-AF65-F5344CB8AC3E}">
        <p14:creationId xmlns:p14="http://schemas.microsoft.com/office/powerpoint/2010/main" val="4151682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200AF-B6A1-830B-9766-30017F094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1E643F9-D06A-FAAA-A8CF-D57EFD037616}"/>
              </a:ext>
            </a:extLst>
          </p:cNvPr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FECF13D-8EF4-05C7-5708-69C5D777CA9A}"/>
              </a:ext>
            </a:extLst>
          </p:cNvPr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BDE980E-7E9B-2D56-DD7F-3D43F1EA9A4E}"/>
              </a:ext>
            </a:extLst>
          </p:cNvPr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5A75ED3-3DF7-00AC-833D-B2B346F409F7}"/>
              </a:ext>
            </a:extLst>
          </p:cNvPr>
          <p:cNvSpPr txBox="1"/>
          <p:nvPr/>
        </p:nvSpPr>
        <p:spPr>
          <a:xfrm>
            <a:off x="7086600" y="630368"/>
            <a:ext cx="1005839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99"/>
              </a:lnSpc>
            </a:pPr>
            <a:r>
              <a:rPr lang="ar-EG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خدماتنا</a:t>
            </a:r>
            <a:r>
              <a:rPr lang="ar-SA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للعلاج الطبيعي </a:t>
            </a:r>
            <a:endParaRPr lang="ar-EG" sz="5499" b="1" spc="-10" dirty="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D4E0D03-DF40-8831-F9FE-07848AAA70CF}"/>
              </a:ext>
            </a:extLst>
          </p:cNvPr>
          <p:cNvSpPr txBox="1"/>
          <p:nvPr/>
        </p:nvSpPr>
        <p:spPr>
          <a:xfrm>
            <a:off x="1524000" y="2019921"/>
            <a:ext cx="15590636" cy="7632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5399"/>
              </a:lnSpc>
            </a:pPr>
            <a:r>
              <a:rPr lang="ar-SA" sz="48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التأهيل بعد الأمراض والصدمات</a:t>
            </a:r>
          </a:p>
          <a:p>
            <a:pPr algn="r" rtl="1">
              <a:lnSpc>
                <a:spcPts val="5399"/>
              </a:lnSpc>
            </a:pPr>
            <a:endParaRPr lang="ar-EG" sz="4800" b="1" spc="-12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 Bold"/>
              <a:cs typeface="29LT Adir" panose="020B0604020202020204" charset="-78"/>
              <a:sym typeface="29LT Adir Bold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إعادة تأهيل المرضى بعد الأمراض المزمنة أو الصدمات بهدف استعادة الوظيفة الحركية والاعتماد على النفس.</a:t>
            </a:r>
          </a:p>
          <a:p>
            <a:pPr algn="r"/>
            <a:endParaRPr lang="ar-SA" sz="3200" b="1" spc="-6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"/>
              <a:cs typeface="29LT Adir" panose="020B0604020202020204" charset="-78"/>
              <a:sym typeface="29LT Adir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يشمل ذلك: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endParaRPr lang="ar-SA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تأهيل مرضى السرطان</a:t>
            </a: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التأهيل بعد الحوادث والصدمات</a:t>
            </a: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حالات الضعف العام بعد فترات التنويم الطويلة</a:t>
            </a:r>
          </a:p>
          <a:p>
            <a:pPr algn="r"/>
            <a:endParaRPr lang="en-US" sz="2499" b="1" spc="-6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"/>
              <a:cs typeface="29LT Adir" panose="020B0604020202020204" charset="-78"/>
              <a:sym typeface="29LT Adir"/>
              <a:rtl/>
            </a:endParaRPr>
          </a:p>
          <a:p>
            <a:pPr algn="r"/>
            <a:endParaRPr lang="ar-SA" sz="2499" b="1" spc="-6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"/>
              <a:cs typeface="29LT Adir" panose="020B0604020202020204" charset="-78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b="1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EG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</p:txBody>
      </p:sp>
    </p:spTree>
    <p:extLst>
      <p:ext uri="{BB962C8B-B14F-4D97-AF65-F5344CB8AC3E}">
        <p14:creationId xmlns:p14="http://schemas.microsoft.com/office/powerpoint/2010/main" val="2324807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DB90C-FEE8-E1E8-0BA1-4A0858815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2307B6F-E98B-C415-92FC-AEE08C36A95A}"/>
              </a:ext>
            </a:extLst>
          </p:cNvPr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580815D-316D-49A2-8817-897C0E3FC9CB}"/>
              </a:ext>
            </a:extLst>
          </p:cNvPr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A8FC826-E0B7-BC84-AA8B-E90BD342848E}"/>
              </a:ext>
            </a:extLst>
          </p:cNvPr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ABA0BD7-6878-654E-539E-852ADA4508FB}"/>
              </a:ext>
            </a:extLst>
          </p:cNvPr>
          <p:cNvSpPr txBox="1"/>
          <p:nvPr/>
        </p:nvSpPr>
        <p:spPr>
          <a:xfrm>
            <a:off x="7086600" y="630368"/>
            <a:ext cx="1005839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99"/>
              </a:lnSpc>
            </a:pPr>
            <a:r>
              <a:rPr lang="ar-EG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خدماتنا</a:t>
            </a:r>
            <a:r>
              <a:rPr lang="ar-SA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للعلاج الطبيعي </a:t>
            </a:r>
            <a:endParaRPr lang="ar-EG" sz="5499" b="1" spc="-10" dirty="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D77FD86-6477-E34E-E1EB-CCC24D0F9EA7}"/>
              </a:ext>
            </a:extLst>
          </p:cNvPr>
          <p:cNvSpPr txBox="1"/>
          <p:nvPr/>
        </p:nvSpPr>
        <p:spPr>
          <a:xfrm>
            <a:off x="1524000" y="2019921"/>
            <a:ext cx="15590636" cy="8156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5399"/>
              </a:lnSpc>
            </a:pPr>
            <a:r>
              <a:rPr lang="ar-SA" sz="48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الأدوات والأجهزة المستخدمة في الجلسات</a:t>
            </a:r>
          </a:p>
          <a:p>
            <a:pPr algn="r" rtl="1">
              <a:lnSpc>
                <a:spcPts val="5399"/>
              </a:lnSpc>
            </a:pPr>
            <a:endParaRPr lang="ar-SA" sz="3600" b="1" dirty="0"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r>
              <a:rPr lang="en-US" sz="3600" b="1" dirty="0">
                <a:latin typeface="29LT Adir" panose="020B0604020202020204" charset="-78"/>
                <a:cs typeface="29LT Adir" panose="020B0604020202020204" charset="-78"/>
              </a:rPr>
              <a:t>TENS / EMS</a:t>
            </a:r>
            <a:r>
              <a:rPr lang="ar-SA" sz="3600" b="1" dirty="0">
                <a:latin typeface="29LT Adir" panose="020B0604020202020204" charset="-78"/>
                <a:cs typeface="29LT Adir" panose="020B0604020202020204" charset="-78"/>
              </a:rPr>
              <a:t>لعلاج الكهربائي </a:t>
            </a:r>
            <a:endParaRPr lang="en-US" sz="3600" b="1" dirty="0"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r>
              <a:rPr lang="ar-SA" sz="3600" b="1" dirty="0">
                <a:latin typeface="29LT Adir" panose="020B0604020202020204" charset="-78"/>
                <a:cs typeface="29LT Adir" panose="020B0604020202020204" charset="-78"/>
              </a:rPr>
              <a:t>العلاج اليدوي للمشاكل العضلية الهيكلية</a:t>
            </a:r>
          </a:p>
          <a:p>
            <a:pPr algn="r"/>
            <a:r>
              <a:rPr lang="ar-SA" sz="3600" b="1" dirty="0">
                <a:latin typeface="29LT Adir" panose="020B0604020202020204" charset="-78"/>
                <a:cs typeface="29LT Adir" panose="020B0604020202020204" charset="-78"/>
              </a:rPr>
              <a:t>التمارين العلاجية</a:t>
            </a:r>
          </a:p>
          <a:p>
            <a:pPr algn="r"/>
            <a:r>
              <a:rPr lang="ar-SA" sz="3600" b="1" dirty="0">
                <a:latin typeface="29LT Adir" panose="020B0604020202020204" charset="-78"/>
                <a:cs typeface="29LT Adir" panose="020B0604020202020204" charset="-78"/>
              </a:rPr>
              <a:t>العلاج بأدوات الكمادات الدافئة والباردة</a:t>
            </a:r>
          </a:p>
          <a:p>
            <a:pPr algn="r"/>
            <a:r>
              <a:rPr lang="en-US" sz="3600" b="1" dirty="0">
                <a:latin typeface="29LT Adir" panose="020B0604020202020204" charset="-78"/>
                <a:cs typeface="29LT Adir" panose="020B0604020202020204" charset="-78"/>
              </a:rPr>
              <a:t>Graston (IASTM Tools)</a:t>
            </a:r>
          </a:p>
          <a:p>
            <a:pPr algn="r"/>
            <a:endParaRPr lang="ar-SA" sz="3600" b="1" dirty="0"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endParaRPr lang="ar-SA" sz="3600" b="1" dirty="0"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endParaRPr lang="ar-SA" sz="3600" b="1" dirty="0"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r>
              <a:rPr lang="ar-SA" sz="3600" b="1" dirty="0">
                <a:latin typeface="29LT Adir" panose="020B0604020202020204" charset="-78"/>
                <a:cs typeface="29LT Adir" panose="020B0604020202020204" charset="-78"/>
              </a:rPr>
              <a:t>ملاحظة: استخدام الأدوات في الجلسة يعتمد على نوع الحالة والتقييم العلاجي.</a:t>
            </a:r>
          </a:p>
          <a:p>
            <a:pPr algn="r"/>
            <a:endParaRPr lang="ar-SA" b="1" spc="-6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"/>
              <a:cs typeface="29LT Adir" panose="020B0604020202020204" charset="-78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b="1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EG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</p:txBody>
      </p:sp>
    </p:spTree>
    <p:extLst>
      <p:ext uri="{BB962C8B-B14F-4D97-AF65-F5344CB8AC3E}">
        <p14:creationId xmlns:p14="http://schemas.microsoft.com/office/powerpoint/2010/main" val="2507702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32322" y="2818524"/>
            <a:ext cx="3278191" cy="298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3345"/>
              </a:lnSpc>
            </a:pPr>
            <a:r>
              <a:rPr lang="ar-EG" sz="2787" b="1" spc="-12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الأطباء</a:t>
            </a:r>
          </a:p>
          <a:p>
            <a:pPr algn="l">
              <a:lnSpc>
                <a:spcPts val="3517"/>
              </a:lnSpc>
            </a:pPr>
            <a:r>
              <a:rPr lang="ar-EG" sz="1937" spc="-9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أطباء ذو مهارات عالية ، ملتزمون بتقديم رعاية استثنائية</a:t>
            </a:r>
            <a:r>
              <a:rPr lang="en-US" sz="1937" spc="-9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.</a:t>
            </a:r>
          </a:p>
          <a:p>
            <a:pPr algn="l">
              <a:lnSpc>
                <a:spcPts val="3516"/>
              </a:lnSpc>
            </a:pPr>
            <a:endParaRPr lang="en-US" sz="1937" spc="-9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516"/>
              </a:lnSpc>
            </a:pPr>
            <a:endParaRPr lang="en-US" sz="1937" spc="-9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516"/>
              </a:lnSpc>
            </a:pPr>
            <a:endParaRPr lang="en-US" sz="1937" spc="-9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516"/>
              </a:lnSpc>
            </a:pPr>
            <a:endParaRPr lang="en-US" sz="1937" spc="-9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482904" y="2780424"/>
            <a:ext cx="3119438" cy="1649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3224"/>
              </a:lnSpc>
            </a:pPr>
            <a:r>
              <a:rPr lang="ar-EG" sz="2687" b="1" spc="-12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التمريض</a:t>
            </a:r>
          </a:p>
          <a:p>
            <a:pPr algn="l">
              <a:lnSpc>
                <a:spcPts val="3503"/>
              </a:lnSpc>
            </a:pPr>
            <a:r>
              <a:rPr lang="ar-EG" sz="1937" spc="-9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كوادر تمريضية رحيمة وذات خبرة، ملتزمة بتقديم رعاية تتمحور حول المريض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33411" y="2780424"/>
            <a:ext cx="3429000" cy="1649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3224"/>
              </a:lnSpc>
            </a:pPr>
            <a:r>
              <a:rPr lang="ar-EG" sz="2687" b="1" spc="-12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العلاج الطبيعي</a:t>
            </a:r>
          </a:p>
          <a:p>
            <a:pPr algn="l">
              <a:lnSpc>
                <a:spcPts val="3503"/>
              </a:lnSpc>
            </a:pPr>
            <a:r>
              <a:rPr lang="ar-EG" sz="1937" spc="-9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معالجون سعوديون خبراء، متمرسون في برامج التأهيل والعلاج الطبيعي، يضمنون تحسين حركة المرضى وتسريع تعافيهم</a:t>
            </a:r>
          </a:p>
        </p:txBody>
      </p:sp>
      <p:sp>
        <p:nvSpPr>
          <p:cNvPr id="7" name="Freeform 7"/>
          <p:cNvSpPr/>
          <p:nvPr/>
        </p:nvSpPr>
        <p:spPr>
          <a:xfrm>
            <a:off x="13525500" y="1785938"/>
            <a:ext cx="738188" cy="845344"/>
          </a:xfrm>
          <a:custGeom>
            <a:avLst/>
            <a:gdLst/>
            <a:ahLst/>
            <a:cxnLst/>
            <a:rect l="l" t="t" r="r" b="b"/>
            <a:pathLst>
              <a:path w="738188" h="845344">
                <a:moveTo>
                  <a:pt x="0" y="0"/>
                </a:moveTo>
                <a:lnTo>
                  <a:pt x="738188" y="0"/>
                </a:lnTo>
                <a:lnTo>
                  <a:pt x="738188" y="845343"/>
                </a:lnTo>
                <a:lnTo>
                  <a:pt x="0" y="845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3424373" y="2628024"/>
            <a:ext cx="3372641" cy="18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8"/>
              </a:lnSpc>
            </a:pPr>
            <a:r>
              <a:rPr lang="ar-EG" sz="2637" b="1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الأشعة</a:t>
            </a:r>
          </a:p>
          <a:p>
            <a:pPr algn="l">
              <a:lnSpc>
                <a:spcPts val="3503"/>
              </a:lnSpc>
            </a:pPr>
            <a:r>
              <a:rPr lang="ar-EG" sz="1937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مختصون مدرَّبون تدريبًا عاليًا في التصوير الطبي، ويؤدون دورًا أساسيًا في التشخيص الدقيق ووضع خطط العلاج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32322" y="7121604"/>
            <a:ext cx="3572666" cy="121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3224"/>
              </a:lnSpc>
            </a:pPr>
            <a:r>
              <a:rPr lang="ar-EG" sz="2687" b="1" spc="-12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المرافقة الصحية</a:t>
            </a:r>
          </a:p>
          <a:p>
            <a:pPr algn="just">
              <a:lnSpc>
                <a:spcPts val="3517"/>
              </a:lnSpc>
            </a:pPr>
            <a:r>
              <a:rPr lang="ar-EG" sz="1937" spc="-9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كوادر رعاية متمرسة، تقدم الدعم والعناية الشخصية للمرضى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2904" y="7121604"/>
            <a:ext cx="3296441" cy="2087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4"/>
              </a:lnSpc>
            </a:pPr>
            <a:r>
              <a:rPr lang="ar-EG" sz="2687">
                <a:solidFill>
                  <a:srgbClr val="2E85D4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فريق النقل الإسعافي</a:t>
            </a:r>
          </a:p>
          <a:p>
            <a:pPr algn="l">
              <a:lnSpc>
                <a:spcPts val="3503"/>
              </a:lnSpc>
            </a:pPr>
            <a:r>
              <a:rPr lang="ar-EG" sz="1937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محترفون وسريعو الاستجابة، جاهزونفريق لتقديم التغطية الطبية للفعاليات والمواقع</a:t>
            </a:r>
            <a:r>
              <a:rPr lang="en-US" sz="1937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.</a:t>
            </a:r>
          </a:p>
          <a:p>
            <a:pPr algn="l">
              <a:lnSpc>
                <a:spcPts val="3502"/>
              </a:lnSpc>
            </a:pPr>
            <a:endParaRPr lang="en-US" sz="1937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533411" y="7225989"/>
            <a:ext cx="3417094" cy="1649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3224"/>
              </a:lnSpc>
            </a:pPr>
            <a:r>
              <a:rPr lang="ar-EG" sz="2687" b="1" spc="-12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الرعاية التثقيفية </a:t>
            </a:r>
          </a:p>
          <a:p>
            <a:pPr algn="l">
              <a:lnSpc>
                <a:spcPts val="3496"/>
              </a:lnSpc>
            </a:pPr>
            <a:r>
              <a:rPr lang="ar-EG" sz="1937" spc="-9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متخصصون مطّلعون يركزون على تعليم المرضى والمجتمعات حول الحفاظ على الصحة والوقاية من الأمراض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24373" y="7007304"/>
            <a:ext cx="2841622" cy="228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5"/>
              </a:lnSpc>
            </a:pPr>
            <a:r>
              <a:rPr lang="ar-EG" sz="2624" b="1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فريق الدعم</a:t>
            </a:r>
          </a:p>
          <a:p>
            <a:pPr algn="l">
              <a:lnSpc>
                <a:spcPts val="3503"/>
              </a:lnSpc>
            </a:pPr>
            <a:r>
              <a:rPr lang="ar-EG" sz="21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العمليات على مدار الساعة، فرق التأمين، المالية، مطورو تقنية المعلومات، والمزيد</a:t>
            </a:r>
            <a:r>
              <a:rPr lang="en-US" sz="21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.</a:t>
            </a:r>
          </a:p>
          <a:p>
            <a:pPr algn="l">
              <a:lnSpc>
                <a:spcPts val="3501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9501188" y="1809750"/>
            <a:ext cx="1023938" cy="881062"/>
          </a:xfrm>
          <a:custGeom>
            <a:avLst/>
            <a:gdLst/>
            <a:ahLst/>
            <a:cxnLst/>
            <a:rect l="l" t="t" r="r" b="b"/>
            <a:pathLst>
              <a:path w="1023938" h="881062">
                <a:moveTo>
                  <a:pt x="0" y="0"/>
                </a:moveTo>
                <a:lnTo>
                  <a:pt x="1023937" y="0"/>
                </a:lnTo>
                <a:lnTo>
                  <a:pt x="1023937" y="881062"/>
                </a:lnTo>
                <a:lnTo>
                  <a:pt x="0" y="881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636194" y="587531"/>
            <a:ext cx="3240881" cy="897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 spc="-87">
                <a:solidFill>
                  <a:srgbClr val="2E85D4"/>
                </a:solidFill>
                <a:latin typeface="Arial Bold"/>
                <a:ea typeface="Arial Bold"/>
                <a:cs typeface="Arial Bold"/>
                <a:sym typeface="Arial Bold"/>
              </a:rPr>
              <a:t>Our Team</a:t>
            </a:r>
          </a:p>
        </p:txBody>
      </p:sp>
      <p:sp>
        <p:nvSpPr>
          <p:cNvPr id="15" name="Freeform 15"/>
          <p:cNvSpPr/>
          <p:nvPr/>
        </p:nvSpPr>
        <p:spPr>
          <a:xfrm>
            <a:off x="17054351" y="519303"/>
            <a:ext cx="467516" cy="604838"/>
          </a:xfrm>
          <a:custGeom>
            <a:avLst/>
            <a:gdLst/>
            <a:ahLst/>
            <a:cxnLst/>
            <a:rect l="l" t="t" r="r" b="b"/>
            <a:pathLst>
              <a:path w="467516" h="604838">
                <a:moveTo>
                  <a:pt x="0" y="0"/>
                </a:moveTo>
                <a:lnTo>
                  <a:pt x="467515" y="0"/>
                </a:lnTo>
                <a:lnTo>
                  <a:pt x="467515" y="604837"/>
                </a:lnTo>
                <a:lnTo>
                  <a:pt x="0" y="604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5762625" y="6453188"/>
            <a:ext cx="369094" cy="500062"/>
          </a:xfrm>
          <a:custGeom>
            <a:avLst/>
            <a:gdLst/>
            <a:ahLst/>
            <a:cxnLst/>
            <a:rect l="l" t="t" r="r" b="b"/>
            <a:pathLst>
              <a:path w="369094" h="500062">
                <a:moveTo>
                  <a:pt x="0" y="0"/>
                </a:moveTo>
                <a:lnTo>
                  <a:pt x="369094" y="0"/>
                </a:lnTo>
                <a:lnTo>
                  <a:pt x="369094" y="500062"/>
                </a:lnTo>
                <a:lnTo>
                  <a:pt x="0" y="5000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5643562" y="6346031"/>
            <a:ext cx="1000125" cy="511969"/>
          </a:xfrm>
          <a:custGeom>
            <a:avLst/>
            <a:gdLst/>
            <a:ahLst/>
            <a:cxnLst/>
            <a:rect l="l" t="t" r="r" b="b"/>
            <a:pathLst>
              <a:path w="1000125" h="511969">
                <a:moveTo>
                  <a:pt x="0" y="0"/>
                </a:moveTo>
                <a:lnTo>
                  <a:pt x="1000126" y="0"/>
                </a:lnTo>
                <a:lnTo>
                  <a:pt x="1000126" y="511969"/>
                </a:lnTo>
                <a:lnTo>
                  <a:pt x="0" y="5119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6346031" y="676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5643562" y="6346031"/>
            <a:ext cx="1000125" cy="607219"/>
          </a:xfrm>
          <a:custGeom>
            <a:avLst/>
            <a:gdLst/>
            <a:ahLst/>
            <a:cxnLst/>
            <a:rect l="l" t="t" r="r" b="b"/>
            <a:pathLst>
              <a:path w="1000125" h="607219">
                <a:moveTo>
                  <a:pt x="0" y="0"/>
                </a:moveTo>
                <a:lnTo>
                  <a:pt x="1000126" y="0"/>
                </a:lnTo>
                <a:lnTo>
                  <a:pt x="1000126" y="607219"/>
                </a:lnTo>
                <a:lnTo>
                  <a:pt x="0" y="6072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6346031" y="676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5834062" y="6453188"/>
            <a:ext cx="297656" cy="285750"/>
          </a:xfrm>
          <a:custGeom>
            <a:avLst/>
            <a:gdLst/>
            <a:ahLst/>
            <a:cxnLst/>
            <a:rect l="l" t="t" r="r" b="b"/>
            <a:pathLst>
              <a:path w="297656" h="285750">
                <a:moveTo>
                  <a:pt x="0" y="0"/>
                </a:moveTo>
                <a:lnTo>
                  <a:pt x="297657" y="0"/>
                </a:lnTo>
                <a:lnTo>
                  <a:pt x="297657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6254591" y="6250781"/>
            <a:ext cx="209550" cy="81753"/>
            <a:chOff x="0" y="0"/>
            <a:chExt cx="279400" cy="109004"/>
          </a:xfrm>
        </p:grpSpPr>
        <p:sp>
          <p:nvSpPr>
            <p:cNvPr id="23" name="Freeform 23"/>
            <p:cNvSpPr/>
            <p:nvPr/>
          </p:nvSpPr>
          <p:spPr>
            <a:xfrm>
              <a:off x="0" y="30099"/>
              <a:ext cx="78994" cy="78232"/>
            </a:xfrm>
            <a:custGeom>
              <a:avLst/>
              <a:gdLst/>
              <a:ahLst/>
              <a:cxnLst/>
              <a:rect l="l" t="t" r="r" b="b"/>
              <a:pathLst>
                <a:path w="78994" h="78232">
                  <a:moveTo>
                    <a:pt x="78994" y="55626"/>
                  </a:moveTo>
                  <a:lnTo>
                    <a:pt x="22479" y="0"/>
                  </a:lnTo>
                  <a:lnTo>
                    <a:pt x="0" y="22606"/>
                  </a:lnTo>
                  <a:lnTo>
                    <a:pt x="56769" y="78232"/>
                  </a:lnTo>
                  <a:lnTo>
                    <a:pt x="78994" y="556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121920" y="0"/>
              <a:ext cx="31750" cy="79375"/>
            </a:xfrm>
            <a:custGeom>
              <a:avLst/>
              <a:gdLst/>
              <a:ahLst/>
              <a:cxnLst/>
              <a:rect l="l" t="t" r="r" b="b"/>
              <a:pathLst>
                <a:path w="31750" h="79375">
                  <a:moveTo>
                    <a:pt x="31750" y="0"/>
                  </a:moveTo>
                  <a:lnTo>
                    <a:pt x="0" y="0"/>
                  </a:lnTo>
                  <a:lnTo>
                    <a:pt x="0" y="79375"/>
                  </a:lnTo>
                  <a:lnTo>
                    <a:pt x="31750" y="79375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406" y="30099"/>
              <a:ext cx="78994" cy="78232"/>
            </a:xfrm>
            <a:custGeom>
              <a:avLst/>
              <a:gdLst/>
              <a:ahLst/>
              <a:cxnLst/>
              <a:rect l="l" t="t" r="r" b="b"/>
              <a:pathLst>
                <a:path w="78994" h="78232">
                  <a:moveTo>
                    <a:pt x="78994" y="22606"/>
                  </a:moveTo>
                  <a:lnTo>
                    <a:pt x="56769" y="0"/>
                  </a:lnTo>
                  <a:lnTo>
                    <a:pt x="0" y="55626"/>
                  </a:lnTo>
                  <a:lnTo>
                    <a:pt x="22225" y="78232"/>
                  </a:lnTo>
                  <a:lnTo>
                    <a:pt x="78994" y="226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/>
          <p:cNvSpPr/>
          <p:nvPr/>
        </p:nvSpPr>
        <p:spPr>
          <a:xfrm>
            <a:off x="1490015" y="6360300"/>
            <a:ext cx="759619" cy="456409"/>
          </a:xfrm>
          <a:custGeom>
            <a:avLst/>
            <a:gdLst/>
            <a:ahLst/>
            <a:cxnLst/>
            <a:rect l="l" t="t" r="r" b="b"/>
            <a:pathLst>
              <a:path w="759619" h="456409">
                <a:moveTo>
                  <a:pt x="0" y="0"/>
                </a:moveTo>
                <a:lnTo>
                  <a:pt x="759619" y="0"/>
                </a:lnTo>
                <a:lnTo>
                  <a:pt x="759619" y="456409"/>
                </a:lnTo>
                <a:lnTo>
                  <a:pt x="0" y="45640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775555" y="6148330"/>
            <a:ext cx="188509" cy="188500"/>
          </a:xfrm>
          <a:custGeom>
            <a:avLst/>
            <a:gdLst/>
            <a:ahLst/>
            <a:cxnLst/>
            <a:rect l="l" t="t" r="r" b="b"/>
            <a:pathLst>
              <a:path w="188509" h="188500">
                <a:moveTo>
                  <a:pt x="0" y="0"/>
                </a:moveTo>
                <a:lnTo>
                  <a:pt x="188510" y="0"/>
                </a:lnTo>
                <a:lnTo>
                  <a:pt x="188510" y="188500"/>
                </a:lnTo>
                <a:lnTo>
                  <a:pt x="0" y="1885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1611" r="-160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975161" y="6832397"/>
            <a:ext cx="273291" cy="148923"/>
          </a:xfrm>
          <a:custGeom>
            <a:avLst/>
            <a:gdLst/>
            <a:ahLst/>
            <a:cxnLst/>
            <a:rect l="l" t="t" r="r" b="b"/>
            <a:pathLst>
              <a:path w="273291" h="148923">
                <a:moveTo>
                  <a:pt x="0" y="0"/>
                </a:moveTo>
                <a:lnTo>
                  <a:pt x="273291" y="0"/>
                </a:lnTo>
                <a:lnTo>
                  <a:pt x="273291" y="148923"/>
                </a:lnTo>
                <a:lnTo>
                  <a:pt x="0" y="14892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132" r="-1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490977" y="6516462"/>
            <a:ext cx="504034" cy="469897"/>
          </a:xfrm>
          <a:custGeom>
            <a:avLst/>
            <a:gdLst/>
            <a:ahLst/>
            <a:cxnLst/>
            <a:rect l="l" t="t" r="r" b="b"/>
            <a:pathLst>
              <a:path w="504034" h="469897">
                <a:moveTo>
                  <a:pt x="0" y="0"/>
                </a:moveTo>
                <a:lnTo>
                  <a:pt x="504034" y="0"/>
                </a:lnTo>
                <a:lnTo>
                  <a:pt x="504034" y="469897"/>
                </a:lnTo>
                <a:lnTo>
                  <a:pt x="0" y="4698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464469" y="1966122"/>
            <a:ext cx="559594" cy="736597"/>
          </a:xfrm>
          <a:custGeom>
            <a:avLst/>
            <a:gdLst/>
            <a:ahLst/>
            <a:cxnLst/>
            <a:rect l="l" t="t" r="r" b="b"/>
            <a:pathLst>
              <a:path w="559594" h="736597">
                <a:moveTo>
                  <a:pt x="0" y="0"/>
                </a:moveTo>
                <a:lnTo>
                  <a:pt x="559593" y="0"/>
                </a:lnTo>
                <a:lnTo>
                  <a:pt x="559593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5511051" y="1913258"/>
            <a:ext cx="768353" cy="768353"/>
          </a:xfrm>
          <a:custGeom>
            <a:avLst/>
            <a:gdLst/>
            <a:ahLst/>
            <a:cxnLst/>
            <a:rect l="l" t="t" r="r" b="b"/>
            <a:pathLst>
              <a:path w="768353" h="768353">
                <a:moveTo>
                  <a:pt x="0" y="0"/>
                </a:moveTo>
                <a:lnTo>
                  <a:pt x="768353" y="0"/>
                </a:lnTo>
                <a:lnTo>
                  <a:pt x="768353" y="768353"/>
                </a:lnTo>
                <a:lnTo>
                  <a:pt x="0" y="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3508174" y="6346869"/>
            <a:ext cx="136769" cy="206235"/>
          </a:xfrm>
          <a:custGeom>
            <a:avLst/>
            <a:gdLst/>
            <a:ahLst/>
            <a:cxnLst/>
            <a:rect l="l" t="t" r="r" b="b"/>
            <a:pathLst>
              <a:path w="136769" h="206235">
                <a:moveTo>
                  <a:pt x="0" y="0"/>
                </a:moveTo>
                <a:lnTo>
                  <a:pt x="136770" y="0"/>
                </a:lnTo>
                <a:lnTo>
                  <a:pt x="136770" y="206236"/>
                </a:lnTo>
                <a:lnTo>
                  <a:pt x="0" y="20623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t="-457" b="-4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3449062" y="6201556"/>
            <a:ext cx="701678" cy="831847"/>
          </a:xfrm>
          <a:custGeom>
            <a:avLst/>
            <a:gdLst/>
            <a:ahLst/>
            <a:cxnLst/>
            <a:rect l="l" t="t" r="r" b="b"/>
            <a:pathLst>
              <a:path w="701678" h="831847">
                <a:moveTo>
                  <a:pt x="0" y="0"/>
                </a:moveTo>
                <a:lnTo>
                  <a:pt x="701678" y="0"/>
                </a:lnTo>
                <a:lnTo>
                  <a:pt x="701678" y="831847"/>
                </a:lnTo>
                <a:lnTo>
                  <a:pt x="0" y="831847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3845959" y="6265945"/>
            <a:ext cx="87592" cy="132502"/>
          </a:xfrm>
          <a:custGeom>
            <a:avLst/>
            <a:gdLst/>
            <a:ahLst/>
            <a:cxnLst/>
            <a:rect l="l" t="t" r="r" b="b"/>
            <a:pathLst>
              <a:path w="87592" h="132502">
                <a:moveTo>
                  <a:pt x="0" y="0"/>
                </a:moveTo>
                <a:lnTo>
                  <a:pt x="87592" y="0"/>
                </a:lnTo>
                <a:lnTo>
                  <a:pt x="87592" y="132502"/>
                </a:lnTo>
                <a:lnTo>
                  <a:pt x="0" y="132502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-1576" r="-15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3518309" y="6264383"/>
            <a:ext cx="302419" cy="454028"/>
          </a:xfrm>
          <a:custGeom>
            <a:avLst/>
            <a:gdLst/>
            <a:ahLst/>
            <a:cxnLst/>
            <a:rect l="l" t="t" r="r" b="b"/>
            <a:pathLst>
              <a:path w="302419" h="454028">
                <a:moveTo>
                  <a:pt x="0" y="0"/>
                </a:moveTo>
                <a:lnTo>
                  <a:pt x="302418" y="0"/>
                </a:lnTo>
                <a:lnTo>
                  <a:pt x="302418" y="454028"/>
                </a:lnTo>
                <a:lnTo>
                  <a:pt x="0" y="454028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9566024" y="6338573"/>
            <a:ext cx="942975" cy="801691"/>
          </a:xfrm>
          <a:custGeom>
            <a:avLst/>
            <a:gdLst/>
            <a:ahLst/>
            <a:cxnLst/>
            <a:rect l="l" t="t" r="r" b="b"/>
            <a:pathLst>
              <a:path w="942975" h="801691">
                <a:moveTo>
                  <a:pt x="0" y="0"/>
                </a:moveTo>
                <a:lnTo>
                  <a:pt x="942975" y="0"/>
                </a:lnTo>
                <a:lnTo>
                  <a:pt x="942975" y="801691"/>
                </a:lnTo>
                <a:lnTo>
                  <a:pt x="0" y="801691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0084422" y="6563039"/>
            <a:ext cx="104508" cy="139484"/>
          </a:xfrm>
          <a:custGeom>
            <a:avLst/>
            <a:gdLst/>
            <a:ahLst/>
            <a:cxnLst/>
            <a:rect l="l" t="t" r="r" b="b"/>
            <a:pathLst>
              <a:path w="104508" h="139484">
                <a:moveTo>
                  <a:pt x="0" y="0"/>
                </a:moveTo>
                <a:lnTo>
                  <a:pt x="104509" y="0"/>
                </a:lnTo>
                <a:lnTo>
                  <a:pt x="104509" y="139484"/>
                </a:lnTo>
                <a:lnTo>
                  <a:pt x="0" y="13948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-45" r="-54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381375" y="4166387"/>
            <a:ext cx="3202781" cy="3048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ar-EG" sz="21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نقوم بتفصيل رعايتنا لتناسب الاحتياجات والتفضيلات الفريدة لكل شخص</a:t>
            </a:r>
            <a:r>
              <a:rPr lang="en-US" sz="21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.</a:t>
            </a:r>
          </a:p>
          <a:p>
            <a:pPr algn="l">
              <a:lnSpc>
                <a:spcPts val="3518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518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518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518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292654" y="4178456"/>
            <a:ext cx="3133725" cy="3042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ar-EG" sz="21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نعمل عن كثب مع الأفراد والشركات والمجتمعات وعائلاتهم لتطوير خطط علاجية فعّالة</a:t>
            </a:r>
            <a:r>
              <a:rPr lang="en-US" sz="21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.</a:t>
            </a:r>
          </a:p>
          <a:p>
            <a:pPr algn="l">
              <a:lnSpc>
                <a:spcPts val="3495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495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495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495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3290173" y="3099673"/>
            <a:ext cx="3909222" cy="873128"/>
          </a:xfrm>
          <a:custGeom>
            <a:avLst/>
            <a:gdLst/>
            <a:ahLst/>
            <a:cxnLst/>
            <a:rect l="l" t="t" r="r" b="b"/>
            <a:pathLst>
              <a:path w="3909222" h="873128">
                <a:moveTo>
                  <a:pt x="0" y="0"/>
                </a:moveTo>
                <a:lnTo>
                  <a:pt x="3909222" y="0"/>
                </a:lnTo>
                <a:lnTo>
                  <a:pt x="3909222" y="873128"/>
                </a:lnTo>
                <a:lnTo>
                  <a:pt x="0" y="873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197353" y="3334464"/>
            <a:ext cx="1887436" cy="332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 b="1" spc="-12" dirty="0">
                <a:solidFill>
                  <a:srgbClr val="33A2FF"/>
                </a:solidFill>
                <a:latin typeface="Arial Bold"/>
                <a:ea typeface="Arial Bold"/>
                <a:cs typeface="Arial Bold"/>
                <a:sym typeface="Arial Bold"/>
              </a:rPr>
              <a:t>Personalized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04257" y="4178456"/>
            <a:ext cx="2834478" cy="1727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ar-EG" sz="21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نأخذ بعين الاعتبار كامل رحلة المريض الطبية، مع التركيز على الصحة الجسدية والعاطفية والاجتماعية</a:t>
            </a:r>
          </a:p>
        </p:txBody>
      </p:sp>
      <p:sp>
        <p:nvSpPr>
          <p:cNvPr id="9" name="Freeform 9"/>
          <p:cNvSpPr/>
          <p:nvPr/>
        </p:nvSpPr>
        <p:spPr>
          <a:xfrm>
            <a:off x="7195423" y="3099673"/>
            <a:ext cx="3909222" cy="873128"/>
          </a:xfrm>
          <a:custGeom>
            <a:avLst/>
            <a:gdLst/>
            <a:ahLst/>
            <a:cxnLst/>
            <a:rect l="l" t="t" r="r" b="b"/>
            <a:pathLst>
              <a:path w="3909222" h="873128">
                <a:moveTo>
                  <a:pt x="0" y="0"/>
                </a:moveTo>
                <a:lnTo>
                  <a:pt x="3909222" y="0"/>
                </a:lnTo>
                <a:lnTo>
                  <a:pt x="3909222" y="873128"/>
                </a:lnTo>
                <a:lnTo>
                  <a:pt x="0" y="8731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8001001" y="3334464"/>
            <a:ext cx="2017418" cy="332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 b="1" spc="-12" dirty="0">
                <a:solidFill>
                  <a:srgbClr val="33A2FF"/>
                </a:solidFill>
                <a:latin typeface="Arial Bold"/>
                <a:ea typeface="Arial Bold"/>
                <a:cs typeface="Arial Bold"/>
                <a:sym typeface="Arial Bold"/>
              </a:rPr>
              <a:t>Collaborative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100673" y="3052048"/>
            <a:ext cx="3909222" cy="873128"/>
          </a:xfrm>
          <a:custGeom>
            <a:avLst/>
            <a:gdLst/>
            <a:ahLst/>
            <a:cxnLst/>
            <a:rect l="l" t="t" r="r" b="b"/>
            <a:pathLst>
              <a:path w="3909222" h="873128">
                <a:moveTo>
                  <a:pt x="0" y="0"/>
                </a:moveTo>
                <a:lnTo>
                  <a:pt x="3909222" y="0"/>
                </a:lnTo>
                <a:lnTo>
                  <a:pt x="3909222" y="873128"/>
                </a:lnTo>
                <a:lnTo>
                  <a:pt x="0" y="873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2529347" y="3295964"/>
            <a:ext cx="105886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 b="1" spc="-12">
                <a:solidFill>
                  <a:srgbClr val="33A2FF"/>
                </a:solidFill>
                <a:latin typeface="Arial Bold"/>
                <a:ea typeface="Arial Bold"/>
                <a:cs typeface="Arial Bold"/>
                <a:sym typeface="Arial Bold"/>
              </a:rPr>
              <a:t>Holistic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21497" y="566986"/>
            <a:ext cx="5134451" cy="414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ar-EG" sz="5499" b="1" dirty="0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نهجنا تجاه العافية</a:t>
            </a:r>
          </a:p>
          <a:p>
            <a:pPr algn="l">
              <a:lnSpc>
                <a:spcPts val="6599"/>
              </a:lnSpc>
            </a:pPr>
            <a:endParaRPr lang="ar-EG" sz="5499" b="1" dirty="0">
              <a:solidFill>
                <a:srgbClr val="2E85D4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6599"/>
              </a:lnSpc>
            </a:pPr>
            <a:endParaRPr lang="ar-EG" sz="5499" b="1" dirty="0">
              <a:solidFill>
                <a:srgbClr val="2E85D4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6599"/>
              </a:lnSpc>
            </a:pPr>
            <a:endParaRPr lang="ar-EG" sz="5499" b="1" dirty="0">
              <a:solidFill>
                <a:srgbClr val="2E85D4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6600"/>
              </a:lnSpc>
            </a:pPr>
            <a:endParaRPr lang="ar-EG" sz="5499" b="1" dirty="0">
              <a:solidFill>
                <a:srgbClr val="2E85D4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197353" y="8158324"/>
            <a:ext cx="9913934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</a:pPr>
            <a:r>
              <a:rPr lang="ar-EG" sz="4399" b="1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نحن لا نساوم على الجودة</a:t>
            </a:r>
          </a:p>
          <a:p>
            <a:pPr algn="ctr">
              <a:lnSpc>
                <a:spcPts val="3239"/>
              </a:lnSpc>
            </a:pPr>
            <a:r>
              <a:rPr lang="ar-EG" sz="2699" b="1">
                <a:solidFill>
                  <a:srgbClr val="173B6C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الجودة في صدارة جميع خدماتنا</a:t>
            </a:r>
          </a:p>
          <a:p>
            <a:pPr algn="ctr">
              <a:lnSpc>
                <a:spcPts val="3240"/>
              </a:lnSpc>
            </a:pPr>
            <a:endParaRPr lang="ar-EG" sz="2699" b="1">
              <a:solidFill>
                <a:srgbClr val="173B6C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311719" y="428625"/>
            <a:ext cx="14053737" cy="414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99"/>
              </a:lnSpc>
            </a:pPr>
            <a:r>
              <a:rPr lang="ar-EG" sz="5499" b="1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بعض عملائنا وشركائنا</a:t>
            </a:r>
          </a:p>
          <a:p>
            <a:pPr algn="l">
              <a:lnSpc>
                <a:spcPts val="6599"/>
              </a:lnSpc>
            </a:pPr>
            <a:endParaRPr lang="ar-EG" sz="5499" b="1">
              <a:solidFill>
                <a:srgbClr val="2E85D4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6599"/>
              </a:lnSpc>
            </a:pPr>
            <a:endParaRPr lang="ar-EG" sz="5499" b="1">
              <a:solidFill>
                <a:srgbClr val="2E85D4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6599"/>
              </a:lnSpc>
            </a:pPr>
            <a:endParaRPr lang="ar-EG" sz="5499" b="1">
              <a:solidFill>
                <a:srgbClr val="2E85D4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6600"/>
              </a:lnSpc>
            </a:pPr>
            <a:endParaRPr lang="ar-EG" sz="5499" b="1">
              <a:solidFill>
                <a:srgbClr val="2E85D4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146725" y="8145423"/>
            <a:ext cx="1815703" cy="327241"/>
          </a:xfrm>
          <a:custGeom>
            <a:avLst/>
            <a:gdLst/>
            <a:ahLst/>
            <a:cxnLst/>
            <a:rect l="l" t="t" r="r" b="b"/>
            <a:pathLst>
              <a:path w="1815703" h="327241">
                <a:moveTo>
                  <a:pt x="0" y="0"/>
                </a:moveTo>
                <a:lnTo>
                  <a:pt x="1815703" y="0"/>
                </a:lnTo>
                <a:lnTo>
                  <a:pt x="1815703" y="327241"/>
                </a:lnTo>
                <a:lnTo>
                  <a:pt x="0" y="327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6" b="-1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07281" y="2500312"/>
            <a:ext cx="2512600" cy="666750"/>
          </a:xfrm>
          <a:custGeom>
            <a:avLst/>
            <a:gdLst/>
            <a:ahLst/>
            <a:cxnLst/>
            <a:rect l="l" t="t" r="r" b="b"/>
            <a:pathLst>
              <a:path w="2512600" h="666750">
                <a:moveTo>
                  <a:pt x="0" y="0"/>
                </a:moveTo>
                <a:lnTo>
                  <a:pt x="2512600" y="0"/>
                </a:lnTo>
                <a:lnTo>
                  <a:pt x="251260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3" r="-3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429125" y="4310062"/>
            <a:ext cx="2547938" cy="619125"/>
          </a:xfrm>
          <a:custGeom>
            <a:avLst/>
            <a:gdLst/>
            <a:ahLst/>
            <a:cxnLst/>
            <a:rect l="l" t="t" r="r" b="b"/>
            <a:pathLst>
              <a:path w="2547938" h="619125">
                <a:moveTo>
                  <a:pt x="0" y="0"/>
                </a:moveTo>
                <a:lnTo>
                  <a:pt x="2547937" y="0"/>
                </a:lnTo>
                <a:lnTo>
                  <a:pt x="2547937" y="619126"/>
                </a:lnTo>
                <a:lnTo>
                  <a:pt x="0" y="619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98" b="-1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01481" y="8054578"/>
            <a:ext cx="1924564" cy="508930"/>
          </a:xfrm>
          <a:custGeom>
            <a:avLst/>
            <a:gdLst/>
            <a:ahLst/>
            <a:cxnLst/>
            <a:rect l="l" t="t" r="r" b="b"/>
            <a:pathLst>
              <a:path w="1924564" h="508930">
                <a:moveTo>
                  <a:pt x="0" y="0"/>
                </a:moveTo>
                <a:lnTo>
                  <a:pt x="1924564" y="0"/>
                </a:lnTo>
                <a:lnTo>
                  <a:pt x="1924564" y="508930"/>
                </a:lnTo>
                <a:lnTo>
                  <a:pt x="0" y="5089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80" b="-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5821147" y="7854048"/>
            <a:ext cx="1312012" cy="766762"/>
          </a:xfrm>
          <a:custGeom>
            <a:avLst/>
            <a:gdLst/>
            <a:ahLst/>
            <a:cxnLst/>
            <a:rect l="l" t="t" r="r" b="b"/>
            <a:pathLst>
              <a:path w="1312012" h="766762">
                <a:moveTo>
                  <a:pt x="0" y="0"/>
                </a:moveTo>
                <a:lnTo>
                  <a:pt x="1312011" y="0"/>
                </a:lnTo>
                <a:lnTo>
                  <a:pt x="1312011" y="766763"/>
                </a:lnTo>
                <a:lnTo>
                  <a:pt x="0" y="7667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4554874" y="6105801"/>
            <a:ext cx="2204037" cy="302400"/>
          </a:xfrm>
          <a:custGeom>
            <a:avLst/>
            <a:gdLst/>
            <a:ahLst/>
            <a:cxnLst/>
            <a:rect l="l" t="t" r="r" b="b"/>
            <a:pathLst>
              <a:path w="2204037" h="302400">
                <a:moveTo>
                  <a:pt x="0" y="0"/>
                </a:moveTo>
                <a:lnTo>
                  <a:pt x="2204037" y="0"/>
                </a:lnTo>
                <a:lnTo>
                  <a:pt x="2204037" y="302400"/>
                </a:lnTo>
                <a:lnTo>
                  <a:pt x="0" y="302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50" r="-15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976312" y="5834062"/>
            <a:ext cx="2583656" cy="857250"/>
          </a:xfrm>
          <a:custGeom>
            <a:avLst/>
            <a:gdLst/>
            <a:ahLst/>
            <a:cxnLst/>
            <a:rect l="l" t="t" r="r" b="b"/>
            <a:pathLst>
              <a:path w="2583656" h="857250">
                <a:moveTo>
                  <a:pt x="0" y="0"/>
                </a:moveTo>
                <a:lnTo>
                  <a:pt x="2583657" y="0"/>
                </a:lnTo>
                <a:lnTo>
                  <a:pt x="2583657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2132469" y="4048125"/>
            <a:ext cx="2381250" cy="1204484"/>
          </a:xfrm>
          <a:custGeom>
            <a:avLst/>
            <a:gdLst/>
            <a:ahLst/>
            <a:cxnLst/>
            <a:rect l="l" t="t" r="r" b="b"/>
            <a:pathLst>
              <a:path w="2381250" h="1204484">
                <a:moveTo>
                  <a:pt x="0" y="0"/>
                </a:moveTo>
                <a:lnTo>
                  <a:pt x="2381250" y="0"/>
                </a:lnTo>
                <a:lnTo>
                  <a:pt x="2381250" y="1204484"/>
                </a:lnTo>
                <a:lnTo>
                  <a:pt x="0" y="12044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255" b="-2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119188" y="4137422"/>
            <a:ext cx="1660922" cy="1041797"/>
          </a:xfrm>
          <a:custGeom>
            <a:avLst/>
            <a:gdLst/>
            <a:ahLst/>
            <a:cxnLst/>
            <a:rect l="l" t="t" r="r" b="b"/>
            <a:pathLst>
              <a:path w="1660922" h="1041797">
                <a:moveTo>
                  <a:pt x="0" y="0"/>
                </a:moveTo>
                <a:lnTo>
                  <a:pt x="1660921" y="0"/>
                </a:lnTo>
                <a:lnTo>
                  <a:pt x="1660921" y="1041797"/>
                </a:lnTo>
                <a:lnTo>
                  <a:pt x="0" y="104179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8191500" y="2583656"/>
            <a:ext cx="3655219" cy="1012031"/>
          </a:xfrm>
          <a:custGeom>
            <a:avLst/>
            <a:gdLst/>
            <a:ahLst/>
            <a:cxnLst/>
            <a:rect l="l" t="t" r="r" b="b"/>
            <a:pathLst>
              <a:path w="3655219" h="1012031">
                <a:moveTo>
                  <a:pt x="0" y="0"/>
                </a:moveTo>
                <a:lnTo>
                  <a:pt x="3655219" y="0"/>
                </a:lnTo>
                <a:lnTo>
                  <a:pt x="3655219" y="1012032"/>
                </a:lnTo>
                <a:lnTo>
                  <a:pt x="0" y="101203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95" r="-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5073312" y="2452688"/>
            <a:ext cx="2738438" cy="797719"/>
          </a:xfrm>
          <a:custGeom>
            <a:avLst/>
            <a:gdLst/>
            <a:ahLst/>
            <a:cxnLst/>
            <a:rect l="l" t="t" r="r" b="b"/>
            <a:pathLst>
              <a:path w="2738438" h="797719">
                <a:moveTo>
                  <a:pt x="0" y="0"/>
                </a:moveTo>
                <a:lnTo>
                  <a:pt x="2738438" y="0"/>
                </a:lnTo>
                <a:lnTo>
                  <a:pt x="2738438" y="797718"/>
                </a:lnTo>
                <a:lnTo>
                  <a:pt x="0" y="79771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45" b="-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8631974" y="5851579"/>
            <a:ext cx="4845206" cy="1319555"/>
          </a:xfrm>
          <a:custGeom>
            <a:avLst/>
            <a:gdLst/>
            <a:ahLst/>
            <a:cxnLst/>
            <a:rect l="l" t="t" r="r" b="b"/>
            <a:pathLst>
              <a:path w="4845206" h="1319555">
                <a:moveTo>
                  <a:pt x="0" y="0"/>
                </a:moveTo>
                <a:lnTo>
                  <a:pt x="4845206" y="0"/>
                </a:lnTo>
                <a:lnTo>
                  <a:pt x="4845206" y="1319555"/>
                </a:lnTo>
                <a:lnTo>
                  <a:pt x="0" y="131955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70" b="-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4618589" y="5997931"/>
            <a:ext cx="3020206" cy="926963"/>
          </a:xfrm>
          <a:custGeom>
            <a:avLst/>
            <a:gdLst/>
            <a:ahLst/>
            <a:cxnLst/>
            <a:rect l="l" t="t" r="r" b="b"/>
            <a:pathLst>
              <a:path w="3020206" h="926963">
                <a:moveTo>
                  <a:pt x="0" y="0"/>
                </a:moveTo>
                <a:lnTo>
                  <a:pt x="3020206" y="0"/>
                </a:lnTo>
                <a:lnTo>
                  <a:pt x="3020206" y="926963"/>
                </a:lnTo>
                <a:lnTo>
                  <a:pt x="0" y="92696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189" b="-1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5680531" y="7131844"/>
            <a:ext cx="1774031" cy="1690688"/>
          </a:xfrm>
          <a:custGeom>
            <a:avLst/>
            <a:gdLst/>
            <a:ahLst/>
            <a:cxnLst/>
            <a:rect l="l" t="t" r="r" b="b"/>
            <a:pathLst>
              <a:path w="1774031" h="1690688">
                <a:moveTo>
                  <a:pt x="0" y="0"/>
                </a:moveTo>
                <a:lnTo>
                  <a:pt x="1774031" y="0"/>
                </a:lnTo>
                <a:lnTo>
                  <a:pt x="1774031" y="1690687"/>
                </a:lnTo>
                <a:lnTo>
                  <a:pt x="0" y="169068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44" r="-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2965906" y="7643812"/>
            <a:ext cx="1095375" cy="1262062"/>
          </a:xfrm>
          <a:custGeom>
            <a:avLst/>
            <a:gdLst/>
            <a:ahLst/>
            <a:cxnLst/>
            <a:rect l="l" t="t" r="r" b="b"/>
            <a:pathLst>
              <a:path w="1095375" h="1262062">
                <a:moveTo>
                  <a:pt x="0" y="0"/>
                </a:moveTo>
                <a:lnTo>
                  <a:pt x="1095375" y="0"/>
                </a:lnTo>
                <a:lnTo>
                  <a:pt x="1095375" y="1262063"/>
                </a:lnTo>
                <a:lnTo>
                  <a:pt x="0" y="126206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t="-40" b="-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5537656" y="3869531"/>
            <a:ext cx="2071688" cy="1273969"/>
          </a:xfrm>
          <a:custGeom>
            <a:avLst/>
            <a:gdLst/>
            <a:ahLst/>
            <a:cxnLst/>
            <a:rect l="l" t="t" r="r" b="b"/>
            <a:pathLst>
              <a:path w="2071688" h="1273969">
                <a:moveTo>
                  <a:pt x="0" y="0"/>
                </a:moveTo>
                <a:lnTo>
                  <a:pt x="2071688" y="0"/>
                </a:lnTo>
                <a:lnTo>
                  <a:pt x="2071688" y="1273969"/>
                </a:lnTo>
                <a:lnTo>
                  <a:pt x="0" y="127396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4485322" y="2453059"/>
            <a:ext cx="1157183" cy="984352"/>
          </a:xfrm>
          <a:custGeom>
            <a:avLst/>
            <a:gdLst/>
            <a:ahLst/>
            <a:cxnLst/>
            <a:rect l="l" t="t" r="r" b="b"/>
            <a:pathLst>
              <a:path w="1157183" h="984352">
                <a:moveTo>
                  <a:pt x="0" y="0"/>
                </a:moveTo>
                <a:lnTo>
                  <a:pt x="1157183" y="0"/>
                </a:lnTo>
                <a:lnTo>
                  <a:pt x="1157183" y="984352"/>
                </a:lnTo>
                <a:lnTo>
                  <a:pt x="0" y="9843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8759028" y="3956847"/>
            <a:ext cx="1579559" cy="1325566"/>
          </a:xfrm>
          <a:custGeom>
            <a:avLst/>
            <a:gdLst/>
            <a:ahLst/>
            <a:cxnLst/>
            <a:rect l="l" t="t" r="r" b="b"/>
            <a:pathLst>
              <a:path w="1579559" h="1325566">
                <a:moveTo>
                  <a:pt x="0" y="0"/>
                </a:moveTo>
                <a:lnTo>
                  <a:pt x="1579559" y="0"/>
                </a:lnTo>
                <a:lnTo>
                  <a:pt x="1579559" y="1325566"/>
                </a:lnTo>
                <a:lnTo>
                  <a:pt x="0" y="132556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2784617" y="2345531"/>
            <a:ext cx="1370962" cy="1404566"/>
          </a:xfrm>
          <a:custGeom>
            <a:avLst/>
            <a:gdLst/>
            <a:ahLst/>
            <a:cxnLst/>
            <a:rect l="l" t="t" r="r" b="b"/>
            <a:pathLst>
              <a:path w="1370962" h="1404566">
                <a:moveTo>
                  <a:pt x="0" y="0"/>
                </a:moveTo>
                <a:lnTo>
                  <a:pt x="1370962" y="0"/>
                </a:lnTo>
                <a:lnTo>
                  <a:pt x="1370962" y="1404566"/>
                </a:lnTo>
                <a:lnTo>
                  <a:pt x="0" y="140456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3969896" y="7856811"/>
            <a:ext cx="1668542" cy="893864"/>
          </a:xfrm>
          <a:custGeom>
            <a:avLst/>
            <a:gdLst/>
            <a:ahLst/>
            <a:cxnLst/>
            <a:rect l="l" t="t" r="r" b="b"/>
            <a:pathLst>
              <a:path w="1668542" h="893864">
                <a:moveTo>
                  <a:pt x="0" y="0"/>
                </a:moveTo>
                <a:lnTo>
                  <a:pt x="1668542" y="0"/>
                </a:lnTo>
                <a:lnTo>
                  <a:pt x="1668542" y="893864"/>
                </a:lnTo>
                <a:lnTo>
                  <a:pt x="0" y="893864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8048625" y="7572375"/>
            <a:ext cx="1690688" cy="1214438"/>
          </a:xfrm>
          <a:custGeom>
            <a:avLst/>
            <a:gdLst/>
            <a:ahLst/>
            <a:cxnLst/>
            <a:rect l="l" t="t" r="r" b="b"/>
            <a:pathLst>
              <a:path w="1690688" h="1214438">
                <a:moveTo>
                  <a:pt x="0" y="0"/>
                </a:moveTo>
                <a:lnTo>
                  <a:pt x="1690687" y="0"/>
                </a:lnTo>
                <a:lnTo>
                  <a:pt x="1690687" y="1214437"/>
                </a:lnTo>
                <a:lnTo>
                  <a:pt x="0" y="121443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92" r="-9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205563" y="464658"/>
            <a:ext cx="14053737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00"/>
              </a:lnSpc>
            </a:pPr>
            <a:r>
              <a:rPr lang="ar-EG" sz="5500" b="1" spc="-12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بعض من  مشاريعنا الحكومية الناجحة</a:t>
            </a:r>
          </a:p>
        </p:txBody>
      </p:sp>
      <p:sp>
        <p:nvSpPr>
          <p:cNvPr id="5" name="Freeform 5"/>
          <p:cNvSpPr/>
          <p:nvPr/>
        </p:nvSpPr>
        <p:spPr>
          <a:xfrm>
            <a:off x="2391251" y="1807683"/>
            <a:ext cx="13517566" cy="1564481"/>
          </a:xfrm>
          <a:custGeom>
            <a:avLst/>
            <a:gdLst/>
            <a:ahLst/>
            <a:cxnLst/>
            <a:rect l="l" t="t" r="r" b="b"/>
            <a:pathLst>
              <a:path w="13517566" h="1564481">
                <a:moveTo>
                  <a:pt x="0" y="0"/>
                </a:moveTo>
                <a:lnTo>
                  <a:pt x="13517566" y="0"/>
                </a:lnTo>
                <a:lnTo>
                  <a:pt x="13517566" y="1564481"/>
                </a:lnTo>
                <a:lnTo>
                  <a:pt x="0" y="1564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333209" y="2222259"/>
            <a:ext cx="10416378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برنامج رفاهية الموظفين وتشغيل العيادات – هيئة الزكاة والضريبة والجمارك</a:t>
            </a:r>
            <a:r>
              <a:rPr lang="en-US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 (ZATCA) </a:t>
            </a: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لأكثر من </a:t>
            </a:r>
            <a:r>
              <a:rPr lang="en-US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5,000</a:t>
            </a: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مستفيد – مدة المشروع: </a:t>
            </a:r>
            <a:r>
              <a:rPr lang="en-US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3</a:t>
            </a: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سنوات</a:t>
            </a:r>
          </a:p>
        </p:txBody>
      </p:sp>
      <p:sp>
        <p:nvSpPr>
          <p:cNvPr id="7" name="Freeform 7"/>
          <p:cNvSpPr/>
          <p:nvPr/>
        </p:nvSpPr>
        <p:spPr>
          <a:xfrm>
            <a:off x="2553967" y="1970408"/>
            <a:ext cx="2702557" cy="1238250"/>
          </a:xfrm>
          <a:custGeom>
            <a:avLst/>
            <a:gdLst/>
            <a:ahLst/>
            <a:cxnLst/>
            <a:rect l="l" t="t" r="r" b="b"/>
            <a:pathLst>
              <a:path w="2702557" h="1238250">
                <a:moveTo>
                  <a:pt x="0" y="0"/>
                </a:moveTo>
                <a:lnTo>
                  <a:pt x="2702557" y="0"/>
                </a:lnTo>
                <a:lnTo>
                  <a:pt x="2702557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2" r="-5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546033" y="1962464"/>
            <a:ext cx="2718597" cy="1254919"/>
          </a:xfrm>
          <a:custGeom>
            <a:avLst/>
            <a:gdLst/>
            <a:ahLst/>
            <a:cxnLst/>
            <a:rect l="l" t="t" r="r" b="b"/>
            <a:pathLst>
              <a:path w="2718597" h="1254919">
                <a:moveTo>
                  <a:pt x="0" y="0"/>
                </a:moveTo>
                <a:lnTo>
                  <a:pt x="2718596" y="0"/>
                </a:lnTo>
                <a:lnTo>
                  <a:pt x="2718596" y="1254919"/>
                </a:lnTo>
                <a:lnTo>
                  <a:pt x="0" y="12549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391251" y="3510439"/>
            <a:ext cx="13517566" cy="1563691"/>
          </a:xfrm>
          <a:custGeom>
            <a:avLst/>
            <a:gdLst/>
            <a:ahLst/>
            <a:cxnLst/>
            <a:rect l="l" t="t" r="r" b="b"/>
            <a:pathLst>
              <a:path w="13517566" h="1563691">
                <a:moveTo>
                  <a:pt x="0" y="0"/>
                </a:moveTo>
                <a:lnTo>
                  <a:pt x="13517566" y="0"/>
                </a:lnTo>
                <a:lnTo>
                  <a:pt x="13517566" y="1563690"/>
                </a:lnTo>
                <a:lnTo>
                  <a:pt x="0" y="15636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553967" y="3673154"/>
            <a:ext cx="2702557" cy="1238088"/>
          </a:xfrm>
          <a:custGeom>
            <a:avLst/>
            <a:gdLst/>
            <a:ahLst/>
            <a:cxnLst/>
            <a:rect l="l" t="t" r="r" b="b"/>
            <a:pathLst>
              <a:path w="2702557" h="1238088">
                <a:moveTo>
                  <a:pt x="0" y="0"/>
                </a:moveTo>
                <a:lnTo>
                  <a:pt x="2702557" y="0"/>
                </a:lnTo>
                <a:lnTo>
                  <a:pt x="2702557" y="1238088"/>
                </a:lnTo>
                <a:lnTo>
                  <a:pt x="0" y="123808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6" r="-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546033" y="3665220"/>
            <a:ext cx="2718597" cy="1254128"/>
          </a:xfrm>
          <a:custGeom>
            <a:avLst/>
            <a:gdLst/>
            <a:ahLst/>
            <a:cxnLst/>
            <a:rect l="l" t="t" r="r" b="b"/>
            <a:pathLst>
              <a:path w="2718597" h="1254128">
                <a:moveTo>
                  <a:pt x="0" y="0"/>
                </a:moveTo>
                <a:lnTo>
                  <a:pt x="2718596" y="0"/>
                </a:lnTo>
                <a:lnTo>
                  <a:pt x="2718596" y="1254128"/>
                </a:lnTo>
                <a:lnTo>
                  <a:pt x="0" y="12541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2391251" y="5213032"/>
            <a:ext cx="13517566" cy="1563691"/>
          </a:xfrm>
          <a:custGeom>
            <a:avLst/>
            <a:gdLst/>
            <a:ahLst/>
            <a:cxnLst/>
            <a:rect l="l" t="t" r="r" b="b"/>
            <a:pathLst>
              <a:path w="13517566" h="1563691">
                <a:moveTo>
                  <a:pt x="0" y="0"/>
                </a:moveTo>
                <a:lnTo>
                  <a:pt x="13517566" y="0"/>
                </a:lnTo>
                <a:lnTo>
                  <a:pt x="13517566" y="1563691"/>
                </a:lnTo>
                <a:lnTo>
                  <a:pt x="0" y="15636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2594515" y="5412743"/>
            <a:ext cx="2608126" cy="1095851"/>
          </a:xfrm>
          <a:custGeom>
            <a:avLst/>
            <a:gdLst/>
            <a:ahLst/>
            <a:cxnLst/>
            <a:rect l="l" t="t" r="r" b="b"/>
            <a:pathLst>
              <a:path w="2608126" h="1095851">
                <a:moveTo>
                  <a:pt x="0" y="0"/>
                </a:moveTo>
                <a:lnTo>
                  <a:pt x="2608126" y="0"/>
                </a:lnTo>
                <a:lnTo>
                  <a:pt x="2608126" y="1095851"/>
                </a:lnTo>
                <a:lnTo>
                  <a:pt x="0" y="109585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4439" b="-443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2546033" y="5367814"/>
            <a:ext cx="2718597" cy="1254128"/>
          </a:xfrm>
          <a:custGeom>
            <a:avLst/>
            <a:gdLst/>
            <a:ahLst/>
            <a:cxnLst/>
            <a:rect l="l" t="t" r="r" b="b"/>
            <a:pathLst>
              <a:path w="2718597" h="1254128">
                <a:moveTo>
                  <a:pt x="0" y="0"/>
                </a:moveTo>
                <a:lnTo>
                  <a:pt x="2718596" y="0"/>
                </a:lnTo>
                <a:lnTo>
                  <a:pt x="2718596" y="1254128"/>
                </a:lnTo>
                <a:lnTo>
                  <a:pt x="0" y="12541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2391251" y="6915626"/>
            <a:ext cx="13517566" cy="1563691"/>
          </a:xfrm>
          <a:custGeom>
            <a:avLst/>
            <a:gdLst/>
            <a:ahLst/>
            <a:cxnLst/>
            <a:rect l="l" t="t" r="r" b="b"/>
            <a:pathLst>
              <a:path w="13517566" h="1563691">
                <a:moveTo>
                  <a:pt x="0" y="0"/>
                </a:moveTo>
                <a:lnTo>
                  <a:pt x="13517566" y="0"/>
                </a:lnTo>
                <a:lnTo>
                  <a:pt x="13517566" y="1563691"/>
                </a:lnTo>
                <a:lnTo>
                  <a:pt x="0" y="15636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5477666" y="5030473"/>
            <a:ext cx="10271922" cy="444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endParaRPr/>
          </a:p>
          <a:p>
            <a:pPr algn="l">
              <a:lnSpc>
                <a:spcPts val="2724"/>
              </a:lnSpc>
            </a:pPr>
            <a:r>
              <a:rPr lang="ar-EG" sz="2499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تشغيل وحدات الإسعاف وتقديم خدمات الإسعاف في أكثر من </a:t>
            </a:r>
            <a:r>
              <a:rPr lang="en-US" sz="2499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20</a:t>
            </a:r>
            <a:r>
              <a:rPr lang="ar-EG" sz="2499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محطة توليد كهرباء حول المملكة، مع أكثر من </a:t>
            </a:r>
            <a:r>
              <a:rPr lang="en-US" sz="2499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180</a:t>
            </a:r>
            <a:r>
              <a:rPr lang="ar-EG" sz="2499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مسعفاً بدوام كامل</a:t>
            </a:r>
          </a:p>
          <a:p>
            <a:pPr algn="l">
              <a:lnSpc>
                <a:spcPts val="2999"/>
              </a:lnSpc>
            </a:pPr>
            <a:r>
              <a:rPr lang="en-US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مدة المشروع: </a:t>
            </a:r>
            <a:r>
              <a:rPr lang="en-US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3</a:t>
            </a: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سنوات</a:t>
            </a:r>
          </a:p>
          <a:p>
            <a:pPr algn="l">
              <a:lnSpc>
                <a:spcPts val="2999"/>
              </a:lnSpc>
            </a:pPr>
            <a:endParaRPr lang="ar-EG" sz="2499" spc="-12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l">
              <a:lnSpc>
                <a:spcPts val="2999"/>
              </a:lnSpc>
            </a:pPr>
            <a:endParaRPr lang="ar-EG" sz="2499" spc="-12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l">
              <a:lnSpc>
                <a:spcPts val="2999"/>
              </a:lnSpc>
            </a:pP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تشغيل العيادات في المقر الرئيسي لمركز الملك عبد الله للدراسات البترولية والطاقية</a:t>
            </a:r>
            <a:r>
              <a:rPr lang="en-US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 (KAPSARC) </a:t>
            </a: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بالرياض – حوالي </a:t>
            </a:r>
            <a:r>
              <a:rPr lang="en-US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500</a:t>
            </a: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مستفيد</a:t>
            </a:r>
          </a:p>
          <a:p>
            <a:pPr algn="l">
              <a:lnSpc>
                <a:spcPts val="2999"/>
              </a:lnSpc>
            </a:pPr>
            <a:endParaRPr lang="ar-EG" sz="2499" spc="-12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l">
              <a:lnSpc>
                <a:spcPts val="2999"/>
              </a:lnSpc>
            </a:pPr>
            <a:endParaRPr lang="ar-EG" sz="2499" spc="-12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l">
              <a:lnSpc>
                <a:spcPts val="2999"/>
              </a:lnSpc>
            </a:pPr>
            <a:endParaRPr lang="ar-EG" sz="2499" spc="-12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l">
              <a:lnSpc>
                <a:spcPts val="2999"/>
              </a:lnSpc>
            </a:pPr>
            <a:endParaRPr lang="ar-EG" sz="2499" spc="-12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2608021" y="7511577"/>
            <a:ext cx="2594610" cy="371475"/>
          </a:xfrm>
          <a:custGeom>
            <a:avLst/>
            <a:gdLst/>
            <a:ahLst/>
            <a:cxnLst/>
            <a:rect l="l" t="t" r="r" b="b"/>
            <a:pathLst>
              <a:path w="2594610" h="371475">
                <a:moveTo>
                  <a:pt x="0" y="0"/>
                </a:moveTo>
                <a:lnTo>
                  <a:pt x="2594610" y="0"/>
                </a:lnTo>
                <a:lnTo>
                  <a:pt x="259461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09766" b="-1097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2546033" y="7070407"/>
            <a:ext cx="2718597" cy="1254128"/>
          </a:xfrm>
          <a:custGeom>
            <a:avLst/>
            <a:gdLst/>
            <a:ahLst/>
            <a:cxnLst/>
            <a:rect l="l" t="t" r="r" b="b"/>
            <a:pathLst>
              <a:path w="2718597" h="1254128">
                <a:moveTo>
                  <a:pt x="0" y="0"/>
                </a:moveTo>
                <a:lnTo>
                  <a:pt x="2718596" y="0"/>
                </a:lnTo>
                <a:lnTo>
                  <a:pt x="2718596" y="1254129"/>
                </a:lnTo>
                <a:lnTo>
                  <a:pt x="0" y="12541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5492439" y="3941761"/>
            <a:ext cx="10416378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برنامج مقدمي الرعاية لكبار السن والمستفيدين غير القادرين على الحركة – أكثر من </a:t>
            </a:r>
            <a:r>
              <a:rPr lang="en-US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300</a:t>
            </a: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منزل – مدة المشروع: سنتان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38743" y="1929498"/>
            <a:ext cx="6256925" cy="6433204"/>
          </a:xfrm>
          <a:custGeom>
            <a:avLst/>
            <a:gdLst/>
            <a:ahLst/>
            <a:cxnLst/>
            <a:rect l="l" t="t" r="r" b="b"/>
            <a:pathLst>
              <a:path w="6256925" h="6433204">
                <a:moveTo>
                  <a:pt x="0" y="0"/>
                </a:moveTo>
                <a:lnTo>
                  <a:pt x="6256925" y="0"/>
                </a:lnTo>
                <a:lnTo>
                  <a:pt x="6256925" y="6433204"/>
                </a:lnTo>
                <a:lnTo>
                  <a:pt x="0" y="6433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" b="-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76312" y="4633855"/>
            <a:ext cx="595312" cy="569176"/>
          </a:xfrm>
          <a:custGeom>
            <a:avLst/>
            <a:gdLst/>
            <a:ahLst/>
            <a:cxnLst/>
            <a:rect l="l" t="t" r="r" b="b"/>
            <a:pathLst>
              <a:path w="595312" h="569176">
                <a:moveTo>
                  <a:pt x="0" y="0"/>
                </a:moveTo>
                <a:lnTo>
                  <a:pt x="595313" y="0"/>
                </a:lnTo>
                <a:lnTo>
                  <a:pt x="595313" y="569176"/>
                </a:lnTo>
                <a:lnTo>
                  <a:pt x="0" y="569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20" b="-10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734664" y="1978419"/>
            <a:ext cx="6241256" cy="3071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u="sng" spc="-12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mailto:info@taibsa.com"/>
              </a:rPr>
              <a:t>info@taibsa.com</a:t>
            </a:r>
          </a:p>
          <a:p>
            <a:pPr algn="l">
              <a:lnSpc>
                <a:spcPts val="2999"/>
              </a:lnSpc>
            </a:pPr>
            <a:endParaRPr lang="en-US" sz="2499" u="sng" spc="-12">
              <a:solidFill>
                <a:srgbClr val="0000FF"/>
              </a:solidFill>
              <a:latin typeface="Calibri (MS)"/>
              <a:ea typeface="Calibri (MS)"/>
              <a:cs typeface="Calibri (MS)"/>
              <a:sym typeface="Calibri (MS)"/>
              <a:hlinkClick r:id="rId5" tooltip="mailto:info@taibsa.com"/>
            </a:endParaRPr>
          </a:p>
          <a:p>
            <a:pPr algn="l">
              <a:lnSpc>
                <a:spcPts val="2999"/>
              </a:lnSpc>
            </a:pPr>
            <a:r>
              <a:rPr lang="en-US" sz="2499" spc="-12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9200 33271</a:t>
            </a:r>
          </a:p>
          <a:p>
            <a:pPr algn="l">
              <a:lnSpc>
                <a:spcPts val="6249"/>
              </a:lnSpc>
            </a:pPr>
            <a:r>
              <a:rPr lang="en-US" sz="2499" u="sng" spc="-31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http://www.taibsa.com/"/>
              </a:rPr>
              <a:t>www.taibsa.com</a:t>
            </a:r>
            <a:r>
              <a:rPr lang="en-US" sz="2499" spc="-31">
                <a:solidFill>
                  <a:srgbClr val="0462C1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u="sng" spc="-31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7" tooltip="https://www.linkedin.com/company/taib-saudi/"/>
              </a:rPr>
              <a:t>https://www.linkedin.com/company/taib-saudi/</a:t>
            </a:r>
          </a:p>
        </p:txBody>
      </p:sp>
      <p:sp>
        <p:nvSpPr>
          <p:cNvPr id="6" name="Freeform 6"/>
          <p:cNvSpPr/>
          <p:nvPr/>
        </p:nvSpPr>
        <p:spPr>
          <a:xfrm>
            <a:off x="1036501" y="2084975"/>
            <a:ext cx="487823" cy="343357"/>
          </a:xfrm>
          <a:custGeom>
            <a:avLst/>
            <a:gdLst/>
            <a:ahLst/>
            <a:cxnLst/>
            <a:rect l="l" t="t" r="r" b="b"/>
            <a:pathLst>
              <a:path w="487823" h="343357">
                <a:moveTo>
                  <a:pt x="0" y="0"/>
                </a:moveTo>
                <a:lnTo>
                  <a:pt x="487823" y="0"/>
                </a:lnTo>
                <a:lnTo>
                  <a:pt x="487823" y="343357"/>
                </a:lnTo>
                <a:lnTo>
                  <a:pt x="0" y="3433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84850" y="2978648"/>
            <a:ext cx="306391" cy="340328"/>
          </a:xfrm>
          <a:custGeom>
            <a:avLst/>
            <a:gdLst/>
            <a:ahLst/>
            <a:cxnLst/>
            <a:rect l="l" t="t" r="r" b="b"/>
            <a:pathLst>
              <a:path w="306391" h="340328">
                <a:moveTo>
                  <a:pt x="0" y="0"/>
                </a:moveTo>
                <a:lnTo>
                  <a:pt x="306391" y="0"/>
                </a:lnTo>
                <a:lnTo>
                  <a:pt x="306391" y="340329"/>
                </a:lnTo>
                <a:lnTo>
                  <a:pt x="0" y="3403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207" b="-2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81821" y="3003375"/>
            <a:ext cx="312458" cy="318811"/>
          </a:xfrm>
          <a:custGeom>
            <a:avLst/>
            <a:gdLst/>
            <a:ahLst/>
            <a:cxnLst/>
            <a:rect l="l" t="t" r="r" b="b"/>
            <a:pathLst>
              <a:path w="312458" h="318811">
                <a:moveTo>
                  <a:pt x="0" y="0"/>
                </a:moveTo>
                <a:lnTo>
                  <a:pt x="312458" y="0"/>
                </a:lnTo>
                <a:lnTo>
                  <a:pt x="312458" y="318812"/>
                </a:lnTo>
                <a:lnTo>
                  <a:pt x="0" y="3188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318689" y="3176930"/>
            <a:ext cx="101432" cy="103861"/>
          </a:xfrm>
          <a:custGeom>
            <a:avLst/>
            <a:gdLst/>
            <a:ahLst/>
            <a:cxnLst/>
            <a:rect l="l" t="t" r="r" b="b"/>
            <a:pathLst>
              <a:path w="101432" h="103861">
                <a:moveTo>
                  <a:pt x="0" y="0"/>
                </a:moveTo>
                <a:lnTo>
                  <a:pt x="101431" y="0"/>
                </a:lnTo>
                <a:lnTo>
                  <a:pt x="101431" y="103861"/>
                </a:lnTo>
                <a:lnTo>
                  <a:pt x="0" y="10386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192" r="-12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77017" y="2914040"/>
            <a:ext cx="210541" cy="220837"/>
          </a:xfrm>
          <a:custGeom>
            <a:avLst/>
            <a:gdLst/>
            <a:ahLst/>
            <a:cxnLst/>
            <a:rect l="l" t="t" r="r" b="b"/>
            <a:pathLst>
              <a:path w="210541" h="220837">
                <a:moveTo>
                  <a:pt x="0" y="0"/>
                </a:moveTo>
                <a:lnTo>
                  <a:pt x="210540" y="0"/>
                </a:lnTo>
                <a:lnTo>
                  <a:pt x="210540" y="220838"/>
                </a:lnTo>
                <a:lnTo>
                  <a:pt x="0" y="220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1755" b="-175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075592" y="3885819"/>
            <a:ext cx="409575" cy="277016"/>
            <a:chOff x="0" y="0"/>
            <a:chExt cx="546100" cy="3693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5211" cy="368808"/>
            </a:xfrm>
            <a:custGeom>
              <a:avLst/>
              <a:gdLst/>
              <a:ahLst/>
              <a:cxnLst/>
              <a:rect l="l" t="t" r="r" b="b"/>
              <a:pathLst>
                <a:path w="545211" h="368808">
                  <a:moveTo>
                    <a:pt x="513207" y="0"/>
                  </a:moveTo>
                  <a:lnTo>
                    <a:pt x="32131" y="0"/>
                  </a:lnTo>
                  <a:lnTo>
                    <a:pt x="0" y="32131"/>
                  </a:lnTo>
                  <a:lnTo>
                    <a:pt x="0" y="368808"/>
                  </a:lnTo>
                  <a:lnTo>
                    <a:pt x="545211" y="368808"/>
                  </a:lnTo>
                  <a:lnTo>
                    <a:pt x="545211" y="320675"/>
                  </a:lnTo>
                  <a:lnTo>
                    <a:pt x="48133" y="320675"/>
                  </a:lnTo>
                  <a:lnTo>
                    <a:pt x="48133" y="48133"/>
                  </a:lnTo>
                  <a:lnTo>
                    <a:pt x="545211" y="48133"/>
                  </a:lnTo>
                  <a:lnTo>
                    <a:pt x="545211" y="32131"/>
                  </a:lnTo>
                  <a:lnTo>
                    <a:pt x="542671" y="19685"/>
                  </a:lnTo>
                  <a:lnTo>
                    <a:pt x="535813" y="9525"/>
                  </a:lnTo>
                  <a:lnTo>
                    <a:pt x="525653" y="2667"/>
                  </a:lnTo>
                  <a:lnTo>
                    <a:pt x="513207" y="127"/>
                  </a:lnTo>
                  <a:close/>
                </a:path>
              </a:pathLst>
            </a:custGeom>
            <a:solidFill>
              <a:srgbClr val="2E8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497078" y="48133"/>
              <a:ext cx="48133" cy="272542"/>
            </a:xfrm>
            <a:custGeom>
              <a:avLst/>
              <a:gdLst/>
              <a:ahLst/>
              <a:cxnLst/>
              <a:rect l="l" t="t" r="r" b="b"/>
              <a:pathLst>
                <a:path w="48133" h="272542">
                  <a:moveTo>
                    <a:pt x="48133" y="0"/>
                  </a:moveTo>
                  <a:lnTo>
                    <a:pt x="0" y="0"/>
                  </a:lnTo>
                  <a:lnTo>
                    <a:pt x="0" y="272542"/>
                  </a:lnTo>
                  <a:lnTo>
                    <a:pt x="48133" y="272542"/>
                  </a:lnTo>
                  <a:lnTo>
                    <a:pt x="48133" y="0"/>
                  </a:lnTo>
                  <a:close/>
                </a:path>
              </a:pathLst>
            </a:custGeom>
            <a:solidFill>
              <a:srgbClr val="2E85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72591" y="3882819"/>
            <a:ext cx="415585" cy="283026"/>
          </a:xfrm>
          <a:custGeom>
            <a:avLst/>
            <a:gdLst/>
            <a:ahLst/>
            <a:cxnLst/>
            <a:rect l="l" t="t" r="r" b="b"/>
            <a:pathLst>
              <a:path w="415585" h="283026">
                <a:moveTo>
                  <a:pt x="0" y="0"/>
                </a:moveTo>
                <a:lnTo>
                  <a:pt x="415585" y="0"/>
                </a:lnTo>
                <a:lnTo>
                  <a:pt x="415585" y="283025"/>
                </a:lnTo>
                <a:lnTo>
                  <a:pt x="0" y="28302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003430" y="4186495"/>
            <a:ext cx="554041" cy="36509"/>
            <a:chOff x="0" y="0"/>
            <a:chExt cx="738721" cy="4867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7743" cy="48133"/>
            </a:xfrm>
            <a:custGeom>
              <a:avLst/>
              <a:gdLst/>
              <a:ahLst/>
              <a:cxnLst/>
              <a:rect l="l" t="t" r="r" b="b"/>
              <a:pathLst>
                <a:path w="737743" h="48133">
                  <a:moveTo>
                    <a:pt x="737743" y="0"/>
                  </a:moveTo>
                  <a:lnTo>
                    <a:pt x="416941" y="0"/>
                  </a:lnTo>
                  <a:lnTo>
                    <a:pt x="416941" y="8001"/>
                  </a:lnTo>
                  <a:lnTo>
                    <a:pt x="417195" y="12192"/>
                  </a:lnTo>
                  <a:lnTo>
                    <a:pt x="414020" y="15748"/>
                  </a:lnTo>
                  <a:lnTo>
                    <a:pt x="408940" y="16002"/>
                  </a:lnTo>
                  <a:lnTo>
                    <a:pt x="328803" y="16002"/>
                  </a:lnTo>
                  <a:lnTo>
                    <a:pt x="324612" y="16256"/>
                  </a:lnTo>
                  <a:lnTo>
                    <a:pt x="321056" y="13081"/>
                  </a:lnTo>
                  <a:lnTo>
                    <a:pt x="320802" y="7874"/>
                  </a:lnTo>
                  <a:lnTo>
                    <a:pt x="320802" y="0"/>
                  </a:lnTo>
                  <a:lnTo>
                    <a:pt x="0" y="0"/>
                  </a:lnTo>
                  <a:lnTo>
                    <a:pt x="705612" y="48133"/>
                  </a:lnTo>
                  <a:lnTo>
                    <a:pt x="718058" y="45593"/>
                  </a:lnTo>
                  <a:lnTo>
                    <a:pt x="728218" y="38735"/>
                  </a:lnTo>
                  <a:lnTo>
                    <a:pt x="735076" y="28575"/>
                  </a:lnTo>
                  <a:lnTo>
                    <a:pt x="737616" y="16129"/>
                  </a:lnTo>
                  <a:lnTo>
                    <a:pt x="737616" y="0"/>
                  </a:lnTo>
                  <a:close/>
                </a:path>
              </a:pathLst>
            </a:custGeom>
            <a:solidFill>
              <a:srgbClr val="2E85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000420" y="4183485"/>
            <a:ext cx="560051" cy="42520"/>
          </a:xfrm>
          <a:custGeom>
            <a:avLst/>
            <a:gdLst/>
            <a:ahLst/>
            <a:cxnLst/>
            <a:rect l="l" t="t" r="r" b="b"/>
            <a:pathLst>
              <a:path w="560051" h="42520">
                <a:moveTo>
                  <a:pt x="0" y="0"/>
                </a:moveTo>
                <a:lnTo>
                  <a:pt x="560051" y="0"/>
                </a:lnTo>
                <a:lnTo>
                  <a:pt x="560051" y="42519"/>
                </a:lnTo>
                <a:lnTo>
                  <a:pt x="0" y="4251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192863" y="3936940"/>
            <a:ext cx="174393" cy="174384"/>
          </a:xfrm>
          <a:custGeom>
            <a:avLst/>
            <a:gdLst/>
            <a:ahLst/>
            <a:cxnLst/>
            <a:rect l="l" t="t" r="r" b="b"/>
            <a:pathLst>
              <a:path w="174393" h="174384">
                <a:moveTo>
                  <a:pt x="0" y="0"/>
                </a:moveTo>
                <a:lnTo>
                  <a:pt x="174394" y="0"/>
                </a:lnTo>
                <a:lnTo>
                  <a:pt x="174394" y="174383"/>
                </a:lnTo>
                <a:lnTo>
                  <a:pt x="0" y="17438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t="-2" b="-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632222" y="445608"/>
            <a:ext cx="14053737" cy="140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Contact us at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1821" y="7724846"/>
            <a:ext cx="2917822" cy="125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8"/>
              </a:lnSpc>
            </a:pPr>
            <a:r>
              <a:rPr lang="en-US" sz="1937" spc="-1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Hussain Alsaggaf RCM Director</a:t>
            </a:r>
          </a:p>
          <a:p>
            <a:pPr algn="l">
              <a:lnSpc>
                <a:spcPts val="2441"/>
              </a:lnSpc>
            </a:pPr>
            <a:r>
              <a:rPr lang="en-US" sz="1937" spc="-1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E: </a:t>
            </a:r>
            <a:r>
              <a:rPr lang="en-US" sz="1937" u="sng" spc="-12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20" tooltip="mailto:halsaggaf@taibsa.com"/>
              </a:rPr>
              <a:t>halsaggaf@taibsa.com</a:t>
            </a:r>
            <a:r>
              <a:rPr lang="en-US" sz="1937" spc="-12" dirty="0">
                <a:solidFill>
                  <a:srgbClr val="0462C1"/>
                </a:solidFill>
                <a:latin typeface="Arial"/>
                <a:ea typeface="Arial"/>
                <a:cs typeface="Arial"/>
                <a:sym typeface="Arial"/>
              </a:rPr>
              <a:t> C: +966503655665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6194" y="5899242"/>
            <a:ext cx="6608759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Contact</a:t>
            </a:r>
          </a:p>
          <a:p>
            <a:pPr algn="r">
              <a:lnSpc>
                <a:spcPts val="2325"/>
              </a:lnSpc>
            </a:pPr>
            <a:endParaRPr lang="en-US" sz="5500" b="1" dirty="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E097872DA891409A1DF299C5C6BAFD" ma:contentTypeVersion="10" ma:contentTypeDescription="Create a new document." ma:contentTypeScope="" ma:versionID="80238afc22602da7d95e05019bf5aa04">
  <xsd:schema xmlns:xsd="http://www.w3.org/2001/XMLSchema" xmlns:xs="http://www.w3.org/2001/XMLSchema" xmlns:p="http://schemas.microsoft.com/office/2006/metadata/properties" xmlns:ns2="19062e8a-5f7d-4f9f-8756-ab50a092f657" xmlns:ns3="e1587cf3-a2b1-45a6-8f88-345d478cf0eb" targetNamespace="http://schemas.microsoft.com/office/2006/metadata/properties" ma:root="true" ma:fieldsID="ccd98e1b44baaab406176ed7dd8bece5" ns2:_="" ns3:_="">
    <xsd:import namespace="19062e8a-5f7d-4f9f-8756-ab50a092f657"/>
    <xsd:import namespace="e1587cf3-a2b1-45a6-8f88-345d478cf0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062e8a-5f7d-4f9f-8756-ab50a092f6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4ecf64b-84ea-490b-959b-4f79574829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87cf3-a2b1-45a6-8f88-345d478cf0e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b916b20-53ac-482d-896e-9a0ac4204dd4}" ma:internalName="TaxCatchAll" ma:showField="CatchAllData" ma:web="e1587cf3-a2b1-45a6-8f88-345d478cf0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1587cf3-a2b1-45a6-8f88-345d478cf0eb" xsi:nil="true"/>
    <lcf76f155ced4ddcb4097134ff3c332f xmlns="19062e8a-5f7d-4f9f-8756-ab50a092f65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F876315-1056-4572-9201-4E79DE83D7C2}"/>
</file>

<file path=customXml/itemProps2.xml><?xml version="1.0" encoding="utf-8"?>
<ds:datastoreItem xmlns:ds="http://schemas.openxmlformats.org/officeDocument/2006/customXml" ds:itemID="{7B35CB56-21C7-48DD-9B03-67EBA04D5623}"/>
</file>

<file path=customXml/itemProps3.xml><?xml version="1.0" encoding="utf-8"?>
<ds:datastoreItem xmlns:ds="http://schemas.openxmlformats.org/officeDocument/2006/customXml" ds:itemID="{BB00582A-16A1-432E-9DBE-9A5A0A7CE17C}"/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1068</Words>
  <Application>Microsoft Office PowerPoint</Application>
  <PresentationFormat>Custom</PresentationFormat>
  <Paragraphs>231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29LT Adir Bold</vt:lpstr>
      <vt:lpstr>29LT Adir</vt:lpstr>
      <vt:lpstr>Arial</vt:lpstr>
      <vt:lpstr>Calibri (MS) Bold</vt:lpstr>
      <vt:lpstr>Calibri</vt:lpstr>
      <vt:lpstr>Calibri (MS)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 Taib 2026 (1).pptx</dc:title>
  <dc:creator>Ayoub Hersi</dc:creator>
  <cp:lastModifiedBy>Ayoub Hersi</cp:lastModifiedBy>
  <cp:revision>4</cp:revision>
  <dcterms:created xsi:type="dcterms:W3CDTF">2006-08-16T00:00:00Z</dcterms:created>
  <dcterms:modified xsi:type="dcterms:W3CDTF">2026-02-15T15:31:30Z</dcterms:modified>
  <dc:identifier>DAG_JHXDJ-Q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0x010100AAE097872DA891409A1DF299C5C6BAFD</vt:lpwstr>
  </property>
</Properties>
</file>