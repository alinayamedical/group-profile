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405" r:id="rId2"/>
    <p:sldId id="406" r:id="rId3"/>
    <p:sldId id="285" r:id="rId4"/>
    <p:sldId id="283" r:id="rId5"/>
    <p:sldId id="282" r:id="rId6"/>
    <p:sldId id="316" r:id="rId7"/>
    <p:sldId id="291" r:id="rId8"/>
    <p:sldId id="32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7586D"/>
    <a:srgbClr val="1F62FB"/>
    <a:srgbClr val="3CAEA3"/>
    <a:srgbClr val="EF8F24"/>
    <a:srgbClr val="33AFFA"/>
    <a:srgbClr val="E7E8ED"/>
    <a:srgbClr val="D94D45"/>
    <a:srgbClr val="B9BCCB"/>
    <a:srgbClr val="859EE7"/>
    <a:srgbClr val="0A0A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2" d="100"/>
          <a:sy n="102" d="100"/>
        </p:scale>
        <p:origin x="918" y="8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17"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customXml" Target="../customXml/item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5C63C-CA6C-4316-BEC8-B5F846C1858C}" type="datetimeFigureOut">
              <a:rPr lang="en-GB" smtClean="0"/>
              <a:t>14/10/2024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1C9F65-DC7F-4633-825D-F0E8930DD029}" type="slidenum">
              <a:rPr lang="en-GB" smtClean="0"/>
              <a:t>‹#›</a:t>
            </a:fld>
            <a:endParaRPr lang="en-GB"/>
          </a:p>
        </p:txBody>
      </p:sp>
    </p:spTree>
    <p:extLst>
      <p:ext uri="{BB962C8B-B14F-4D97-AF65-F5344CB8AC3E}">
        <p14:creationId xmlns:p14="http://schemas.microsoft.com/office/powerpoint/2010/main" val="3314553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B1C9F65-DC7F-4633-825D-F0E8930DD029}" type="slidenum">
              <a:rPr lang="en-GB" smtClean="0"/>
              <a:t>3</a:t>
            </a:fld>
            <a:endParaRPr lang="en-GB"/>
          </a:p>
        </p:txBody>
      </p:sp>
    </p:spTree>
    <p:extLst>
      <p:ext uri="{BB962C8B-B14F-4D97-AF65-F5344CB8AC3E}">
        <p14:creationId xmlns:p14="http://schemas.microsoft.com/office/powerpoint/2010/main" val="1903307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0A7C7-DAA8-A5C9-84C7-369FC02B727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8950981-8DF0-2894-1D13-890F2C9DB6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43C72CB5-91BE-8012-F4D9-72B5069FBFA7}"/>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5" name="Footer Placeholder 4">
            <a:extLst>
              <a:ext uri="{FF2B5EF4-FFF2-40B4-BE49-F238E27FC236}">
                <a16:creationId xmlns:a16="http://schemas.microsoft.com/office/drawing/2014/main" id="{288B0DB9-525A-C0AE-3433-3A56C6AD623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7CCC977-B6E2-C394-EBEF-9AA7F67F9550}"/>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2030854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81219-BAC0-4965-A417-181922A3C46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07A2EBB-1765-32A2-3D3E-C5617E161B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44E8DAF-25CD-F39D-222A-F8DAD43C7BAE}"/>
              </a:ext>
            </a:extLst>
          </p:cNvPr>
          <p:cNvSpPr>
            <a:spLocks noGrp="1"/>
          </p:cNvSpPr>
          <p:nvPr>
            <p:ph type="dt" sz="half" idx="10"/>
          </p:nvPr>
        </p:nvSpPr>
        <p:spPr/>
        <p:txBody>
          <a:bodyPr/>
          <a:lstStyle/>
          <a:p>
            <a:fld id="{581E2439-4DC7-4851-B7FE-392914D11DE7}" type="datetimeFigureOut">
              <a:rPr lang="en-GB" smtClean="0"/>
              <a:t>14/10/2024</a:t>
            </a:fld>
            <a:endParaRPr lang="en-GB" dirty="0"/>
          </a:p>
        </p:txBody>
      </p:sp>
      <p:sp>
        <p:nvSpPr>
          <p:cNvPr id="5" name="Footer Placeholder 4">
            <a:extLst>
              <a:ext uri="{FF2B5EF4-FFF2-40B4-BE49-F238E27FC236}">
                <a16:creationId xmlns:a16="http://schemas.microsoft.com/office/drawing/2014/main" id="{869784BB-4398-2C1E-B9CB-6C35E0B6B9D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9DFD0A3-81B9-20BD-A087-C70C2AA45A6C}"/>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26198701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EF9E8-B280-7825-8E36-81AE268FA0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E62B7F13-CFF5-8E1F-F4D0-C636A50F9C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EEEE9B-3320-9AD1-1F2D-4927D2F51493}"/>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5" name="Footer Placeholder 4">
            <a:extLst>
              <a:ext uri="{FF2B5EF4-FFF2-40B4-BE49-F238E27FC236}">
                <a16:creationId xmlns:a16="http://schemas.microsoft.com/office/drawing/2014/main" id="{B7FE7A91-C91B-9B0A-19E5-4F90E7F852B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CE24D51-43C8-1442-CCF1-2659F606F77F}"/>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2799267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EC61A-8BEA-D80F-F6C1-C1B0D49EF7C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F145D93-89FF-6450-5CAF-693FE32DCC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05305470-15F2-C970-D040-75A8C28EFA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CEA8E656-0AB7-738F-A7A9-3A8E4E93CE94}"/>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6" name="Footer Placeholder 5">
            <a:extLst>
              <a:ext uri="{FF2B5EF4-FFF2-40B4-BE49-F238E27FC236}">
                <a16:creationId xmlns:a16="http://schemas.microsoft.com/office/drawing/2014/main" id="{EB985DC0-AD65-BDC6-BBCF-F427DB3BACB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C21FFD-C656-D61A-425F-0A6108723289}"/>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2976615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6914CD-F3DA-3E18-64AC-90A508CEA43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8D31E8B-B8A7-1EFF-DEB8-97FB02265F5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9793F5-3888-A9CB-66E2-FE3C02F0FB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7FC7ECA8-1825-0B57-8501-C0A6DF45A7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DA6E51D-10EA-ECBC-1CC1-FD8636F1D44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FFC772D-BC90-C0B4-BEE3-1148D23B419B}"/>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8" name="Footer Placeholder 7">
            <a:extLst>
              <a:ext uri="{FF2B5EF4-FFF2-40B4-BE49-F238E27FC236}">
                <a16:creationId xmlns:a16="http://schemas.microsoft.com/office/drawing/2014/main" id="{B206D741-5270-7AE6-78C6-C44C5ED1B6F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1C077858-66DE-890A-3A37-DB47C040D516}"/>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571420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ACE35-9176-61F9-9177-F8DC6EC47AA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8739AD8-B973-F91D-20DE-993AF92846B1}"/>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4" name="Footer Placeholder 3">
            <a:extLst>
              <a:ext uri="{FF2B5EF4-FFF2-40B4-BE49-F238E27FC236}">
                <a16:creationId xmlns:a16="http://schemas.microsoft.com/office/drawing/2014/main" id="{AD5AA558-F57B-AA80-93A6-35D3E07C0BD5}"/>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005E232-918F-7A88-9CDF-5A89CFE83DEF}"/>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1066641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87DC2F-7A26-BB86-FD38-412BDA6D2EE0}"/>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3" name="Footer Placeholder 2">
            <a:extLst>
              <a:ext uri="{FF2B5EF4-FFF2-40B4-BE49-F238E27FC236}">
                <a16:creationId xmlns:a16="http://schemas.microsoft.com/office/drawing/2014/main" id="{239DFC65-A2F0-6787-7DE7-841B74E102E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F33D321-6FAA-B077-F89C-0D4F5BE1E870}"/>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22940334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D4C06-888F-AA41-9746-275E0EAA5A6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916F0890-4D47-4BA5-C667-6FDE6FED9E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015B6B0-1F88-74CF-F4EE-073C7EE6B4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6C2A46-29A9-173D-AC4F-799133D0E203}"/>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6" name="Footer Placeholder 5">
            <a:extLst>
              <a:ext uri="{FF2B5EF4-FFF2-40B4-BE49-F238E27FC236}">
                <a16:creationId xmlns:a16="http://schemas.microsoft.com/office/drawing/2014/main" id="{A724DD9E-0A21-9574-F1C2-B9CC686CDBD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008A926-F528-6AF4-47EF-F5CB0381E458}"/>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3628617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7B3AA-356C-F468-993F-B8B642B194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4A4D913-0DF4-13F3-B827-F8D26EE65C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237B3BF-9A11-60CF-E3F7-EA0CE817A7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61DE0A4-0D9C-8509-54EA-DCF47C3750CF}"/>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6" name="Footer Placeholder 5">
            <a:extLst>
              <a:ext uri="{FF2B5EF4-FFF2-40B4-BE49-F238E27FC236}">
                <a16:creationId xmlns:a16="http://schemas.microsoft.com/office/drawing/2014/main" id="{476D8B9E-2BDE-3CD7-0A2F-FA36DB899EF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0C86DC8-FC7D-1DE0-68B9-F2882B2AD35A}"/>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2962607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400B0-AF79-CAB4-0DBE-AB19A274FE18}"/>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3DD0D61-280C-FFA5-C2C2-F3DA0B432C5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E1CC9A9-5C41-7336-766D-A5AB91984E96}"/>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5" name="Footer Placeholder 4">
            <a:extLst>
              <a:ext uri="{FF2B5EF4-FFF2-40B4-BE49-F238E27FC236}">
                <a16:creationId xmlns:a16="http://schemas.microsoft.com/office/drawing/2014/main" id="{BCAFEFC7-A300-409B-FE5B-8EE4BB408D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95D1937-6C1E-2AE8-625B-055CF1D06309}"/>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17817233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400AC7-5C83-988D-DA74-5302AA54079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A3CAB78-EFE6-CACE-8919-EFC7F2B489C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82D6D58-BAEC-2B18-7D1F-556DF651B436}"/>
              </a:ext>
            </a:extLst>
          </p:cNvPr>
          <p:cNvSpPr>
            <a:spLocks noGrp="1"/>
          </p:cNvSpPr>
          <p:nvPr>
            <p:ph type="dt" sz="half" idx="10"/>
          </p:nvPr>
        </p:nvSpPr>
        <p:spPr/>
        <p:txBody>
          <a:bodyPr/>
          <a:lstStyle/>
          <a:p>
            <a:fld id="{581E2439-4DC7-4851-B7FE-392914D11DE7}" type="datetimeFigureOut">
              <a:rPr lang="en-GB" smtClean="0"/>
              <a:t>14/10/2024</a:t>
            </a:fld>
            <a:endParaRPr lang="en-GB"/>
          </a:p>
        </p:txBody>
      </p:sp>
      <p:sp>
        <p:nvSpPr>
          <p:cNvPr id="5" name="Footer Placeholder 4">
            <a:extLst>
              <a:ext uri="{FF2B5EF4-FFF2-40B4-BE49-F238E27FC236}">
                <a16:creationId xmlns:a16="http://schemas.microsoft.com/office/drawing/2014/main" id="{B064E590-AA30-AA06-4F7E-22DE4778A0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034BB5-DD8C-F4CD-76EB-B34C663AEC43}"/>
              </a:ext>
            </a:extLst>
          </p:cNvPr>
          <p:cNvSpPr>
            <a:spLocks noGrp="1"/>
          </p:cNvSpPr>
          <p:nvPr>
            <p:ph type="sldNum" sz="quarter" idx="12"/>
          </p:nvPr>
        </p:nvSpPr>
        <p:spPr/>
        <p:txBody>
          <a:bodyPr/>
          <a:lstStyle/>
          <a:p>
            <a:fld id="{A54C9959-A226-434A-8193-ADC02DD685DF}" type="slidenum">
              <a:rPr lang="en-GB" smtClean="0"/>
              <a:t>‹#›</a:t>
            </a:fld>
            <a:endParaRPr lang="en-GB"/>
          </a:p>
        </p:txBody>
      </p:sp>
    </p:spTree>
    <p:extLst>
      <p:ext uri="{BB962C8B-B14F-4D97-AF65-F5344CB8AC3E}">
        <p14:creationId xmlns:p14="http://schemas.microsoft.com/office/powerpoint/2010/main" val="4048299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CE35C7-F423-FD6D-DB68-96C9EB804C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CA520BE-BB66-AECD-B127-F72DB235A16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FAC7332-738B-94BE-A9FB-F7835197E2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1E2439-4DC7-4851-B7FE-392914D11DE7}" type="datetimeFigureOut">
              <a:rPr lang="en-GB" smtClean="0"/>
              <a:t>14/10/2024</a:t>
            </a:fld>
            <a:endParaRPr lang="en-GB" dirty="0"/>
          </a:p>
        </p:txBody>
      </p:sp>
      <p:sp>
        <p:nvSpPr>
          <p:cNvPr id="5" name="Footer Placeholder 4">
            <a:extLst>
              <a:ext uri="{FF2B5EF4-FFF2-40B4-BE49-F238E27FC236}">
                <a16:creationId xmlns:a16="http://schemas.microsoft.com/office/drawing/2014/main" id="{C69332E4-3F88-E397-94EC-5753E22F9F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7EF14597-4FB0-A306-3B6E-7249FA5797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4C9959-A226-434A-8193-ADC02DD685DF}" type="slidenum">
              <a:rPr lang="en-GB" smtClean="0"/>
              <a:t>‹#›</a:t>
            </a:fld>
            <a:endParaRPr lang="en-GB"/>
          </a:p>
        </p:txBody>
      </p:sp>
    </p:spTree>
    <p:extLst>
      <p:ext uri="{BB962C8B-B14F-4D97-AF65-F5344CB8AC3E}">
        <p14:creationId xmlns:p14="http://schemas.microsoft.com/office/powerpoint/2010/main" val="2619452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62FB"/>
        </a:solidFill>
        <a:effectLst/>
      </p:bgPr>
    </p:bg>
    <p:spTree>
      <p:nvGrpSpPr>
        <p:cNvPr id="1" name="">
          <a:extLst>
            <a:ext uri="{FF2B5EF4-FFF2-40B4-BE49-F238E27FC236}">
              <a16:creationId xmlns:a16="http://schemas.microsoft.com/office/drawing/2014/main" id="{1EA71036-0240-601A-2161-F4E768BCC36D}"/>
            </a:ext>
          </a:extLst>
        </p:cNvPr>
        <p:cNvGrpSpPr/>
        <p:nvPr/>
      </p:nvGrpSpPr>
      <p:grpSpPr>
        <a:xfrm>
          <a:off x="0" y="0"/>
          <a:ext cx="0" cy="0"/>
          <a:chOff x="0" y="0"/>
          <a:chExt cx="0" cy="0"/>
        </a:xfrm>
      </p:grpSpPr>
      <p:sp>
        <p:nvSpPr>
          <p:cNvPr id="11" name="Freeform: Shape 10">
            <a:extLst>
              <a:ext uri="{FF2B5EF4-FFF2-40B4-BE49-F238E27FC236}">
                <a16:creationId xmlns:a16="http://schemas.microsoft.com/office/drawing/2014/main" id="{7FA15DA9-0027-E283-5A6A-76A30A242259}"/>
              </a:ext>
            </a:extLst>
          </p:cNvPr>
          <p:cNvSpPr/>
          <p:nvPr/>
        </p:nvSpPr>
        <p:spPr>
          <a:xfrm>
            <a:off x="0" y="0"/>
            <a:ext cx="12192000" cy="6858000"/>
          </a:xfrm>
          <a:custGeom>
            <a:avLst/>
            <a:gdLst>
              <a:gd name="connsiteX0" fmla="*/ 11922691 w 12192000"/>
              <a:gd name="connsiteY0" fmla="*/ 0 h 6858000"/>
              <a:gd name="connsiteX1" fmla="*/ 12192000 w 12192000"/>
              <a:gd name="connsiteY1" fmla="*/ 0 h 6858000"/>
              <a:gd name="connsiteX2" fmla="*/ 12192000 w 12192000"/>
              <a:gd name="connsiteY2" fmla="*/ 6858000 h 6858000"/>
              <a:gd name="connsiteX3" fmla="*/ 8421904 w 12192000"/>
              <a:gd name="connsiteY3" fmla="*/ 6858000 h 6858000"/>
              <a:gd name="connsiteX4" fmla="*/ 11448068 w 12192000"/>
              <a:gd name="connsiteY4" fmla="*/ 2045683 h 6858000"/>
              <a:gd name="connsiteX5" fmla="*/ 10778798 w 12192000"/>
              <a:gd name="connsiteY5" fmla="*/ 2121170 h 6858000"/>
              <a:gd name="connsiteX6" fmla="*/ 7800103 w 12192000"/>
              <a:gd name="connsiteY6" fmla="*/ 6858000 h 6858000"/>
              <a:gd name="connsiteX7" fmla="*/ 7570005 w 12192000"/>
              <a:gd name="connsiteY7" fmla="*/ 6858000 h 6858000"/>
              <a:gd name="connsiteX8" fmla="*/ 0 w 12192000"/>
              <a:gd name="connsiteY8" fmla="*/ 0 h 6858000"/>
              <a:gd name="connsiteX9" fmla="*/ 8535030 w 12192000"/>
              <a:gd name="connsiteY9" fmla="*/ 0 h 6858000"/>
              <a:gd name="connsiteX10" fmla="*/ 4790296 w 12192000"/>
              <a:gd name="connsiteY10" fmla="*/ 5909203 h 6858000"/>
              <a:gd name="connsiteX11" fmla="*/ 5106779 w 12192000"/>
              <a:gd name="connsiteY11" fmla="*/ 5961370 h 6858000"/>
              <a:gd name="connsiteX12" fmla="*/ 8884573 w 12192000"/>
              <a:gd name="connsiteY12" fmla="*/ 0 h 6858000"/>
              <a:gd name="connsiteX13" fmla="*/ 9203574 w 12192000"/>
              <a:gd name="connsiteY13" fmla="*/ 0 h 6858000"/>
              <a:gd name="connsiteX14" fmla="*/ 4850887 w 12192000"/>
              <a:gd name="connsiteY14" fmla="*/ 6858000 h 6858000"/>
              <a:gd name="connsiteX15" fmla="*/ 545621 w 12192000"/>
              <a:gd name="connsiteY15" fmla="*/ 6858000 h 6858000"/>
              <a:gd name="connsiteX16" fmla="*/ 979684 w 12192000"/>
              <a:gd name="connsiteY16" fmla="*/ 6173047 h 6858000"/>
              <a:gd name="connsiteX17" fmla="*/ 663201 w 12192000"/>
              <a:gd name="connsiteY17" fmla="*/ 6120879 h 6858000"/>
              <a:gd name="connsiteX18" fmla="*/ 196078 w 12192000"/>
              <a:gd name="connsiteY18" fmla="*/ 6858000 h 6858000"/>
              <a:gd name="connsiteX19" fmla="*/ 0 w 12192000"/>
              <a:gd name="connsiteY19"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2000" h="6858000">
                <a:moveTo>
                  <a:pt x="11922691" y="0"/>
                </a:moveTo>
                <a:lnTo>
                  <a:pt x="12192000" y="0"/>
                </a:lnTo>
                <a:lnTo>
                  <a:pt x="12192000" y="6858000"/>
                </a:lnTo>
                <a:lnTo>
                  <a:pt x="8421904" y="6858000"/>
                </a:lnTo>
                <a:lnTo>
                  <a:pt x="11448068" y="2045683"/>
                </a:lnTo>
                <a:lnTo>
                  <a:pt x="10778798" y="2121170"/>
                </a:lnTo>
                <a:lnTo>
                  <a:pt x="7800103" y="6858000"/>
                </a:lnTo>
                <a:lnTo>
                  <a:pt x="7570005" y="6858000"/>
                </a:lnTo>
                <a:close/>
                <a:moveTo>
                  <a:pt x="0" y="0"/>
                </a:moveTo>
                <a:lnTo>
                  <a:pt x="8535030" y="0"/>
                </a:lnTo>
                <a:lnTo>
                  <a:pt x="4790296" y="5909203"/>
                </a:lnTo>
                <a:lnTo>
                  <a:pt x="5106779" y="5961370"/>
                </a:lnTo>
                <a:lnTo>
                  <a:pt x="8884573" y="0"/>
                </a:lnTo>
                <a:lnTo>
                  <a:pt x="9203574" y="0"/>
                </a:lnTo>
                <a:lnTo>
                  <a:pt x="4850887" y="6858000"/>
                </a:lnTo>
                <a:lnTo>
                  <a:pt x="545621" y="6858000"/>
                </a:lnTo>
                <a:lnTo>
                  <a:pt x="979684" y="6173047"/>
                </a:lnTo>
                <a:lnTo>
                  <a:pt x="663201" y="6120879"/>
                </a:lnTo>
                <a:lnTo>
                  <a:pt x="196078"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 name="Picture 1" descr="A blue oval with writing on it&#10;&#10;Description automatically generated">
            <a:extLst>
              <a:ext uri="{FF2B5EF4-FFF2-40B4-BE49-F238E27FC236}">
                <a16:creationId xmlns:a16="http://schemas.microsoft.com/office/drawing/2014/main" id="{A9754CA1-3B8C-28A7-B381-4C1826650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338" y="5263758"/>
            <a:ext cx="1981372" cy="1463167"/>
          </a:xfrm>
          <a:prstGeom prst="rect">
            <a:avLst/>
          </a:prstGeom>
        </p:spPr>
      </p:pic>
      <p:sp>
        <p:nvSpPr>
          <p:cNvPr id="5" name="TextBox 4">
            <a:extLst>
              <a:ext uri="{FF2B5EF4-FFF2-40B4-BE49-F238E27FC236}">
                <a16:creationId xmlns:a16="http://schemas.microsoft.com/office/drawing/2014/main" id="{088BF18B-020F-F965-76E0-149869537E5A}"/>
              </a:ext>
            </a:extLst>
          </p:cNvPr>
          <p:cNvSpPr txBox="1"/>
          <p:nvPr/>
        </p:nvSpPr>
        <p:spPr>
          <a:xfrm>
            <a:off x="1003300" y="2374900"/>
            <a:ext cx="5092700" cy="707886"/>
          </a:xfrm>
          <a:prstGeom prst="rect">
            <a:avLst/>
          </a:prstGeom>
          <a:noFill/>
        </p:spPr>
        <p:txBody>
          <a:bodyPr wrap="square" rtlCol="0">
            <a:spAutoFit/>
          </a:bodyPr>
          <a:lstStyle/>
          <a:p>
            <a:pPr algn="ctr"/>
            <a:r>
              <a:rPr lang="ar-SA" sz="4000" b="1" dirty="0">
                <a:solidFill>
                  <a:srgbClr val="57586D"/>
                </a:solidFill>
              </a:rPr>
              <a:t>نبذة عن الشركة</a:t>
            </a:r>
            <a:endParaRPr lang="en-US" sz="4000" b="1" dirty="0">
              <a:solidFill>
                <a:srgbClr val="57586D"/>
              </a:solidFill>
            </a:endParaRPr>
          </a:p>
        </p:txBody>
      </p:sp>
      <p:pic>
        <p:nvPicPr>
          <p:cNvPr id="6" name="Graphic 5">
            <a:extLst>
              <a:ext uri="{FF2B5EF4-FFF2-40B4-BE49-F238E27FC236}">
                <a16:creationId xmlns:a16="http://schemas.microsoft.com/office/drawing/2014/main" id="{C9AC76A2-1979-3612-4459-C89F709AAC16}"/>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515" y="131075"/>
            <a:ext cx="1066643" cy="490079"/>
          </a:xfrm>
          <a:prstGeom prst="rect">
            <a:avLst/>
          </a:prstGeom>
        </p:spPr>
      </p:pic>
    </p:spTree>
    <p:extLst>
      <p:ext uri="{BB962C8B-B14F-4D97-AF65-F5344CB8AC3E}">
        <p14:creationId xmlns:p14="http://schemas.microsoft.com/office/powerpoint/2010/main" val="3180464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E50E211-5F1F-DC0F-D95D-0638997E3D02}"/>
              </a:ext>
            </a:extLst>
          </p:cNvPr>
          <p:cNvGrpSpPr/>
          <p:nvPr/>
        </p:nvGrpSpPr>
        <p:grpSpPr>
          <a:xfrm>
            <a:off x="-987674" y="-1460547"/>
            <a:ext cx="1094940" cy="461397"/>
            <a:chOff x="2032724" y="505505"/>
            <a:chExt cx="6363131" cy="461397"/>
          </a:xfrm>
        </p:grpSpPr>
        <p:sp>
          <p:nvSpPr>
            <p:cNvPr id="3" name="Rectangle 2">
              <a:extLst>
                <a:ext uri="{FF2B5EF4-FFF2-40B4-BE49-F238E27FC236}">
                  <a16:creationId xmlns:a16="http://schemas.microsoft.com/office/drawing/2014/main" id="{C8A5BA57-3A3A-B474-51CD-EB8BAB258E7C}"/>
                </a:ext>
              </a:extLst>
            </p:cNvPr>
            <p:cNvSpPr/>
            <p:nvPr/>
          </p:nvSpPr>
          <p:spPr>
            <a:xfrm>
              <a:off x="7600051" y="506059"/>
              <a:ext cx="795804" cy="460843"/>
            </a:xfrm>
            <a:prstGeom prst="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6ADF90C-3B6D-B761-AA60-53A922829CCA}"/>
                </a:ext>
              </a:extLst>
            </p:cNvPr>
            <p:cNvSpPr/>
            <p:nvPr/>
          </p:nvSpPr>
          <p:spPr>
            <a:xfrm>
              <a:off x="6804247" y="506059"/>
              <a:ext cx="795804" cy="460843"/>
            </a:xfrm>
            <a:prstGeom prst="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5A64A07-CB56-717E-B5D5-9875A3440D1C}"/>
                </a:ext>
              </a:extLst>
            </p:cNvPr>
            <p:cNvSpPr/>
            <p:nvPr/>
          </p:nvSpPr>
          <p:spPr>
            <a:xfrm>
              <a:off x="6008443" y="506059"/>
              <a:ext cx="795804" cy="460843"/>
            </a:xfrm>
            <a:prstGeom prst="rect">
              <a:avLst/>
            </a:pr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87F96E8-C677-5EA3-0BB8-DE4E965DFBA2}"/>
                </a:ext>
              </a:extLst>
            </p:cNvPr>
            <p:cNvSpPr/>
            <p:nvPr/>
          </p:nvSpPr>
          <p:spPr>
            <a:xfrm>
              <a:off x="5212639" y="506059"/>
              <a:ext cx="795804" cy="460843"/>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D8667FC-23F8-9973-4BD7-3340D83E032A}"/>
                </a:ext>
              </a:extLst>
            </p:cNvPr>
            <p:cNvSpPr/>
            <p:nvPr/>
          </p:nvSpPr>
          <p:spPr>
            <a:xfrm>
              <a:off x="4416835" y="506059"/>
              <a:ext cx="795804" cy="460843"/>
            </a:xfrm>
            <a:prstGeom prst="rect">
              <a:avLst/>
            </a:prstGeom>
            <a:solidFill>
              <a:srgbClr val="D94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A2AB70-1D5B-F9B8-7AEF-B7672B6AB8FF}"/>
                </a:ext>
              </a:extLst>
            </p:cNvPr>
            <p:cNvSpPr/>
            <p:nvPr/>
          </p:nvSpPr>
          <p:spPr>
            <a:xfrm>
              <a:off x="3621031" y="506059"/>
              <a:ext cx="795804" cy="460843"/>
            </a:xfrm>
            <a:prstGeom prst="rect">
              <a:avLst/>
            </a:prstGeom>
            <a:solidFill>
              <a:srgbClr val="575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9AA16A8-3FBF-4E7C-C4B9-43C9023BE7C2}"/>
                </a:ext>
              </a:extLst>
            </p:cNvPr>
            <p:cNvSpPr/>
            <p:nvPr/>
          </p:nvSpPr>
          <p:spPr>
            <a:xfrm>
              <a:off x="2825227" y="506059"/>
              <a:ext cx="795804" cy="460843"/>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4AC728B-C6DC-EFB2-2808-BCB39C321683}"/>
                </a:ext>
              </a:extLst>
            </p:cNvPr>
            <p:cNvSpPr/>
            <p:nvPr/>
          </p:nvSpPr>
          <p:spPr>
            <a:xfrm>
              <a:off x="2032724" y="505505"/>
              <a:ext cx="795804" cy="460843"/>
            </a:xfrm>
            <a:prstGeom prst="rect">
              <a:avLst/>
            </a:prstGeom>
            <a:solidFill>
              <a:srgbClr val="0A0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94C11EDB-824D-35D2-AAF2-A55771222230}"/>
              </a:ext>
            </a:extLst>
          </p:cNvPr>
          <p:cNvGrpSpPr/>
          <p:nvPr/>
        </p:nvGrpSpPr>
        <p:grpSpPr>
          <a:xfrm>
            <a:off x="11837044" y="5660020"/>
            <a:ext cx="354956" cy="1207812"/>
            <a:chOff x="11837044" y="5660020"/>
            <a:chExt cx="354956" cy="1207812"/>
          </a:xfrm>
        </p:grpSpPr>
        <p:sp>
          <p:nvSpPr>
            <p:cNvPr id="13" name="Rectangle 12">
              <a:extLst>
                <a:ext uri="{FF2B5EF4-FFF2-40B4-BE49-F238E27FC236}">
                  <a16:creationId xmlns:a16="http://schemas.microsoft.com/office/drawing/2014/main" id="{193428F7-D93C-E9F8-167B-0F09333F47B4}"/>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sp>
          <p:nvSpPr>
            <p:cNvPr id="12" name="Rectangle 11">
              <a:extLst>
                <a:ext uri="{FF2B5EF4-FFF2-40B4-BE49-F238E27FC236}">
                  <a16:creationId xmlns:a16="http://schemas.microsoft.com/office/drawing/2014/main" id="{B684619C-5827-36F1-6E68-6C92D20B4EED}"/>
                </a:ext>
              </a:extLst>
            </p:cNvPr>
            <p:cNvSpPr/>
            <p:nvPr/>
          </p:nvSpPr>
          <p:spPr>
            <a:xfrm>
              <a:off x="11837044" y="5665113"/>
              <a:ext cx="177478"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grpSp>
      <p:sp>
        <p:nvSpPr>
          <p:cNvPr id="11" name="TextBox 10">
            <a:extLst>
              <a:ext uri="{FF2B5EF4-FFF2-40B4-BE49-F238E27FC236}">
                <a16:creationId xmlns:a16="http://schemas.microsoft.com/office/drawing/2014/main" id="{57A68379-A31F-2DCB-42F2-3297C8FFFF35}"/>
              </a:ext>
            </a:extLst>
          </p:cNvPr>
          <p:cNvSpPr txBox="1"/>
          <p:nvPr/>
        </p:nvSpPr>
        <p:spPr>
          <a:xfrm>
            <a:off x="6234900" y="1520095"/>
            <a:ext cx="5409235" cy="5238742"/>
          </a:xfrm>
          <a:prstGeom prst="rect">
            <a:avLst/>
          </a:prstGeom>
          <a:noFill/>
        </p:spPr>
        <p:txBody>
          <a:bodyPr wrap="square" rtlCol="0">
            <a:spAutoFit/>
          </a:bodyPr>
          <a:lstStyle/>
          <a:p>
            <a:pPr marL="0" marR="0" algn="just" rtl="1">
              <a:lnSpc>
                <a:spcPct val="150000"/>
              </a:lnSpc>
              <a:spcBef>
                <a:spcPts val="0"/>
              </a:spcBef>
              <a:spcAft>
                <a:spcPts val="800"/>
              </a:spcAft>
            </a:pPr>
            <a:r>
              <a:rPr lang="ar-SA"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"طيب السعودية المحدودة" شركة رائدة في مجال الرعاية الصحية المنزلية ومملوكة من شركة "</a:t>
            </a:r>
            <a:r>
              <a:rPr lang="ar-SA" sz="1800" b="1" dirty="0">
                <a:solidFill>
                  <a:srgbClr val="57586D"/>
                </a:solidFill>
                <a:effectLst/>
                <a:latin typeface="Calibri" panose="020F0502020204030204" pitchFamily="34" charset="0"/>
                <a:ea typeface="Calibri" panose="020F0502020204030204" pitchFamily="34" charset="0"/>
                <a:cs typeface="Arial" panose="020B0604020202020204" pitchFamily="34" charset="0"/>
              </a:rPr>
              <a:t>بلوم إنفست السعودية" </a:t>
            </a:r>
            <a:r>
              <a:rPr lang="ar-SA"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 مرخصة من هيئة السوق المالية والتي تقدم مجموعة واسعة من خدمات الإستثمار وتشمل إدارة الأصول وإدارة الثروات بالإضافة إلى الإستشارات وتمويل الشركات</a:t>
            </a:r>
            <a:r>
              <a:rPr lang="ar-EG"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 </a:t>
            </a:r>
            <a:r>
              <a:rPr lang="ar-EG" sz="1800" b="1" dirty="0">
                <a:solidFill>
                  <a:srgbClr val="57586D"/>
                </a:solidFill>
                <a:effectLst/>
                <a:latin typeface="Calibri" panose="020F0502020204030204" pitchFamily="34" charset="0"/>
                <a:ea typeface="Calibri" panose="020F0502020204030204" pitchFamily="34" charset="0"/>
                <a:cs typeface="Arial" panose="020B0604020202020204" pitchFamily="34" charset="0"/>
              </a:rPr>
              <a:t>, من اوائل شركات الرعاية المنزلية الحاصلة على ترخيص المركز السعودي لاعتماد المنشات الصحية (</a:t>
            </a:r>
            <a:r>
              <a:rPr lang="en-US" sz="1800" b="1" dirty="0">
                <a:solidFill>
                  <a:srgbClr val="57586D"/>
                </a:solidFill>
                <a:effectLst/>
                <a:latin typeface="Calibri" panose="020F0502020204030204" pitchFamily="34" charset="0"/>
                <a:ea typeface="Calibri" panose="020F0502020204030204" pitchFamily="34" charset="0"/>
                <a:cs typeface="Arial" panose="020B0604020202020204" pitchFamily="34" charset="0"/>
              </a:rPr>
              <a:t>CBAHI</a:t>
            </a:r>
            <a:r>
              <a:rPr lang="ar-EG" sz="1800" b="1" dirty="0">
                <a:solidFill>
                  <a:srgbClr val="57586D"/>
                </a:solidFill>
                <a:effectLst/>
                <a:latin typeface="Calibri" panose="020F0502020204030204" pitchFamily="34" charset="0"/>
                <a:ea typeface="Calibri" panose="020F0502020204030204" pitchFamily="34" charset="0"/>
                <a:cs typeface="Arial" panose="020B0604020202020204" pitchFamily="34" charset="0"/>
              </a:rPr>
              <a:t>)</a:t>
            </a:r>
            <a:r>
              <a:rPr lang="en-US" sz="1800" b="1" dirty="0">
                <a:solidFill>
                  <a:srgbClr val="57586D"/>
                </a:solidFill>
                <a:effectLst/>
                <a:latin typeface="Calibri" panose="020F0502020204030204" pitchFamily="34" charset="0"/>
                <a:ea typeface="Calibri" panose="020F0502020204030204" pitchFamily="34" charset="0"/>
                <a:cs typeface="Arial" panose="020B0604020202020204" pitchFamily="34" charset="0"/>
              </a:rPr>
              <a:t> </a:t>
            </a:r>
            <a:r>
              <a:rPr lang="ar-SA" sz="1800" b="1" dirty="0">
                <a:solidFill>
                  <a:srgbClr val="57586D"/>
                </a:solidFill>
                <a:effectLst/>
                <a:latin typeface="Calibri" panose="020F0502020204030204" pitchFamily="34" charset="0"/>
                <a:ea typeface="Calibri" panose="020F0502020204030204" pitchFamily="34" charset="0"/>
                <a:cs typeface="Arial" panose="020B0604020202020204" pitchFamily="34" charset="0"/>
              </a:rPr>
              <a:t>. </a:t>
            </a:r>
            <a:endParaRPr lang="en-GB" sz="1800" b="1" dirty="0">
              <a:solidFill>
                <a:srgbClr val="57586D"/>
              </a:solidFill>
              <a:effectLst/>
              <a:latin typeface="Calibri" panose="020F0502020204030204" pitchFamily="34" charset="0"/>
              <a:ea typeface="Calibri" panose="020F0502020204030204" pitchFamily="34" charset="0"/>
              <a:cs typeface="Arial" panose="020B0604020202020204" pitchFamily="34" charset="0"/>
            </a:endParaRPr>
          </a:p>
          <a:p>
            <a:pPr marL="0" marR="0" algn="just" rtl="1">
              <a:lnSpc>
                <a:spcPct val="150000"/>
              </a:lnSpc>
              <a:spcBef>
                <a:spcPts val="0"/>
              </a:spcBef>
              <a:spcAft>
                <a:spcPts val="800"/>
              </a:spcAft>
            </a:pPr>
            <a:r>
              <a:rPr lang="ar-SA"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تأسست شركة "طيب" في عام 2018 لتتبنى رؤية المملكة العربية السعودية 2030 لبرنامج التحول في القطاع الصحي، وذلك من خلال تقديم الحلول الصحية لرعاية المرضى في أماكن تواجدهم، وتحقيق تحسين الرعاية الصحية من خلال خدماتنا المبتكرة والمصممة لراحة المرضى وتلبية </a:t>
            </a:r>
            <a:r>
              <a:rPr lang="ar-SA" sz="1800" dirty="0" err="1">
                <a:solidFill>
                  <a:srgbClr val="57586D"/>
                </a:solidFill>
                <a:effectLst/>
                <a:latin typeface="Calibri" panose="020F0502020204030204" pitchFamily="34" charset="0"/>
                <a:ea typeface="Calibri" panose="020F0502020204030204" pitchFamily="34" charset="0"/>
                <a:cs typeface="Arial" panose="020B0604020202020204" pitchFamily="34" charset="0"/>
              </a:rPr>
              <a:t>إحتياجاتهم</a:t>
            </a:r>
            <a:r>
              <a:rPr lang="ar-SA"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a:t>
            </a:r>
          </a:p>
          <a:p>
            <a:pPr marL="0" marR="0" algn="just" rtl="1">
              <a:lnSpc>
                <a:spcPct val="150000"/>
              </a:lnSpc>
              <a:spcBef>
                <a:spcPts val="0"/>
              </a:spcBef>
              <a:spcAft>
                <a:spcPts val="800"/>
              </a:spcAft>
            </a:pPr>
            <a:r>
              <a:rPr lang="ar-SA"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"طيب" تعيد تعريف مفهوم تقديم الرعاية الصحية وتلعب دوراً فعالاً في</a:t>
            </a:r>
            <a:endParaRPr lang="en-GB" sz="1800" dirty="0">
              <a:solidFill>
                <a:srgbClr val="57586D"/>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9014BB06-834B-7B77-FB22-FCE5E96A2A55}"/>
              </a:ext>
            </a:extLst>
          </p:cNvPr>
          <p:cNvSpPr txBox="1"/>
          <p:nvPr/>
        </p:nvSpPr>
        <p:spPr>
          <a:xfrm>
            <a:off x="546682" y="1520095"/>
            <a:ext cx="5409235" cy="4618059"/>
          </a:xfrm>
          <a:prstGeom prst="rect">
            <a:avLst/>
          </a:prstGeom>
          <a:noFill/>
        </p:spPr>
        <p:txBody>
          <a:bodyPr wrap="square" rtlCol="0">
            <a:spAutoFit/>
          </a:bodyPr>
          <a:lstStyle>
            <a:defPPr>
              <a:defRPr lang="en-US"/>
            </a:defPPr>
            <a:lvl1pPr algn="just" rtl="1">
              <a:lnSpc>
                <a:spcPct val="150000"/>
              </a:lnSpc>
              <a:defRPr sz="2400">
                <a:latin typeface="JF Flat" panose="02000500000000000000" pitchFamily="50" charset="-78"/>
                <a:cs typeface="JF Flat" panose="02000500000000000000" pitchFamily="50" charset="-78"/>
              </a:defRPr>
            </a:lvl1pPr>
          </a:lstStyle>
          <a:p>
            <a:pPr marL="0" marR="0" rtl="1">
              <a:spcBef>
                <a:spcPts val="0"/>
              </a:spcBef>
              <a:spcAft>
                <a:spcPts val="800"/>
              </a:spcAft>
            </a:pPr>
            <a:r>
              <a:rPr lang="ar-SA"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دعم أهداف رؤية المملكة 2030، من خلال نموذج رعاية متطور تسعى من خلاله لتعزيز وتسهيل إمكانية الوصول لخدمات الرعاية ورفع مستوى الجودة والكفاءة في مجال الرعاية الصحية، وتحرص على تقديم خدمات رعاية منزلية شاملة مصممة خصيصاً لتناسب </a:t>
            </a:r>
            <a:r>
              <a:rPr lang="ar-SA" sz="1800" dirty="0" err="1">
                <a:solidFill>
                  <a:srgbClr val="57586D"/>
                </a:solidFill>
                <a:effectLst/>
                <a:latin typeface="Calibri" panose="020F0502020204030204" pitchFamily="34" charset="0"/>
                <a:ea typeface="Calibri" panose="020F0502020204030204" pitchFamily="34" charset="0"/>
                <a:cs typeface="Arial" panose="020B0604020202020204" pitchFamily="34" charset="0"/>
              </a:rPr>
              <a:t>الإحتياجات</a:t>
            </a:r>
            <a:r>
              <a:rPr lang="ar-SA" sz="1800" dirty="0">
                <a:solidFill>
                  <a:srgbClr val="57586D"/>
                </a:solidFill>
                <a:effectLst/>
                <a:latin typeface="Calibri" panose="020F0502020204030204" pitchFamily="34" charset="0"/>
                <a:ea typeface="Calibri" panose="020F0502020204030204" pitchFamily="34" charset="0"/>
                <a:cs typeface="Arial" panose="020B0604020202020204" pitchFamily="34" charset="0"/>
              </a:rPr>
              <a:t> الفردية والأسرية والمجتمعية، مثل الرعاية التمريضية المتخصصة، والخدمات العلاجية التأهيلية، وإدارة الأمراض المزمنة، والرعاية بعد العمليات الجراحية وغيرها، وذلك من قبل فريق مكون من ممارسين طبيين متخصصين ومؤهلين بشكل كامل من أطباء وممرضين وأخصائيين وخدمات طبية مساندة متعددة والتي تشمل خدمات النقل الإسعافي الطارئة وغير الطارئة للتأكد من حصول المرضى على الرعاية الصحية الشاملة في أماكن تواجدهم.</a:t>
            </a:r>
            <a:endParaRPr lang="en-GB" sz="1800" dirty="0">
              <a:solidFill>
                <a:srgbClr val="57586D"/>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39" name="TextBox 38">
            <a:extLst>
              <a:ext uri="{FF2B5EF4-FFF2-40B4-BE49-F238E27FC236}">
                <a16:creationId xmlns:a16="http://schemas.microsoft.com/office/drawing/2014/main" id="{FE9FF2C4-FAB6-4E34-B20C-3DAD2E08B709}"/>
              </a:ext>
            </a:extLst>
          </p:cNvPr>
          <p:cNvSpPr txBox="1"/>
          <p:nvPr/>
        </p:nvSpPr>
        <p:spPr>
          <a:xfrm>
            <a:off x="3788229" y="904138"/>
            <a:ext cx="8048815" cy="584775"/>
          </a:xfrm>
          <a:prstGeom prst="rect">
            <a:avLst/>
          </a:prstGeom>
          <a:noFill/>
        </p:spPr>
        <p:txBody>
          <a:bodyPr wrap="square" rtlCol="0">
            <a:spAutoFit/>
          </a:bodyPr>
          <a:lstStyle/>
          <a:p>
            <a:pPr algn="r"/>
            <a:r>
              <a:rPr lang="ar-SA" sz="3200" b="1" dirty="0">
                <a:solidFill>
                  <a:srgbClr val="1F62FB"/>
                </a:solidFill>
                <a:latin typeface="JF Flat" panose="02000500000000000000" pitchFamily="50" charset="-78"/>
              </a:rPr>
              <a:t>من نحن؟</a:t>
            </a:r>
            <a:endParaRPr lang="en-US" sz="3200" b="1" dirty="0">
              <a:solidFill>
                <a:srgbClr val="1F62FB"/>
              </a:solidFill>
              <a:latin typeface="JF Flat" panose="02000500000000000000" pitchFamily="50" charset="-78"/>
            </a:endParaRPr>
          </a:p>
        </p:txBody>
      </p:sp>
      <p:grpSp>
        <p:nvGrpSpPr>
          <p:cNvPr id="40" name="Group 39">
            <a:extLst>
              <a:ext uri="{FF2B5EF4-FFF2-40B4-BE49-F238E27FC236}">
                <a16:creationId xmlns:a16="http://schemas.microsoft.com/office/drawing/2014/main" id="{8DB61ECC-7A8C-4726-889E-842C8A132323}"/>
              </a:ext>
            </a:extLst>
          </p:cNvPr>
          <p:cNvGrpSpPr/>
          <p:nvPr/>
        </p:nvGrpSpPr>
        <p:grpSpPr>
          <a:xfrm rot="16200000">
            <a:off x="8844459" y="-2593678"/>
            <a:ext cx="118171" cy="6576902"/>
            <a:chOff x="11838962" y="5660020"/>
            <a:chExt cx="353038" cy="1202719"/>
          </a:xfrm>
        </p:grpSpPr>
        <p:sp>
          <p:nvSpPr>
            <p:cNvPr id="41" name="Rectangle 40">
              <a:extLst>
                <a:ext uri="{FF2B5EF4-FFF2-40B4-BE49-F238E27FC236}">
                  <a16:creationId xmlns:a16="http://schemas.microsoft.com/office/drawing/2014/main" id="{F979F0E6-908F-496F-8C1F-72FD767BFFF2}"/>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sp>
          <p:nvSpPr>
            <p:cNvPr id="42" name="Rectangle 41">
              <a:extLst>
                <a:ext uri="{FF2B5EF4-FFF2-40B4-BE49-F238E27FC236}">
                  <a16:creationId xmlns:a16="http://schemas.microsoft.com/office/drawing/2014/main" id="{C7C2C5CA-3AE7-49EE-A876-41A74F0A7381}"/>
                </a:ext>
              </a:extLst>
            </p:cNvPr>
            <p:cNvSpPr/>
            <p:nvPr/>
          </p:nvSpPr>
          <p:spPr>
            <a:xfrm>
              <a:off x="11838962" y="5660020"/>
              <a:ext cx="177479"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grpSp>
      <p:sp>
        <p:nvSpPr>
          <p:cNvPr id="16" name="Rectangle 15">
            <a:extLst>
              <a:ext uri="{FF2B5EF4-FFF2-40B4-BE49-F238E27FC236}">
                <a16:creationId xmlns:a16="http://schemas.microsoft.com/office/drawing/2014/main" id="{2BD49A34-FBB8-99D0-893F-719B8BE51B01}"/>
              </a:ext>
            </a:extLst>
          </p:cNvPr>
          <p:cNvSpPr/>
          <p:nvPr/>
        </p:nvSpPr>
        <p:spPr>
          <a:xfrm>
            <a:off x="3041" y="6503818"/>
            <a:ext cx="508957" cy="354182"/>
          </a:xfrm>
          <a:prstGeom prst="rect">
            <a:avLst/>
          </a:prstGeom>
          <a:solidFill>
            <a:srgbClr val="1F62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latin typeface="Poppins" panose="00000500000000000000" pitchFamily="2" charset="0"/>
                <a:cs typeface="Poppins" panose="00000500000000000000" pitchFamily="2" charset="0"/>
              </a:rPr>
              <a:t>5</a:t>
            </a:r>
            <a:endParaRPr lang="en-GB" sz="1400" b="1" dirty="0">
              <a:latin typeface="Poppins" panose="00000500000000000000" pitchFamily="2" charset="0"/>
              <a:cs typeface="Poppins" panose="00000500000000000000" pitchFamily="2" charset="0"/>
            </a:endParaRPr>
          </a:p>
        </p:txBody>
      </p:sp>
      <p:pic>
        <p:nvPicPr>
          <p:cNvPr id="17" name="Picture 16">
            <a:extLst>
              <a:ext uri="{FF2B5EF4-FFF2-40B4-BE49-F238E27FC236}">
                <a16:creationId xmlns:a16="http://schemas.microsoft.com/office/drawing/2014/main" id="{A8DF558B-606D-1997-8872-7F050329070D}"/>
              </a:ext>
            </a:extLst>
          </p:cNvPr>
          <p:cNvPicPr>
            <a:picLocks noChangeAspect="1"/>
          </p:cNvPicPr>
          <p:nvPr/>
        </p:nvPicPr>
        <p:blipFill>
          <a:blip r:embed="rId2"/>
          <a:stretch>
            <a:fillRect/>
          </a:stretch>
        </p:blipFill>
        <p:spPr>
          <a:xfrm>
            <a:off x="1670594" y="64880"/>
            <a:ext cx="1560286" cy="584775"/>
          </a:xfrm>
          <a:prstGeom prst="rect">
            <a:avLst/>
          </a:prstGeom>
        </p:spPr>
      </p:pic>
      <p:pic>
        <p:nvPicPr>
          <p:cNvPr id="20" name="Graphic 19">
            <a:extLst>
              <a:ext uri="{FF2B5EF4-FFF2-40B4-BE49-F238E27FC236}">
                <a16:creationId xmlns:a16="http://schemas.microsoft.com/office/drawing/2014/main" id="{A294D354-8F8D-3ED6-2BCB-C686322ADD4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515" y="131075"/>
            <a:ext cx="1066643" cy="490079"/>
          </a:xfrm>
          <a:prstGeom prst="rect">
            <a:avLst/>
          </a:prstGeom>
        </p:spPr>
      </p:pic>
    </p:spTree>
    <p:extLst>
      <p:ext uri="{BB962C8B-B14F-4D97-AF65-F5344CB8AC3E}">
        <p14:creationId xmlns:p14="http://schemas.microsoft.com/office/powerpoint/2010/main" val="9911912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2D8193C0-2859-DF90-7C0E-732BE2143945}"/>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28515" y="131075"/>
            <a:ext cx="1066643" cy="490079"/>
          </a:xfrm>
          <a:prstGeom prst="rect">
            <a:avLst/>
          </a:prstGeom>
        </p:spPr>
      </p:pic>
      <p:grpSp>
        <p:nvGrpSpPr>
          <p:cNvPr id="2" name="Group 1">
            <a:extLst>
              <a:ext uri="{FF2B5EF4-FFF2-40B4-BE49-F238E27FC236}">
                <a16:creationId xmlns:a16="http://schemas.microsoft.com/office/drawing/2014/main" id="{FE50E211-5F1F-DC0F-D95D-0638997E3D02}"/>
              </a:ext>
            </a:extLst>
          </p:cNvPr>
          <p:cNvGrpSpPr/>
          <p:nvPr/>
        </p:nvGrpSpPr>
        <p:grpSpPr>
          <a:xfrm>
            <a:off x="-987674" y="-1460547"/>
            <a:ext cx="1094940" cy="461397"/>
            <a:chOff x="2032724" y="505505"/>
            <a:chExt cx="6363131" cy="461397"/>
          </a:xfrm>
        </p:grpSpPr>
        <p:sp>
          <p:nvSpPr>
            <p:cNvPr id="3" name="Rectangle 2">
              <a:extLst>
                <a:ext uri="{FF2B5EF4-FFF2-40B4-BE49-F238E27FC236}">
                  <a16:creationId xmlns:a16="http://schemas.microsoft.com/office/drawing/2014/main" id="{C8A5BA57-3A3A-B474-51CD-EB8BAB258E7C}"/>
                </a:ext>
              </a:extLst>
            </p:cNvPr>
            <p:cNvSpPr/>
            <p:nvPr/>
          </p:nvSpPr>
          <p:spPr>
            <a:xfrm>
              <a:off x="7600051" y="506059"/>
              <a:ext cx="795804" cy="460843"/>
            </a:xfrm>
            <a:prstGeom prst="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6ADF90C-3B6D-B761-AA60-53A922829CCA}"/>
                </a:ext>
              </a:extLst>
            </p:cNvPr>
            <p:cNvSpPr/>
            <p:nvPr/>
          </p:nvSpPr>
          <p:spPr>
            <a:xfrm>
              <a:off x="6804247" y="506059"/>
              <a:ext cx="795804" cy="460843"/>
            </a:xfrm>
            <a:prstGeom prst="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5A64A07-CB56-717E-B5D5-9875A3440D1C}"/>
                </a:ext>
              </a:extLst>
            </p:cNvPr>
            <p:cNvSpPr/>
            <p:nvPr/>
          </p:nvSpPr>
          <p:spPr>
            <a:xfrm>
              <a:off x="6008443" y="506059"/>
              <a:ext cx="795804" cy="460843"/>
            </a:xfrm>
            <a:prstGeom prst="rect">
              <a:avLst/>
            </a:pr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87F96E8-C677-5EA3-0BB8-DE4E965DFBA2}"/>
                </a:ext>
              </a:extLst>
            </p:cNvPr>
            <p:cNvSpPr/>
            <p:nvPr/>
          </p:nvSpPr>
          <p:spPr>
            <a:xfrm>
              <a:off x="5212639" y="506059"/>
              <a:ext cx="795804" cy="460843"/>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D8667FC-23F8-9973-4BD7-3340D83E032A}"/>
                </a:ext>
              </a:extLst>
            </p:cNvPr>
            <p:cNvSpPr/>
            <p:nvPr/>
          </p:nvSpPr>
          <p:spPr>
            <a:xfrm>
              <a:off x="4416835" y="506059"/>
              <a:ext cx="795804" cy="460843"/>
            </a:xfrm>
            <a:prstGeom prst="rect">
              <a:avLst/>
            </a:prstGeom>
            <a:solidFill>
              <a:srgbClr val="D94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A2AB70-1D5B-F9B8-7AEF-B7672B6AB8FF}"/>
                </a:ext>
              </a:extLst>
            </p:cNvPr>
            <p:cNvSpPr/>
            <p:nvPr/>
          </p:nvSpPr>
          <p:spPr>
            <a:xfrm>
              <a:off x="3621031" y="506059"/>
              <a:ext cx="795804" cy="460843"/>
            </a:xfrm>
            <a:prstGeom prst="rect">
              <a:avLst/>
            </a:prstGeom>
            <a:solidFill>
              <a:srgbClr val="575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9AA16A8-3FBF-4E7C-C4B9-43C9023BE7C2}"/>
                </a:ext>
              </a:extLst>
            </p:cNvPr>
            <p:cNvSpPr/>
            <p:nvPr/>
          </p:nvSpPr>
          <p:spPr>
            <a:xfrm>
              <a:off x="2825227" y="506059"/>
              <a:ext cx="795804" cy="460843"/>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4AC728B-C6DC-EFB2-2808-BCB39C321683}"/>
                </a:ext>
              </a:extLst>
            </p:cNvPr>
            <p:cNvSpPr/>
            <p:nvPr/>
          </p:nvSpPr>
          <p:spPr>
            <a:xfrm>
              <a:off x="2032724" y="505505"/>
              <a:ext cx="795804" cy="460843"/>
            </a:xfrm>
            <a:prstGeom prst="rect">
              <a:avLst/>
            </a:prstGeom>
            <a:solidFill>
              <a:srgbClr val="0A0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94C11EDB-824D-35D2-AAF2-A55771222230}"/>
              </a:ext>
            </a:extLst>
          </p:cNvPr>
          <p:cNvGrpSpPr/>
          <p:nvPr/>
        </p:nvGrpSpPr>
        <p:grpSpPr>
          <a:xfrm>
            <a:off x="11837044" y="5660020"/>
            <a:ext cx="354956" cy="1207812"/>
            <a:chOff x="11837044" y="5660020"/>
            <a:chExt cx="354956" cy="1207812"/>
          </a:xfrm>
        </p:grpSpPr>
        <p:sp>
          <p:nvSpPr>
            <p:cNvPr id="13" name="Rectangle 12">
              <a:extLst>
                <a:ext uri="{FF2B5EF4-FFF2-40B4-BE49-F238E27FC236}">
                  <a16:creationId xmlns:a16="http://schemas.microsoft.com/office/drawing/2014/main" id="{193428F7-D93C-E9F8-167B-0F09333F47B4}"/>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sp>
          <p:nvSpPr>
            <p:cNvPr id="12" name="Rectangle 11">
              <a:extLst>
                <a:ext uri="{FF2B5EF4-FFF2-40B4-BE49-F238E27FC236}">
                  <a16:creationId xmlns:a16="http://schemas.microsoft.com/office/drawing/2014/main" id="{B684619C-5827-36F1-6E68-6C92D20B4EED}"/>
                </a:ext>
              </a:extLst>
            </p:cNvPr>
            <p:cNvSpPr/>
            <p:nvPr/>
          </p:nvSpPr>
          <p:spPr>
            <a:xfrm>
              <a:off x="11837044" y="5665113"/>
              <a:ext cx="177478"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grpSp>
      <p:sp>
        <p:nvSpPr>
          <p:cNvPr id="23" name="TextBox 22">
            <a:extLst>
              <a:ext uri="{FF2B5EF4-FFF2-40B4-BE49-F238E27FC236}">
                <a16:creationId xmlns:a16="http://schemas.microsoft.com/office/drawing/2014/main" id="{34BCA3B4-209B-0170-9188-30A5FFAA102B}"/>
              </a:ext>
            </a:extLst>
          </p:cNvPr>
          <p:cNvSpPr txBox="1"/>
          <p:nvPr/>
        </p:nvSpPr>
        <p:spPr>
          <a:xfrm>
            <a:off x="7674015" y="1266581"/>
            <a:ext cx="3948384" cy="584775"/>
          </a:xfrm>
          <a:prstGeom prst="rect">
            <a:avLst/>
          </a:prstGeom>
          <a:noFill/>
        </p:spPr>
        <p:txBody>
          <a:bodyPr wrap="square" rtlCol="0">
            <a:spAutoFit/>
          </a:bodyPr>
          <a:lstStyle/>
          <a:p>
            <a:pPr algn="r"/>
            <a:r>
              <a:rPr lang="ar-SA" sz="3200" b="1" dirty="0">
                <a:solidFill>
                  <a:srgbClr val="1F62FB"/>
                </a:solidFill>
                <a:latin typeface="JF Flat" panose="02000500000000000000" pitchFamily="50" charset="-78"/>
              </a:rPr>
              <a:t>لماذا طيب؟</a:t>
            </a:r>
            <a:endParaRPr lang="en-US" sz="3200" b="1" dirty="0">
              <a:solidFill>
                <a:srgbClr val="1F62FB"/>
              </a:solidFill>
              <a:latin typeface="JF Flat" panose="02000500000000000000" pitchFamily="50" charset="-78"/>
            </a:endParaRPr>
          </a:p>
        </p:txBody>
      </p:sp>
      <p:grpSp>
        <p:nvGrpSpPr>
          <p:cNvPr id="27" name="Group 26">
            <a:extLst>
              <a:ext uri="{FF2B5EF4-FFF2-40B4-BE49-F238E27FC236}">
                <a16:creationId xmlns:a16="http://schemas.microsoft.com/office/drawing/2014/main" id="{CB0349C4-7B3A-892D-F117-63FC56ABE0D2}"/>
              </a:ext>
            </a:extLst>
          </p:cNvPr>
          <p:cNvGrpSpPr/>
          <p:nvPr/>
        </p:nvGrpSpPr>
        <p:grpSpPr>
          <a:xfrm rot="16200000">
            <a:off x="8844459" y="-2593678"/>
            <a:ext cx="118171" cy="6576902"/>
            <a:chOff x="11838962" y="5660020"/>
            <a:chExt cx="353038" cy="1202719"/>
          </a:xfrm>
        </p:grpSpPr>
        <p:sp>
          <p:nvSpPr>
            <p:cNvPr id="28" name="Rectangle 27">
              <a:extLst>
                <a:ext uri="{FF2B5EF4-FFF2-40B4-BE49-F238E27FC236}">
                  <a16:creationId xmlns:a16="http://schemas.microsoft.com/office/drawing/2014/main" id="{5BD27FE5-5678-34C0-636C-203959CFE783}"/>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sp>
          <p:nvSpPr>
            <p:cNvPr id="29" name="Rectangle 28">
              <a:extLst>
                <a:ext uri="{FF2B5EF4-FFF2-40B4-BE49-F238E27FC236}">
                  <a16:creationId xmlns:a16="http://schemas.microsoft.com/office/drawing/2014/main" id="{BF89895D-CF8F-8F8D-1291-12995B9B7467}"/>
                </a:ext>
              </a:extLst>
            </p:cNvPr>
            <p:cNvSpPr/>
            <p:nvPr/>
          </p:nvSpPr>
          <p:spPr>
            <a:xfrm>
              <a:off x="11838962" y="5660020"/>
              <a:ext cx="177479"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grpSp>
      <p:grpSp>
        <p:nvGrpSpPr>
          <p:cNvPr id="14" name="Group 13">
            <a:extLst>
              <a:ext uri="{FF2B5EF4-FFF2-40B4-BE49-F238E27FC236}">
                <a16:creationId xmlns:a16="http://schemas.microsoft.com/office/drawing/2014/main" id="{473AB9E7-3E51-3EDA-DC83-4690BE490175}"/>
              </a:ext>
            </a:extLst>
          </p:cNvPr>
          <p:cNvGrpSpPr/>
          <p:nvPr/>
        </p:nvGrpSpPr>
        <p:grpSpPr>
          <a:xfrm>
            <a:off x="8316" y="2215560"/>
            <a:ext cx="10728960" cy="4652269"/>
            <a:chOff x="38796" y="2758459"/>
            <a:chExt cx="10728960" cy="6201192"/>
          </a:xfrm>
        </p:grpSpPr>
        <p:sp>
          <p:nvSpPr>
            <p:cNvPr id="36" name="Rectangle 35">
              <a:extLst>
                <a:ext uri="{FF2B5EF4-FFF2-40B4-BE49-F238E27FC236}">
                  <a16:creationId xmlns:a16="http://schemas.microsoft.com/office/drawing/2014/main" id="{A4BC654F-CD41-3CE4-A4F6-2303827895B8}"/>
                </a:ext>
              </a:extLst>
            </p:cNvPr>
            <p:cNvSpPr/>
            <p:nvPr/>
          </p:nvSpPr>
          <p:spPr>
            <a:xfrm>
              <a:off x="38796" y="2758459"/>
              <a:ext cx="10728960" cy="6201192"/>
            </a:xfrm>
            <a:prstGeom prst="rect">
              <a:avLst/>
            </a:prstGeom>
            <a:solidFill>
              <a:schemeClr val="bg1"/>
            </a:solidFill>
            <a:ln>
              <a:noFill/>
            </a:ln>
            <a:effectLst>
              <a:outerShdw blurRad="1651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TextBox 39">
              <a:extLst>
                <a:ext uri="{FF2B5EF4-FFF2-40B4-BE49-F238E27FC236}">
                  <a16:creationId xmlns:a16="http://schemas.microsoft.com/office/drawing/2014/main" id="{9F8B925D-2B9B-A580-E2A6-004D6435BD40}"/>
                </a:ext>
              </a:extLst>
            </p:cNvPr>
            <p:cNvSpPr txBox="1"/>
            <p:nvPr/>
          </p:nvSpPr>
          <p:spPr>
            <a:xfrm>
              <a:off x="1564640" y="3151179"/>
              <a:ext cx="8961120" cy="5184674"/>
            </a:xfrm>
            <a:prstGeom prst="rect">
              <a:avLst/>
            </a:prstGeom>
            <a:noFill/>
          </p:spPr>
          <p:txBody>
            <a:bodyPr wrap="square" rtlCol="0">
              <a:spAutoFit/>
            </a:bodyPr>
            <a:lstStyle/>
            <a:p>
              <a:pPr algn="just" rtl="1">
                <a:lnSpc>
                  <a:spcPct val="150000"/>
                </a:lnSpc>
                <a:spcAft>
                  <a:spcPts val="800"/>
                </a:spcAft>
              </a:pPr>
              <a:r>
                <a:rPr lang="ar-SA" dirty="0">
                  <a:solidFill>
                    <a:srgbClr val="57586D"/>
                  </a:solidFill>
                  <a:latin typeface="Calibri" panose="020F0502020204030204" pitchFamily="34" charset="0"/>
                  <a:ea typeface="Calibri" panose="020F0502020204030204" pitchFamily="34" charset="0"/>
                </a:rPr>
                <a:t>تسعى شركة طيب </a:t>
              </a:r>
              <a:r>
                <a:rPr lang="ar-SA" sz="1800" dirty="0">
                  <a:solidFill>
                    <a:srgbClr val="57586D"/>
                  </a:solidFill>
                  <a:latin typeface="Calibri" panose="020F0502020204030204" pitchFamily="34" charset="0"/>
                  <a:ea typeface="Calibri" panose="020F0502020204030204" pitchFamily="34" charset="0"/>
                </a:rPr>
                <a:t>لتواكب رؤية المملكة 2030 في دعم القطاع الصحي وذلك بالتزامها بتوفي</a:t>
              </a:r>
              <a:r>
                <a:rPr lang="ar-SA" sz="1800" dirty="0">
                  <a:solidFill>
                    <a:srgbClr val="57586D"/>
                  </a:solidFill>
                  <a:effectLst/>
                  <a:latin typeface="Calibri" panose="020F0502020204030204" pitchFamily="34" charset="0"/>
                  <a:ea typeface="Calibri" panose="020F0502020204030204" pitchFamily="34" charset="0"/>
                </a:rPr>
                <a:t>ر الخدمات الطبية المتخصصة والمبتكرة وفق أعلى معايير الممارسات الطبية لجميع المستفيدين من القطاعي الخاص والعام في المملكة العربية السعودية و</a:t>
              </a:r>
              <a:r>
                <a:rPr lang="ar-SA" sz="1800" dirty="0">
                  <a:solidFill>
                    <a:srgbClr val="57586D"/>
                  </a:solidFill>
                  <a:latin typeface="JF Flat" panose="02000500000000000000" pitchFamily="50" charset="-78"/>
                </a:rPr>
                <a:t>تحسين تجربة المرضى وجودة حياتهم وتعزيز رفاهيتهم باستثمار كافة الوسائل التقنية من خلال منصة حل متكاملة لتقديم خدمات الرعاية الصحية للمستفيدين في أماكن راحتهم.</a:t>
              </a:r>
              <a:endParaRPr lang="en-US" sz="1800" dirty="0">
                <a:solidFill>
                  <a:srgbClr val="57586D"/>
                </a:solidFill>
                <a:latin typeface="JF Flat" panose="02000500000000000000" pitchFamily="50" charset="-78"/>
              </a:endParaRPr>
            </a:p>
            <a:p>
              <a:pPr marL="0" marR="0" algn="just" rtl="1">
                <a:lnSpc>
                  <a:spcPct val="150000"/>
                </a:lnSpc>
                <a:spcBef>
                  <a:spcPts val="0"/>
                </a:spcBef>
                <a:spcAft>
                  <a:spcPts val="800"/>
                </a:spcAft>
              </a:pPr>
              <a:r>
                <a:rPr lang="ar-SA" sz="1800" dirty="0">
                  <a:solidFill>
                    <a:srgbClr val="57586D"/>
                  </a:solidFill>
                  <a:effectLst/>
                  <a:latin typeface="Calibri" panose="020F0502020204030204" pitchFamily="34" charset="0"/>
                  <a:ea typeface="Calibri" panose="020F0502020204030204" pitchFamily="34" charset="0"/>
                </a:rPr>
                <a:t>كما تحرص شركة طيب على خدمة عملائها في كافة مجالات الرعاية المنزلية من حيث </a:t>
              </a:r>
              <a:r>
                <a:rPr lang="ar-SA" sz="1800" dirty="0" err="1">
                  <a:solidFill>
                    <a:srgbClr val="57586D"/>
                  </a:solidFill>
                  <a:effectLst/>
                  <a:latin typeface="Calibri" panose="020F0502020204030204" pitchFamily="34" charset="0"/>
                  <a:ea typeface="Calibri" panose="020F0502020204030204" pitchFamily="34" charset="0"/>
                </a:rPr>
                <a:t>إلتزامها</a:t>
              </a:r>
              <a:r>
                <a:rPr lang="ar-SA" sz="1800" dirty="0">
                  <a:solidFill>
                    <a:srgbClr val="57586D"/>
                  </a:solidFill>
                  <a:effectLst/>
                  <a:latin typeface="Calibri" panose="020F0502020204030204" pitchFamily="34" charset="0"/>
                  <a:ea typeface="Calibri" panose="020F0502020204030204" pitchFamily="34" charset="0"/>
                </a:rPr>
                <a:t> بالتميز من خلال منهجها الشامل وتوفير خدمات علاجية ووقائية وتأهيلية وتثقيفية، بالإضافة إلى التحقق من صحة مهارات كوادرها الطبية والإدارية لتقديم أعلى معايير خدمات الرعاية الصحية المنزلية التي نسعى من خلالها للمساهمة في الرفاهية الجسدية والنفسية </a:t>
              </a:r>
              <a:r>
                <a:rPr lang="ar-SA" sz="1800" dirty="0" err="1">
                  <a:solidFill>
                    <a:srgbClr val="57586D"/>
                  </a:solidFill>
                  <a:effectLst/>
                  <a:latin typeface="Calibri" panose="020F0502020204030204" pitchFamily="34" charset="0"/>
                  <a:ea typeface="Calibri" panose="020F0502020204030204" pitchFamily="34" charset="0"/>
                </a:rPr>
                <a:t>والإجتماعية</a:t>
              </a:r>
              <a:r>
                <a:rPr lang="ar-SA" sz="1800" dirty="0">
                  <a:solidFill>
                    <a:srgbClr val="57586D"/>
                  </a:solidFill>
                  <a:effectLst/>
                  <a:latin typeface="Calibri" panose="020F0502020204030204" pitchFamily="34" charset="0"/>
                  <a:ea typeface="Calibri" panose="020F0502020204030204" pitchFamily="34" charset="0"/>
                </a:rPr>
                <a:t> لعملائنا ومرافقيهم في راحة منازلهم وذلك بوضع وتنفيذ أعلى خطط الرعاية التي تتمحور حول عملائنا لتلبية جميع </a:t>
              </a:r>
              <a:r>
                <a:rPr lang="ar-SA" sz="1800" dirty="0" err="1">
                  <a:solidFill>
                    <a:srgbClr val="57586D"/>
                  </a:solidFill>
                  <a:effectLst/>
                  <a:latin typeface="Calibri" panose="020F0502020204030204" pitchFamily="34" charset="0"/>
                  <a:ea typeface="Calibri" panose="020F0502020204030204" pitchFamily="34" charset="0"/>
                </a:rPr>
                <a:t>إحتياجاتهم</a:t>
              </a:r>
              <a:r>
                <a:rPr lang="ar-SA" sz="1800" dirty="0">
                  <a:solidFill>
                    <a:srgbClr val="57586D"/>
                  </a:solidFill>
                  <a:effectLst/>
                  <a:latin typeface="Calibri" panose="020F0502020204030204" pitchFamily="34" charset="0"/>
                  <a:ea typeface="Calibri" panose="020F0502020204030204" pitchFamily="34" charset="0"/>
                </a:rPr>
                <a:t> وتزويدهم بتجربة فردية </a:t>
              </a:r>
              <a:r>
                <a:rPr lang="ar-SA" sz="1800" dirty="0" err="1">
                  <a:solidFill>
                    <a:srgbClr val="57586D"/>
                  </a:solidFill>
                  <a:effectLst/>
                  <a:latin typeface="Calibri" panose="020F0502020204030204" pitchFamily="34" charset="0"/>
                  <a:ea typeface="Calibri" panose="020F0502020204030204" pitchFamily="34" charset="0"/>
                </a:rPr>
                <a:t>تتلائم</a:t>
              </a:r>
              <a:r>
                <a:rPr lang="ar-SA" sz="1800" dirty="0">
                  <a:solidFill>
                    <a:srgbClr val="57586D"/>
                  </a:solidFill>
                  <a:effectLst/>
                  <a:latin typeface="Calibri" panose="020F0502020204030204" pitchFamily="34" charset="0"/>
                  <a:ea typeface="Calibri" panose="020F0502020204030204" pitchFamily="34" charset="0"/>
                </a:rPr>
                <a:t> مع أهدافهم الشخصية وتساعدهم في تحسين </a:t>
              </a:r>
              <a:r>
                <a:rPr lang="ar-SA" sz="1800" dirty="0" err="1">
                  <a:solidFill>
                    <a:srgbClr val="57586D"/>
                  </a:solidFill>
                  <a:effectLst/>
                  <a:latin typeface="Calibri" panose="020F0502020204030204" pitchFamily="34" charset="0"/>
                  <a:ea typeface="Calibri" panose="020F0502020204030204" pitchFamily="34" charset="0"/>
                </a:rPr>
                <a:t>كفائتهم</a:t>
              </a:r>
              <a:r>
                <a:rPr lang="ar-SA" sz="1800" dirty="0">
                  <a:solidFill>
                    <a:srgbClr val="57586D"/>
                  </a:solidFill>
                  <a:effectLst/>
                  <a:latin typeface="Calibri" panose="020F0502020204030204" pitchFamily="34" charset="0"/>
                  <a:ea typeface="Calibri" panose="020F0502020204030204" pitchFamily="34" charset="0"/>
                </a:rPr>
                <a:t> ومهاراتهم الذاتية.</a:t>
              </a:r>
              <a:endParaRPr lang="en-US" sz="1800" dirty="0">
                <a:solidFill>
                  <a:srgbClr val="57586D"/>
                </a:solidFill>
                <a:effectLst/>
                <a:latin typeface="Calibri" panose="020F0502020204030204" pitchFamily="34" charset="0"/>
                <a:ea typeface="Calibri" panose="020F0502020204030204" pitchFamily="34" charset="0"/>
              </a:endParaRPr>
            </a:p>
          </p:txBody>
        </p:sp>
      </p:grpSp>
      <p:sp>
        <p:nvSpPr>
          <p:cNvPr id="15" name="Rectangle 14">
            <a:extLst>
              <a:ext uri="{FF2B5EF4-FFF2-40B4-BE49-F238E27FC236}">
                <a16:creationId xmlns:a16="http://schemas.microsoft.com/office/drawing/2014/main" id="{21D7C10F-064F-570A-DC62-0CB4AC8352EE}"/>
              </a:ext>
            </a:extLst>
          </p:cNvPr>
          <p:cNvSpPr/>
          <p:nvPr/>
        </p:nvSpPr>
        <p:spPr>
          <a:xfrm>
            <a:off x="-5742" y="2215560"/>
            <a:ext cx="1235102" cy="465259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pic>
        <p:nvPicPr>
          <p:cNvPr id="11" name="Graphic 10" descr="Send with solid fill">
            <a:extLst>
              <a:ext uri="{FF2B5EF4-FFF2-40B4-BE49-F238E27FC236}">
                <a16:creationId xmlns:a16="http://schemas.microsoft.com/office/drawing/2014/main" id="{383EF963-5945-2277-6866-7100BE5778E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3662" y="74708"/>
            <a:ext cx="5743214" cy="5743214"/>
          </a:xfrm>
          <a:prstGeom prst="rect">
            <a:avLst/>
          </a:prstGeom>
        </p:spPr>
      </p:pic>
    </p:spTree>
    <p:extLst>
      <p:ext uri="{BB962C8B-B14F-4D97-AF65-F5344CB8AC3E}">
        <p14:creationId xmlns:p14="http://schemas.microsoft.com/office/powerpoint/2010/main" val="3009203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A4BC654F-CD41-3CE4-A4F6-2303827895B8}"/>
              </a:ext>
            </a:extLst>
          </p:cNvPr>
          <p:cNvSpPr/>
          <p:nvPr/>
        </p:nvSpPr>
        <p:spPr>
          <a:xfrm>
            <a:off x="0" y="2078098"/>
            <a:ext cx="10728960" cy="4779902"/>
          </a:xfrm>
          <a:prstGeom prst="rect">
            <a:avLst/>
          </a:prstGeom>
          <a:solidFill>
            <a:schemeClr val="bg1"/>
          </a:solidFill>
          <a:ln>
            <a:noFill/>
          </a:ln>
          <a:effectLst>
            <a:outerShdw blurRad="1651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8" name="Graphic 37" descr="Eye with solid fill">
            <a:extLst>
              <a:ext uri="{FF2B5EF4-FFF2-40B4-BE49-F238E27FC236}">
                <a16:creationId xmlns:a16="http://schemas.microsoft.com/office/drawing/2014/main" id="{73A86FD3-7D07-B086-6135-888522533D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1877" y="0"/>
            <a:ext cx="7565862" cy="6322941"/>
          </a:xfrm>
          <a:prstGeom prst="rect">
            <a:avLst/>
          </a:prstGeom>
        </p:spPr>
      </p:pic>
      <p:pic>
        <p:nvPicPr>
          <p:cNvPr id="17" name="Graphic 16">
            <a:extLst>
              <a:ext uri="{FF2B5EF4-FFF2-40B4-BE49-F238E27FC236}">
                <a16:creationId xmlns:a16="http://schemas.microsoft.com/office/drawing/2014/main" id="{2D8193C0-2859-DF90-7C0E-732BE2143945}"/>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28515" y="131075"/>
            <a:ext cx="1066643" cy="490079"/>
          </a:xfrm>
          <a:prstGeom prst="rect">
            <a:avLst/>
          </a:prstGeom>
        </p:spPr>
      </p:pic>
      <p:grpSp>
        <p:nvGrpSpPr>
          <p:cNvPr id="2" name="Group 1">
            <a:extLst>
              <a:ext uri="{FF2B5EF4-FFF2-40B4-BE49-F238E27FC236}">
                <a16:creationId xmlns:a16="http://schemas.microsoft.com/office/drawing/2014/main" id="{FE50E211-5F1F-DC0F-D95D-0638997E3D02}"/>
              </a:ext>
            </a:extLst>
          </p:cNvPr>
          <p:cNvGrpSpPr/>
          <p:nvPr/>
        </p:nvGrpSpPr>
        <p:grpSpPr>
          <a:xfrm>
            <a:off x="-987674" y="-1460547"/>
            <a:ext cx="1094940" cy="461397"/>
            <a:chOff x="2032724" y="505505"/>
            <a:chExt cx="6363131" cy="461397"/>
          </a:xfrm>
        </p:grpSpPr>
        <p:sp>
          <p:nvSpPr>
            <p:cNvPr id="3" name="Rectangle 2">
              <a:extLst>
                <a:ext uri="{FF2B5EF4-FFF2-40B4-BE49-F238E27FC236}">
                  <a16:creationId xmlns:a16="http://schemas.microsoft.com/office/drawing/2014/main" id="{C8A5BA57-3A3A-B474-51CD-EB8BAB258E7C}"/>
                </a:ext>
              </a:extLst>
            </p:cNvPr>
            <p:cNvSpPr/>
            <p:nvPr/>
          </p:nvSpPr>
          <p:spPr>
            <a:xfrm>
              <a:off x="7600051" y="506059"/>
              <a:ext cx="795804" cy="460843"/>
            </a:xfrm>
            <a:prstGeom prst="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6ADF90C-3B6D-B761-AA60-53A922829CCA}"/>
                </a:ext>
              </a:extLst>
            </p:cNvPr>
            <p:cNvSpPr/>
            <p:nvPr/>
          </p:nvSpPr>
          <p:spPr>
            <a:xfrm>
              <a:off x="6804247" y="506059"/>
              <a:ext cx="795804" cy="460843"/>
            </a:xfrm>
            <a:prstGeom prst="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5A64A07-CB56-717E-B5D5-9875A3440D1C}"/>
                </a:ext>
              </a:extLst>
            </p:cNvPr>
            <p:cNvSpPr/>
            <p:nvPr/>
          </p:nvSpPr>
          <p:spPr>
            <a:xfrm>
              <a:off x="6008443" y="506059"/>
              <a:ext cx="795804" cy="460843"/>
            </a:xfrm>
            <a:prstGeom prst="rect">
              <a:avLst/>
            </a:pr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87F96E8-C677-5EA3-0BB8-DE4E965DFBA2}"/>
                </a:ext>
              </a:extLst>
            </p:cNvPr>
            <p:cNvSpPr/>
            <p:nvPr/>
          </p:nvSpPr>
          <p:spPr>
            <a:xfrm>
              <a:off x="5212639" y="506059"/>
              <a:ext cx="795804" cy="460843"/>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D8667FC-23F8-9973-4BD7-3340D83E032A}"/>
                </a:ext>
              </a:extLst>
            </p:cNvPr>
            <p:cNvSpPr/>
            <p:nvPr/>
          </p:nvSpPr>
          <p:spPr>
            <a:xfrm>
              <a:off x="4416835" y="506059"/>
              <a:ext cx="795804" cy="460843"/>
            </a:xfrm>
            <a:prstGeom prst="rect">
              <a:avLst/>
            </a:prstGeom>
            <a:solidFill>
              <a:srgbClr val="D94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A2AB70-1D5B-F9B8-7AEF-B7672B6AB8FF}"/>
                </a:ext>
              </a:extLst>
            </p:cNvPr>
            <p:cNvSpPr/>
            <p:nvPr/>
          </p:nvSpPr>
          <p:spPr>
            <a:xfrm>
              <a:off x="3621031" y="506059"/>
              <a:ext cx="795804" cy="460843"/>
            </a:xfrm>
            <a:prstGeom prst="rect">
              <a:avLst/>
            </a:prstGeom>
            <a:solidFill>
              <a:srgbClr val="575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9AA16A8-3FBF-4E7C-C4B9-43C9023BE7C2}"/>
                </a:ext>
              </a:extLst>
            </p:cNvPr>
            <p:cNvSpPr/>
            <p:nvPr/>
          </p:nvSpPr>
          <p:spPr>
            <a:xfrm>
              <a:off x="2825227" y="506059"/>
              <a:ext cx="795804" cy="460843"/>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4AC728B-C6DC-EFB2-2808-BCB39C321683}"/>
                </a:ext>
              </a:extLst>
            </p:cNvPr>
            <p:cNvSpPr/>
            <p:nvPr/>
          </p:nvSpPr>
          <p:spPr>
            <a:xfrm>
              <a:off x="2032724" y="505505"/>
              <a:ext cx="795804" cy="460843"/>
            </a:xfrm>
            <a:prstGeom prst="rect">
              <a:avLst/>
            </a:prstGeom>
            <a:solidFill>
              <a:srgbClr val="0A0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94C11EDB-824D-35D2-AAF2-A55771222230}"/>
              </a:ext>
            </a:extLst>
          </p:cNvPr>
          <p:cNvGrpSpPr/>
          <p:nvPr/>
        </p:nvGrpSpPr>
        <p:grpSpPr>
          <a:xfrm>
            <a:off x="11837044" y="5660020"/>
            <a:ext cx="354956" cy="1207812"/>
            <a:chOff x="11837044" y="5660020"/>
            <a:chExt cx="354956" cy="1207812"/>
          </a:xfrm>
        </p:grpSpPr>
        <p:sp>
          <p:nvSpPr>
            <p:cNvPr id="13" name="Rectangle 12">
              <a:extLst>
                <a:ext uri="{FF2B5EF4-FFF2-40B4-BE49-F238E27FC236}">
                  <a16:creationId xmlns:a16="http://schemas.microsoft.com/office/drawing/2014/main" id="{193428F7-D93C-E9F8-167B-0F09333F47B4}"/>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sp>
          <p:nvSpPr>
            <p:cNvPr id="12" name="Rectangle 11">
              <a:extLst>
                <a:ext uri="{FF2B5EF4-FFF2-40B4-BE49-F238E27FC236}">
                  <a16:creationId xmlns:a16="http://schemas.microsoft.com/office/drawing/2014/main" id="{B684619C-5827-36F1-6E68-6C92D20B4EED}"/>
                </a:ext>
              </a:extLst>
            </p:cNvPr>
            <p:cNvSpPr/>
            <p:nvPr/>
          </p:nvSpPr>
          <p:spPr>
            <a:xfrm>
              <a:off x="11837044" y="5665113"/>
              <a:ext cx="177478"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grpSp>
      <p:grpSp>
        <p:nvGrpSpPr>
          <p:cNvPr id="27" name="Group 26">
            <a:extLst>
              <a:ext uri="{FF2B5EF4-FFF2-40B4-BE49-F238E27FC236}">
                <a16:creationId xmlns:a16="http://schemas.microsoft.com/office/drawing/2014/main" id="{CB0349C4-7B3A-892D-F117-63FC56ABE0D2}"/>
              </a:ext>
            </a:extLst>
          </p:cNvPr>
          <p:cNvGrpSpPr/>
          <p:nvPr/>
        </p:nvGrpSpPr>
        <p:grpSpPr>
          <a:xfrm rot="16200000">
            <a:off x="8844459" y="-2593678"/>
            <a:ext cx="118171" cy="6576902"/>
            <a:chOff x="11838962" y="5660020"/>
            <a:chExt cx="353038" cy="1202719"/>
          </a:xfrm>
        </p:grpSpPr>
        <p:sp>
          <p:nvSpPr>
            <p:cNvPr id="28" name="Rectangle 27">
              <a:extLst>
                <a:ext uri="{FF2B5EF4-FFF2-40B4-BE49-F238E27FC236}">
                  <a16:creationId xmlns:a16="http://schemas.microsoft.com/office/drawing/2014/main" id="{5BD27FE5-5678-34C0-636C-203959CFE783}"/>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sp>
          <p:nvSpPr>
            <p:cNvPr id="29" name="Rectangle 28">
              <a:extLst>
                <a:ext uri="{FF2B5EF4-FFF2-40B4-BE49-F238E27FC236}">
                  <a16:creationId xmlns:a16="http://schemas.microsoft.com/office/drawing/2014/main" id="{BF89895D-CF8F-8F8D-1291-12995B9B7467}"/>
                </a:ext>
              </a:extLst>
            </p:cNvPr>
            <p:cNvSpPr/>
            <p:nvPr/>
          </p:nvSpPr>
          <p:spPr>
            <a:xfrm>
              <a:off x="11838962" y="5660020"/>
              <a:ext cx="177479"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grpSp>
      <p:grpSp>
        <p:nvGrpSpPr>
          <p:cNvPr id="39" name="Group 38">
            <a:extLst>
              <a:ext uri="{FF2B5EF4-FFF2-40B4-BE49-F238E27FC236}">
                <a16:creationId xmlns:a16="http://schemas.microsoft.com/office/drawing/2014/main" id="{58F40D9F-E42F-51DB-E4A8-1225F1B31DBE}"/>
              </a:ext>
            </a:extLst>
          </p:cNvPr>
          <p:cNvGrpSpPr/>
          <p:nvPr/>
        </p:nvGrpSpPr>
        <p:grpSpPr>
          <a:xfrm>
            <a:off x="5659120" y="2658733"/>
            <a:ext cx="4503969" cy="686086"/>
            <a:chOff x="7118429" y="1700661"/>
            <a:chExt cx="4503969" cy="686086"/>
          </a:xfrm>
        </p:grpSpPr>
        <p:sp>
          <p:nvSpPr>
            <p:cNvPr id="34" name="Rectangle: Rounded Corners 33">
              <a:extLst>
                <a:ext uri="{FF2B5EF4-FFF2-40B4-BE49-F238E27FC236}">
                  <a16:creationId xmlns:a16="http://schemas.microsoft.com/office/drawing/2014/main" id="{A60B7F5A-9EE7-0563-8A08-A1643C6A5DCE}"/>
                </a:ext>
              </a:extLst>
            </p:cNvPr>
            <p:cNvSpPr/>
            <p:nvPr/>
          </p:nvSpPr>
          <p:spPr>
            <a:xfrm>
              <a:off x="7118429" y="1700661"/>
              <a:ext cx="4503969" cy="686086"/>
            </a:xfrm>
            <a:prstGeom prst="roundRect">
              <a:avLst/>
            </a:prstGeom>
            <a:noFill/>
            <a:ln>
              <a:solidFill>
                <a:srgbClr val="749EF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678AF03F-4668-D12A-8082-A1EC582DE41E}"/>
                </a:ext>
              </a:extLst>
            </p:cNvPr>
            <p:cNvSpPr txBox="1"/>
            <p:nvPr/>
          </p:nvSpPr>
          <p:spPr>
            <a:xfrm>
              <a:off x="7118429" y="1805276"/>
              <a:ext cx="4404784" cy="456535"/>
            </a:xfrm>
            <a:prstGeom prst="rect">
              <a:avLst/>
            </a:prstGeom>
            <a:noFill/>
          </p:spPr>
          <p:txBody>
            <a:bodyPr wrap="square" rtlCol="0" anchor="ctr">
              <a:spAutoFit/>
            </a:bodyPr>
            <a:lstStyle>
              <a:defPPr>
                <a:defRPr lang="en-US"/>
              </a:defPPr>
              <a:lvl1pPr algn="just" rtl="1">
                <a:lnSpc>
                  <a:spcPct val="150000"/>
                </a:lnSpc>
                <a:defRPr sz="2400">
                  <a:latin typeface="JF Flat" panose="02000500000000000000" pitchFamily="50" charset="-78"/>
                  <a:cs typeface="JF Flat" panose="02000500000000000000" pitchFamily="50" charset="-78"/>
                </a:defRPr>
              </a:lvl1pPr>
            </a:lstStyle>
            <a:p>
              <a:pPr algn="r"/>
              <a:r>
                <a:rPr lang="ar-SA" sz="1800" dirty="0">
                  <a:solidFill>
                    <a:srgbClr val="57586D"/>
                  </a:solidFill>
                  <a:cs typeface="+mn-cs"/>
                  <a:sym typeface="Calibri"/>
                </a:rPr>
                <a:t>أن نكون نموذجاً رائداً في تقديم وتعزيز الرعاية المنزلية</a:t>
              </a:r>
            </a:p>
          </p:txBody>
        </p:sp>
      </p:grpSp>
      <p:sp>
        <p:nvSpPr>
          <p:cNvPr id="37" name="Rectangle 36">
            <a:extLst>
              <a:ext uri="{FF2B5EF4-FFF2-40B4-BE49-F238E27FC236}">
                <a16:creationId xmlns:a16="http://schemas.microsoft.com/office/drawing/2014/main" id="{CAF962F6-6487-2C00-0492-36780B31FA43}"/>
              </a:ext>
            </a:extLst>
          </p:cNvPr>
          <p:cNvSpPr/>
          <p:nvPr/>
        </p:nvSpPr>
        <p:spPr>
          <a:xfrm>
            <a:off x="-5742" y="2078098"/>
            <a:ext cx="1235102" cy="4779902"/>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sp>
        <p:nvSpPr>
          <p:cNvPr id="40" name="TextBox 39">
            <a:extLst>
              <a:ext uri="{FF2B5EF4-FFF2-40B4-BE49-F238E27FC236}">
                <a16:creationId xmlns:a16="http://schemas.microsoft.com/office/drawing/2014/main" id="{9F8B925D-2B9B-A580-E2A6-004D6435BD40}"/>
              </a:ext>
            </a:extLst>
          </p:cNvPr>
          <p:cNvSpPr txBox="1"/>
          <p:nvPr/>
        </p:nvSpPr>
        <p:spPr>
          <a:xfrm>
            <a:off x="1993768" y="3699378"/>
            <a:ext cx="8169321" cy="1719702"/>
          </a:xfrm>
          <a:prstGeom prst="rect">
            <a:avLst/>
          </a:prstGeom>
          <a:noFill/>
        </p:spPr>
        <p:txBody>
          <a:bodyPr wrap="square" rtlCol="0">
            <a:spAutoFit/>
          </a:bodyPr>
          <a:lstStyle/>
          <a:p>
            <a:pPr algn="just" rtl="1">
              <a:lnSpc>
                <a:spcPct val="150000"/>
              </a:lnSpc>
            </a:pPr>
            <a:r>
              <a:rPr lang="ar-SA" dirty="0">
                <a:solidFill>
                  <a:srgbClr val="57586D"/>
                </a:solidFill>
                <a:latin typeface="JF Flat" panose="02000500000000000000" pitchFamily="50" charset="-78"/>
              </a:rPr>
              <a:t>نسعى في شركة طيب أن نكون علامة تجارية متميزة ورائدة في خدمات الرعاية الصحية المنزلية  في المملكة العربية السعودية من خلال السعي لتبني أحدث </a:t>
            </a:r>
            <a:r>
              <a:rPr lang="ar-SA" dirty="0" err="1">
                <a:solidFill>
                  <a:srgbClr val="57586D"/>
                </a:solidFill>
                <a:latin typeface="JF Flat" panose="02000500000000000000" pitchFamily="50" charset="-78"/>
              </a:rPr>
              <a:t>الإبتكارات</a:t>
            </a:r>
            <a:r>
              <a:rPr lang="ar-SA" dirty="0">
                <a:solidFill>
                  <a:srgbClr val="57586D"/>
                </a:solidFill>
                <a:latin typeface="JF Flat" panose="02000500000000000000" pitchFamily="50" charset="-78"/>
              </a:rPr>
              <a:t> الطبية ذات التأثير الإيجابي على خدمات الرعاية الصحية المنزلية في المملكة وذلك ببناء خطط إستراتيجية محكمة ومتكاملة تتحدى الواقع وتستثمر كافة الموارد المادية والبشرية وتنطلق نحو المستقبل لتحقيق رؤيتنا المرجوة. </a:t>
            </a:r>
            <a:endParaRPr lang="en-US" dirty="0">
              <a:solidFill>
                <a:srgbClr val="57586D"/>
              </a:solidFill>
              <a:latin typeface="JF Flat" panose="02000500000000000000" pitchFamily="50" charset="-78"/>
            </a:endParaRPr>
          </a:p>
        </p:txBody>
      </p:sp>
      <p:sp>
        <p:nvSpPr>
          <p:cNvPr id="47" name="TextBox 46">
            <a:extLst>
              <a:ext uri="{FF2B5EF4-FFF2-40B4-BE49-F238E27FC236}">
                <a16:creationId xmlns:a16="http://schemas.microsoft.com/office/drawing/2014/main" id="{5B3641D6-2890-4929-A5D1-4CD3B8F3D99E}"/>
              </a:ext>
            </a:extLst>
          </p:cNvPr>
          <p:cNvSpPr txBox="1"/>
          <p:nvPr/>
        </p:nvSpPr>
        <p:spPr>
          <a:xfrm>
            <a:off x="3788229" y="904138"/>
            <a:ext cx="8048815" cy="584775"/>
          </a:xfrm>
          <a:prstGeom prst="rect">
            <a:avLst/>
          </a:prstGeom>
          <a:noFill/>
        </p:spPr>
        <p:txBody>
          <a:bodyPr wrap="square" rtlCol="0">
            <a:spAutoFit/>
          </a:bodyPr>
          <a:lstStyle/>
          <a:p>
            <a:pPr algn="r"/>
            <a:r>
              <a:rPr lang="ar-SA" sz="3200" b="1" dirty="0">
                <a:solidFill>
                  <a:srgbClr val="1F62FB"/>
                </a:solidFill>
                <a:latin typeface="JF Flat" panose="02000500000000000000" pitchFamily="50" charset="-78"/>
              </a:rPr>
              <a:t>رؤية طيب للرعاية المنزلية</a:t>
            </a:r>
            <a:endParaRPr lang="en-US" sz="3200" b="1" dirty="0">
              <a:solidFill>
                <a:srgbClr val="1F62FB"/>
              </a:solidFill>
              <a:latin typeface="JF Flat" panose="02000500000000000000" pitchFamily="50" charset="-78"/>
            </a:endParaRPr>
          </a:p>
        </p:txBody>
      </p:sp>
    </p:spTree>
    <p:extLst>
      <p:ext uri="{BB962C8B-B14F-4D97-AF65-F5344CB8AC3E}">
        <p14:creationId xmlns:p14="http://schemas.microsoft.com/office/powerpoint/2010/main" val="7864058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2D8193C0-2859-DF90-7C0E-732BE2143945}"/>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8515" y="131075"/>
            <a:ext cx="1066643" cy="490079"/>
          </a:xfrm>
          <a:prstGeom prst="rect">
            <a:avLst/>
          </a:prstGeom>
        </p:spPr>
      </p:pic>
      <p:grpSp>
        <p:nvGrpSpPr>
          <p:cNvPr id="2" name="Group 1">
            <a:extLst>
              <a:ext uri="{FF2B5EF4-FFF2-40B4-BE49-F238E27FC236}">
                <a16:creationId xmlns:a16="http://schemas.microsoft.com/office/drawing/2014/main" id="{FE50E211-5F1F-DC0F-D95D-0638997E3D02}"/>
              </a:ext>
            </a:extLst>
          </p:cNvPr>
          <p:cNvGrpSpPr/>
          <p:nvPr/>
        </p:nvGrpSpPr>
        <p:grpSpPr>
          <a:xfrm>
            <a:off x="-987674" y="-1460547"/>
            <a:ext cx="1094940" cy="461397"/>
            <a:chOff x="2032724" y="505505"/>
            <a:chExt cx="6363131" cy="461397"/>
          </a:xfrm>
        </p:grpSpPr>
        <p:sp>
          <p:nvSpPr>
            <p:cNvPr id="3" name="Rectangle 2">
              <a:extLst>
                <a:ext uri="{FF2B5EF4-FFF2-40B4-BE49-F238E27FC236}">
                  <a16:creationId xmlns:a16="http://schemas.microsoft.com/office/drawing/2014/main" id="{C8A5BA57-3A3A-B474-51CD-EB8BAB258E7C}"/>
                </a:ext>
              </a:extLst>
            </p:cNvPr>
            <p:cNvSpPr/>
            <p:nvPr/>
          </p:nvSpPr>
          <p:spPr>
            <a:xfrm>
              <a:off x="7600051" y="506059"/>
              <a:ext cx="795804" cy="460843"/>
            </a:xfrm>
            <a:prstGeom prst="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6ADF90C-3B6D-B761-AA60-53A922829CCA}"/>
                </a:ext>
              </a:extLst>
            </p:cNvPr>
            <p:cNvSpPr/>
            <p:nvPr/>
          </p:nvSpPr>
          <p:spPr>
            <a:xfrm>
              <a:off x="6804247" y="506059"/>
              <a:ext cx="795804" cy="460843"/>
            </a:xfrm>
            <a:prstGeom prst="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5A64A07-CB56-717E-B5D5-9875A3440D1C}"/>
                </a:ext>
              </a:extLst>
            </p:cNvPr>
            <p:cNvSpPr/>
            <p:nvPr/>
          </p:nvSpPr>
          <p:spPr>
            <a:xfrm>
              <a:off x="6008443" y="506059"/>
              <a:ext cx="795804" cy="460843"/>
            </a:xfrm>
            <a:prstGeom prst="rect">
              <a:avLst/>
            </a:pr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87F96E8-C677-5EA3-0BB8-DE4E965DFBA2}"/>
                </a:ext>
              </a:extLst>
            </p:cNvPr>
            <p:cNvSpPr/>
            <p:nvPr/>
          </p:nvSpPr>
          <p:spPr>
            <a:xfrm>
              <a:off x="5212639" y="506059"/>
              <a:ext cx="795804" cy="460843"/>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D8667FC-23F8-9973-4BD7-3340D83E032A}"/>
                </a:ext>
              </a:extLst>
            </p:cNvPr>
            <p:cNvSpPr/>
            <p:nvPr/>
          </p:nvSpPr>
          <p:spPr>
            <a:xfrm>
              <a:off x="4416835" y="506059"/>
              <a:ext cx="795804" cy="460843"/>
            </a:xfrm>
            <a:prstGeom prst="rect">
              <a:avLst/>
            </a:prstGeom>
            <a:solidFill>
              <a:srgbClr val="D94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A2AB70-1D5B-F9B8-7AEF-B7672B6AB8FF}"/>
                </a:ext>
              </a:extLst>
            </p:cNvPr>
            <p:cNvSpPr/>
            <p:nvPr/>
          </p:nvSpPr>
          <p:spPr>
            <a:xfrm>
              <a:off x="3621031" y="506059"/>
              <a:ext cx="795804" cy="460843"/>
            </a:xfrm>
            <a:prstGeom prst="rect">
              <a:avLst/>
            </a:prstGeom>
            <a:solidFill>
              <a:srgbClr val="575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9AA16A8-3FBF-4E7C-C4B9-43C9023BE7C2}"/>
                </a:ext>
              </a:extLst>
            </p:cNvPr>
            <p:cNvSpPr/>
            <p:nvPr/>
          </p:nvSpPr>
          <p:spPr>
            <a:xfrm>
              <a:off x="2825227" y="506059"/>
              <a:ext cx="795804" cy="460843"/>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4AC728B-C6DC-EFB2-2808-BCB39C321683}"/>
                </a:ext>
              </a:extLst>
            </p:cNvPr>
            <p:cNvSpPr/>
            <p:nvPr/>
          </p:nvSpPr>
          <p:spPr>
            <a:xfrm>
              <a:off x="2032724" y="505505"/>
              <a:ext cx="795804" cy="460843"/>
            </a:xfrm>
            <a:prstGeom prst="rect">
              <a:avLst/>
            </a:prstGeom>
            <a:solidFill>
              <a:srgbClr val="0A0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9" name="Group 18">
            <a:extLst>
              <a:ext uri="{FF2B5EF4-FFF2-40B4-BE49-F238E27FC236}">
                <a16:creationId xmlns:a16="http://schemas.microsoft.com/office/drawing/2014/main" id="{94C11EDB-824D-35D2-AAF2-A55771222230}"/>
              </a:ext>
            </a:extLst>
          </p:cNvPr>
          <p:cNvGrpSpPr/>
          <p:nvPr/>
        </p:nvGrpSpPr>
        <p:grpSpPr>
          <a:xfrm>
            <a:off x="11837044" y="5660020"/>
            <a:ext cx="354956" cy="1207812"/>
            <a:chOff x="11837044" y="5660020"/>
            <a:chExt cx="354956" cy="1207812"/>
          </a:xfrm>
        </p:grpSpPr>
        <p:sp>
          <p:nvSpPr>
            <p:cNvPr id="13" name="Rectangle 12">
              <a:extLst>
                <a:ext uri="{FF2B5EF4-FFF2-40B4-BE49-F238E27FC236}">
                  <a16:creationId xmlns:a16="http://schemas.microsoft.com/office/drawing/2014/main" id="{193428F7-D93C-E9F8-167B-0F09333F47B4}"/>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sp>
          <p:nvSpPr>
            <p:cNvPr id="12" name="Rectangle 11">
              <a:extLst>
                <a:ext uri="{FF2B5EF4-FFF2-40B4-BE49-F238E27FC236}">
                  <a16:creationId xmlns:a16="http://schemas.microsoft.com/office/drawing/2014/main" id="{B684619C-5827-36F1-6E68-6C92D20B4EED}"/>
                </a:ext>
              </a:extLst>
            </p:cNvPr>
            <p:cNvSpPr/>
            <p:nvPr/>
          </p:nvSpPr>
          <p:spPr>
            <a:xfrm>
              <a:off x="11837044" y="5665113"/>
              <a:ext cx="177478"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grpSp>
      <p:sp>
        <p:nvSpPr>
          <p:cNvPr id="23" name="TextBox 22">
            <a:extLst>
              <a:ext uri="{FF2B5EF4-FFF2-40B4-BE49-F238E27FC236}">
                <a16:creationId xmlns:a16="http://schemas.microsoft.com/office/drawing/2014/main" id="{34BCA3B4-209B-0170-9188-30A5FFAA102B}"/>
              </a:ext>
            </a:extLst>
          </p:cNvPr>
          <p:cNvSpPr txBox="1"/>
          <p:nvPr/>
        </p:nvSpPr>
        <p:spPr>
          <a:xfrm>
            <a:off x="9926320" y="891572"/>
            <a:ext cx="1788160" cy="584775"/>
          </a:xfrm>
          <a:prstGeom prst="rect">
            <a:avLst/>
          </a:prstGeom>
          <a:noFill/>
        </p:spPr>
        <p:txBody>
          <a:bodyPr wrap="square" rtlCol="0">
            <a:spAutoFit/>
          </a:bodyPr>
          <a:lstStyle/>
          <a:p>
            <a:pPr algn="ctr"/>
            <a:r>
              <a:rPr lang="ar-SA" sz="3200" b="1" dirty="0">
                <a:solidFill>
                  <a:srgbClr val="1F62FB"/>
                </a:solidFill>
                <a:latin typeface="JF Flat" panose="02000500000000000000" pitchFamily="50" charset="-78"/>
              </a:rPr>
              <a:t>قيمنا</a:t>
            </a:r>
            <a:endParaRPr lang="en-US" sz="3200" b="1" dirty="0">
              <a:solidFill>
                <a:srgbClr val="1F62FB"/>
              </a:solidFill>
              <a:latin typeface="JF Flat" panose="02000500000000000000" pitchFamily="50" charset="-78"/>
            </a:endParaRPr>
          </a:p>
        </p:txBody>
      </p:sp>
      <p:grpSp>
        <p:nvGrpSpPr>
          <p:cNvPr id="27" name="Group 26">
            <a:extLst>
              <a:ext uri="{FF2B5EF4-FFF2-40B4-BE49-F238E27FC236}">
                <a16:creationId xmlns:a16="http://schemas.microsoft.com/office/drawing/2014/main" id="{CB0349C4-7B3A-892D-F117-63FC56ABE0D2}"/>
              </a:ext>
            </a:extLst>
          </p:cNvPr>
          <p:cNvGrpSpPr/>
          <p:nvPr/>
        </p:nvGrpSpPr>
        <p:grpSpPr>
          <a:xfrm rot="16200000">
            <a:off x="8844463" y="-2593678"/>
            <a:ext cx="118171" cy="6576902"/>
            <a:chOff x="11838962" y="5660020"/>
            <a:chExt cx="353038" cy="1202719"/>
          </a:xfrm>
        </p:grpSpPr>
        <p:sp>
          <p:nvSpPr>
            <p:cNvPr id="28" name="Rectangle 27">
              <a:extLst>
                <a:ext uri="{FF2B5EF4-FFF2-40B4-BE49-F238E27FC236}">
                  <a16:creationId xmlns:a16="http://schemas.microsoft.com/office/drawing/2014/main" id="{5BD27FE5-5678-34C0-636C-203959CFE783}"/>
                </a:ext>
              </a:extLst>
            </p:cNvPr>
            <p:cNvSpPr/>
            <p:nvPr/>
          </p:nvSpPr>
          <p:spPr>
            <a:xfrm>
              <a:off x="12014521" y="5660020"/>
              <a:ext cx="177479"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sp>
          <p:nvSpPr>
            <p:cNvPr id="29" name="Rectangle 28">
              <a:extLst>
                <a:ext uri="{FF2B5EF4-FFF2-40B4-BE49-F238E27FC236}">
                  <a16:creationId xmlns:a16="http://schemas.microsoft.com/office/drawing/2014/main" id="{BF89895D-CF8F-8F8D-1291-12995B9B7467}"/>
                </a:ext>
              </a:extLst>
            </p:cNvPr>
            <p:cNvSpPr/>
            <p:nvPr/>
          </p:nvSpPr>
          <p:spPr>
            <a:xfrm>
              <a:off x="11838962" y="5660020"/>
              <a:ext cx="177479"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grpSp>
      <p:grpSp>
        <p:nvGrpSpPr>
          <p:cNvPr id="22" name="Group 21">
            <a:extLst>
              <a:ext uri="{FF2B5EF4-FFF2-40B4-BE49-F238E27FC236}">
                <a16:creationId xmlns:a16="http://schemas.microsoft.com/office/drawing/2014/main" id="{F19367E6-9752-668D-11EE-9BC2911AB4DD}"/>
              </a:ext>
            </a:extLst>
          </p:cNvPr>
          <p:cNvGrpSpPr/>
          <p:nvPr/>
        </p:nvGrpSpPr>
        <p:grpSpPr>
          <a:xfrm flipH="1">
            <a:off x="1127759" y="1679857"/>
            <a:ext cx="9374981" cy="1392151"/>
            <a:chOff x="363167" y="1478394"/>
            <a:chExt cx="7392272" cy="1382071"/>
          </a:xfrm>
        </p:grpSpPr>
        <p:grpSp>
          <p:nvGrpSpPr>
            <p:cNvPr id="52" name="Group 51">
              <a:extLst>
                <a:ext uri="{FF2B5EF4-FFF2-40B4-BE49-F238E27FC236}">
                  <a16:creationId xmlns:a16="http://schemas.microsoft.com/office/drawing/2014/main" id="{94DB8BD2-6CAB-82E1-376D-2EB784C599B5}"/>
                </a:ext>
              </a:extLst>
            </p:cNvPr>
            <p:cNvGrpSpPr/>
            <p:nvPr/>
          </p:nvGrpSpPr>
          <p:grpSpPr>
            <a:xfrm>
              <a:off x="363167" y="1478394"/>
              <a:ext cx="7392272" cy="1382071"/>
              <a:chOff x="1152262" y="1362530"/>
              <a:chExt cx="8415558" cy="1678573"/>
            </a:xfrm>
          </p:grpSpPr>
          <p:sp>
            <p:nvSpPr>
              <p:cNvPr id="55" name="Rounded Rectangle 88">
                <a:extLst>
                  <a:ext uri="{FF2B5EF4-FFF2-40B4-BE49-F238E27FC236}">
                    <a16:creationId xmlns:a16="http://schemas.microsoft.com/office/drawing/2014/main" id="{49248D9D-6748-58D8-8E94-DC10C89EC438}"/>
                  </a:ext>
                </a:extLst>
              </p:cNvPr>
              <p:cNvSpPr/>
              <p:nvPr/>
            </p:nvSpPr>
            <p:spPr>
              <a:xfrm>
                <a:off x="1152262" y="1576854"/>
                <a:ext cx="6327232" cy="1464249"/>
              </a:xfrm>
              <a:prstGeom prst="round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56" name="Rounded Rectangle 89">
                <a:extLst>
                  <a:ext uri="{FF2B5EF4-FFF2-40B4-BE49-F238E27FC236}">
                    <a16:creationId xmlns:a16="http://schemas.microsoft.com/office/drawing/2014/main" id="{099F2F3D-C486-333E-F6A8-ECC5B668A62C}"/>
                  </a:ext>
                </a:extLst>
              </p:cNvPr>
              <p:cNvSpPr/>
              <p:nvPr/>
            </p:nvSpPr>
            <p:spPr>
              <a:xfrm>
                <a:off x="2157171" y="1362530"/>
                <a:ext cx="7410649" cy="1464248"/>
              </a:xfrm>
              <a:prstGeom prst="roundRect">
                <a:avLst/>
              </a:prstGeom>
              <a:solidFill>
                <a:srgbClr val="E7E8ED"/>
              </a:solidFill>
              <a:ln>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57" name="Rounded Rectangle 90">
                <a:extLst>
                  <a:ext uri="{FF2B5EF4-FFF2-40B4-BE49-F238E27FC236}">
                    <a16:creationId xmlns:a16="http://schemas.microsoft.com/office/drawing/2014/main" id="{80823ADF-4A81-3511-DCDD-2ED4B153E2C3}"/>
                  </a:ext>
                </a:extLst>
              </p:cNvPr>
              <p:cNvSpPr/>
              <p:nvPr/>
            </p:nvSpPr>
            <p:spPr>
              <a:xfrm>
                <a:off x="1158392" y="1780899"/>
                <a:ext cx="1977789" cy="646379"/>
              </a:xfrm>
              <a:prstGeom prst="round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58" name="Freeform 91">
                <a:extLst>
                  <a:ext uri="{FF2B5EF4-FFF2-40B4-BE49-F238E27FC236}">
                    <a16:creationId xmlns:a16="http://schemas.microsoft.com/office/drawing/2014/main" id="{E4C95669-BF1D-0349-19B9-B015395F036B}"/>
                  </a:ext>
                </a:extLst>
              </p:cNvPr>
              <p:cNvSpPr/>
              <p:nvPr/>
            </p:nvSpPr>
            <p:spPr>
              <a:xfrm>
                <a:off x="3212769" y="1469032"/>
                <a:ext cx="6351423" cy="1370258"/>
              </a:xfrm>
              <a:custGeom>
                <a:avLst/>
                <a:gdLst>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3800373 w 4845401"/>
                  <a:gd name="connsiteY8" fmla="*/ 408549 h 1516498"/>
                  <a:gd name="connsiteX9" fmla="*/ 4801772 w 4845401"/>
                  <a:gd name="connsiteY9"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3800373 w 4845401"/>
                  <a:gd name="connsiteY8" fmla="*/ 408549 h 1516498"/>
                  <a:gd name="connsiteX9" fmla="*/ 4801772 w 4845401"/>
                  <a:gd name="connsiteY9"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00373 w 4845401"/>
                  <a:gd name="connsiteY9" fmla="*/ 408549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29401 w 4845401"/>
                  <a:gd name="connsiteY9" fmla="*/ 437578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29401 w 4845401"/>
                  <a:gd name="connsiteY9" fmla="*/ 437578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887458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686356 w 4845401"/>
                  <a:gd name="connsiteY10" fmla="*/ 72301 h 1516498"/>
                  <a:gd name="connsiteX11" fmla="*/ 4801772 w 4845401"/>
                  <a:gd name="connsiteY11"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686356 w 4845401"/>
                  <a:gd name="connsiteY10" fmla="*/ 72301 h 1516498"/>
                  <a:gd name="connsiteX11" fmla="*/ 4801772 w 4845401"/>
                  <a:gd name="connsiteY11" fmla="*/ 0 h 15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45401" h="1516498">
                    <a:moveTo>
                      <a:pt x="4801772" y="0"/>
                    </a:moveTo>
                    <a:lnTo>
                      <a:pt x="4823763" y="32617"/>
                    </a:lnTo>
                    <a:cubicBezTo>
                      <a:pt x="4837696" y="65559"/>
                      <a:pt x="4845401" y="101777"/>
                      <a:pt x="4845401" y="139794"/>
                    </a:cubicBezTo>
                    <a:lnTo>
                      <a:pt x="4845401" y="1241151"/>
                    </a:lnTo>
                    <a:cubicBezTo>
                      <a:pt x="4845401" y="1393221"/>
                      <a:pt x="4722124" y="1516498"/>
                      <a:pt x="4570054" y="1516498"/>
                    </a:cubicBezTo>
                    <a:lnTo>
                      <a:pt x="142739" y="1516498"/>
                    </a:lnTo>
                    <a:cubicBezTo>
                      <a:pt x="104722" y="1516498"/>
                      <a:pt x="68504" y="1508793"/>
                      <a:pt x="35562" y="1494860"/>
                    </a:cubicBezTo>
                    <a:lnTo>
                      <a:pt x="0" y="1475558"/>
                    </a:lnTo>
                    <a:cubicBezTo>
                      <a:pt x="380726" y="1369497"/>
                      <a:pt x="1773607" y="1123412"/>
                      <a:pt x="2407002" y="945577"/>
                    </a:cubicBezTo>
                    <a:cubicBezTo>
                      <a:pt x="3040397" y="767742"/>
                      <a:pt x="3529461" y="641181"/>
                      <a:pt x="3901972" y="495635"/>
                    </a:cubicBezTo>
                    <a:cubicBezTo>
                      <a:pt x="4274483" y="350089"/>
                      <a:pt x="4580680" y="187034"/>
                      <a:pt x="4686356" y="72301"/>
                    </a:cubicBezTo>
                    <a:cubicBezTo>
                      <a:pt x="4836323" y="-10305"/>
                      <a:pt x="4771489" y="6614"/>
                      <a:pt x="4801772" y="0"/>
                    </a:cubicBezTo>
                    <a:close/>
                  </a:path>
                </a:pathLst>
              </a:cu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solidFill>
                    <a:srgbClr val="EF8F24"/>
                  </a:solidFill>
                </a:endParaRPr>
              </a:p>
            </p:txBody>
          </p:sp>
        </p:grpSp>
        <p:sp>
          <p:nvSpPr>
            <p:cNvPr id="53" name="TextBox 52">
              <a:extLst>
                <a:ext uri="{FF2B5EF4-FFF2-40B4-BE49-F238E27FC236}">
                  <a16:creationId xmlns:a16="http://schemas.microsoft.com/office/drawing/2014/main" id="{0E520DEC-3714-ABB4-4CD3-CD9E1F5649C0}"/>
                </a:ext>
              </a:extLst>
            </p:cNvPr>
            <p:cNvSpPr txBox="1"/>
            <p:nvPr/>
          </p:nvSpPr>
          <p:spPr>
            <a:xfrm>
              <a:off x="2277112" y="1594900"/>
              <a:ext cx="5064619" cy="366658"/>
            </a:xfrm>
            <a:prstGeom prst="rect">
              <a:avLst/>
            </a:prstGeom>
            <a:noFill/>
          </p:spPr>
          <p:txBody>
            <a:bodyPr wrap="square" rtlCol="1">
              <a:spAutoFit/>
            </a:bodyPr>
            <a:lstStyle/>
            <a:p>
              <a:pPr algn="just"/>
              <a:endParaRPr lang="ar-SA" b="1" dirty="0">
                <a:solidFill>
                  <a:srgbClr val="49712D"/>
                </a:solidFill>
              </a:endParaRPr>
            </a:p>
          </p:txBody>
        </p:sp>
        <p:sp>
          <p:nvSpPr>
            <p:cNvPr id="54" name="TextBox 53">
              <a:extLst>
                <a:ext uri="{FF2B5EF4-FFF2-40B4-BE49-F238E27FC236}">
                  <a16:creationId xmlns:a16="http://schemas.microsoft.com/office/drawing/2014/main" id="{196F8A79-DC19-CAD1-B9D3-15D84D79F9A8}"/>
                </a:ext>
              </a:extLst>
            </p:cNvPr>
            <p:cNvSpPr txBox="1"/>
            <p:nvPr/>
          </p:nvSpPr>
          <p:spPr>
            <a:xfrm>
              <a:off x="407059" y="1846416"/>
              <a:ext cx="1622787" cy="443045"/>
            </a:xfrm>
            <a:prstGeom prst="rect">
              <a:avLst/>
            </a:prstGeom>
            <a:noFill/>
          </p:spPr>
          <p:txBody>
            <a:bodyPr wrap="square" rtlCol="1">
              <a:spAutoFit/>
            </a:bodyPr>
            <a:lstStyle/>
            <a:p>
              <a:pPr algn="ctr"/>
              <a:r>
                <a:rPr lang="ar-SA" sz="2300" b="1" dirty="0">
                  <a:solidFill>
                    <a:schemeClr val="bg1"/>
                  </a:solidFill>
                </a:rPr>
                <a:t>الإصرار</a:t>
              </a:r>
            </a:p>
          </p:txBody>
        </p:sp>
      </p:grpSp>
      <p:sp>
        <p:nvSpPr>
          <p:cNvPr id="63" name="Rounded Rectangle 88">
            <a:extLst>
              <a:ext uri="{FF2B5EF4-FFF2-40B4-BE49-F238E27FC236}">
                <a16:creationId xmlns:a16="http://schemas.microsoft.com/office/drawing/2014/main" id="{1385BBBA-3365-07F9-FB16-A9221F69899E}"/>
              </a:ext>
            </a:extLst>
          </p:cNvPr>
          <p:cNvSpPr/>
          <p:nvPr/>
        </p:nvSpPr>
        <p:spPr>
          <a:xfrm flipH="1">
            <a:off x="3454166" y="3452296"/>
            <a:ext cx="7048574" cy="1214398"/>
          </a:xfrm>
          <a:prstGeom prst="round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64" name="Rounded Rectangle 89">
            <a:extLst>
              <a:ext uri="{FF2B5EF4-FFF2-40B4-BE49-F238E27FC236}">
                <a16:creationId xmlns:a16="http://schemas.microsoft.com/office/drawing/2014/main" id="{683D8BE5-2484-D66C-93DB-3E102E2339C2}"/>
              </a:ext>
            </a:extLst>
          </p:cNvPr>
          <p:cNvSpPr/>
          <p:nvPr/>
        </p:nvSpPr>
        <p:spPr>
          <a:xfrm flipH="1">
            <a:off x="1127759" y="3274543"/>
            <a:ext cx="8255506" cy="1214397"/>
          </a:xfrm>
          <a:prstGeom prst="roundRect">
            <a:avLst/>
          </a:prstGeom>
          <a:solidFill>
            <a:srgbClr val="E7E8ED"/>
          </a:solidFill>
          <a:ln>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65" name="Rounded Rectangle 90">
            <a:extLst>
              <a:ext uri="{FF2B5EF4-FFF2-40B4-BE49-F238E27FC236}">
                <a16:creationId xmlns:a16="http://schemas.microsoft.com/office/drawing/2014/main" id="{34C89AD7-13C0-2EEA-6BC1-9B588928410E}"/>
              </a:ext>
            </a:extLst>
          </p:cNvPr>
          <p:cNvSpPr/>
          <p:nvPr/>
        </p:nvSpPr>
        <p:spPr>
          <a:xfrm flipH="1">
            <a:off x="8292643" y="3621524"/>
            <a:ext cx="2203269" cy="536085"/>
          </a:xfrm>
          <a:prstGeom prst="round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66" name="Freeform 91">
            <a:extLst>
              <a:ext uri="{FF2B5EF4-FFF2-40B4-BE49-F238E27FC236}">
                <a16:creationId xmlns:a16="http://schemas.microsoft.com/office/drawing/2014/main" id="{544067FA-0B41-C986-3463-86D0D325B291}"/>
              </a:ext>
            </a:extLst>
          </p:cNvPr>
          <p:cNvSpPr/>
          <p:nvPr/>
        </p:nvSpPr>
        <p:spPr>
          <a:xfrm flipH="1">
            <a:off x="1131801" y="3362872"/>
            <a:ext cx="7075522" cy="1136445"/>
          </a:xfrm>
          <a:custGeom>
            <a:avLst/>
            <a:gdLst>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3800373 w 4845401"/>
              <a:gd name="connsiteY8" fmla="*/ 408549 h 1516498"/>
              <a:gd name="connsiteX9" fmla="*/ 4801772 w 4845401"/>
              <a:gd name="connsiteY9"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3800373 w 4845401"/>
              <a:gd name="connsiteY8" fmla="*/ 408549 h 1516498"/>
              <a:gd name="connsiteX9" fmla="*/ 4801772 w 4845401"/>
              <a:gd name="connsiteY9"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00373 w 4845401"/>
              <a:gd name="connsiteY9" fmla="*/ 408549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29401 w 4845401"/>
              <a:gd name="connsiteY9" fmla="*/ 437578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29401 w 4845401"/>
              <a:gd name="connsiteY9" fmla="*/ 437578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887458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686356 w 4845401"/>
              <a:gd name="connsiteY10" fmla="*/ 72301 h 1516498"/>
              <a:gd name="connsiteX11" fmla="*/ 4801772 w 4845401"/>
              <a:gd name="connsiteY11"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686356 w 4845401"/>
              <a:gd name="connsiteY10" fmla="*/ 72301 h 1516498"/>
              <a:gd name="connsiteX11" fmla="*/ 4801772 w 4845401"/>
              <a:gd name="connsiteY11" fmla="*/ 0 h 15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45401" h="1516498">
                <a:moveTo>
                  <a:pt x="4801772" y="0"/>
                </a:moveTo>
                <a:lnTo>
                  <a:pt x="4823763" y="32617"/>
                </a:lnTo>
                <a:cubicBezTo>
                  <a:pt x="4837696" y="65559"/>
                  <a:pt x="4845401" y="101777"/>
                  <a:pt x="4845401" y="139794"/>
                </a:cubicBezTo>
                <a:lnTo>
                  <a:pt x="4845401" y="1241151"/>
                </a:lnTo>
                <a:cubicBezTo>
                  <a:pt x="4845401" y="1393221"/>
                  <a:pt x="4722124" y="1516498"/>
                  <a:pt x="4570054" y="1516498"/>
                </a:cubicBezTo>
                <a:lnTo>
                  <a:pt x="142739" y="1516498"/>
                </a:lnTo>
                <a:cubicBezTo>
                  <a:pt x="104722" y="1516498"/>
                  <a:pt x="68504" y="1508793"/>
                  <a:pt x="35562" y="1494860"/>
                </a:cubicBezTo>
                <a:lnTo>
                  <a:pt x="0" y="1475558"/>
                </a:lnTo>
                <a:cubicBezTo>
                  <a:pt x="380726" y="1369497"/>
                  <a:pt x="1773607" y="1123412"/>
                  <a:pt x="2407002" y="945577"/>
                </a:cubicBezTo>
                <a:cubicBezTo>
                  <a:pt x="3040397" y="767742"/>
                  <a:pt x="3529461" y="641181"/>
                  <a:pt x="3901972" y="495635"/>
                </a:cubicBezTo>
                <a:cubicBezTo>
                  <a:pt x="4274483" y="350089"/>
                  <a:pt x="4580680" y="187034"/>
                  <a:pt x="4686356" y="72301"/>
                </a:cubicBezTo>
                <a:cubicBezTo>
                  <a:pt x="4836323" y="-10305"/>
                  <a:pt x="4771489" y="6614"/>
                  <a:pt x="4801772" y="0"/>
                </a:cubicBezTo>
                <a:close/>
              </a:path>
            </a:pathLst>
          </a:cu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solidFill>
                <a:srgbClr val="EF8F24"/>
              </a:solidFill>
            </a:endParaRPr>
          </a:p>
        </p:txBody>
      </p:sp>
      <p:sp>
        <p:nvSpPr>
          <p:cNvPr id="62" name="TextBox 61">
            <a:extLst>
              <a:ext uri="{FF2B5EF4-FFF2-40B4-BE49-F238E27FC236}">
                <a16:creationId xmlns:a16="http://schemas.microsoft.com/office/drawing/2014/main" id="{C46EB8EC-7356-B220-60FF-EE5CF4D705DE}"/>
              </a:ext>
            </a:extLst>
          </p:cNvPr>
          <p:cNvSpPr txBox="1"/>
          <p:nvPr/>
        </p:nvSpPr>
        <p:spPr>
          <a:xfrm flipH="1">
            <a:off x="8389035" y="3655409"/>
            <a:ext cx="2058041" cy="446276"/>
          </a:xfrm>
          <a:prstGeom prst="rect">
            <a:avLst/>
          </a:prstGeom>
          <a:noFill/>
        </p:spPr>
        <p:txBody>
          <a:bodyPr wrap="square" rtlCol="1">
            <a:spAutoFit/>
          </a:bodyPr>
          <a:lstStyle/>
          <a:p>
            <a:pPr algn="ctr"/>
            <a:r>
              <a:rPr lang="ar-SA" sz="2300" b="1" dirty="0" err="1">
                <a:solidFill>
                  <a:schemeClr val="bg1"/>
                </a:solidFill>
              </a:rPr>
              <a:t>الإلتزام</a:t>
            </a:r>
            <a:r>
              <a:rPr lang="ar-SA" sz="2300" b="1" dirty="0">
                <a:solidFill>
                  <a:schemeClr val="bg1"/>
                </a:solidFill>
              </a:rPr>
              <a:t> بالمواعيد</a:t>
            </a:r>
          </a:p>
        </p:txBody>
      </p:sp>
      <p:grpSp>
        <p:nvGrpSpPr>
          <p:cNvPr id="67" name="Group 66">
            <a:extLst>
              <a:ext uri="{FF2B5EF4-FFF2-40B4-BE49-F238E27FC236}">
                <a16:creationId xmlns:a16="http://schemas.microsoft.com/office/drawing/2014/main" id="{11DA61B1-775B-F5DA-BF14-2563E03799DE}"/>
              </a:ext>
            </a:extLst>
          </p:cNvPr>
          <p:cNvGrpSpPr/>
          <p:nvPr/>
        </p:nvGrpSpPr>
        <p:grpSpPr>
          <a:xfrm flipH="1">
            <a:off x="1127759" y="4869228"/>
            <a:ext cx="9374981" cy="1392151"/>
            <a:chOff x="363167" y="1478394"/>
            <a:chExt cx="7392272" cy="1382071"/>
          </a:xfrm>
        </p:grpSpPr>
        <p:grpSp>
          <p:nvGrpSpPr>
            <p:cNvPr id="68" name="Group 67">
              <a:extLst>
                <a:ext uri="{FF2B5EF4-FFF2-40B4-BE49-F238E27FC236}">
                  <a16:creationId xmlns:a16="http://schemas.microsoft.com/office/drawing/2014/main" id="{16F7BC9A-85C3-20B2-51B0-2DB2828E300A}"/>
                </a:ext>
              </a:extLst>
            </p:cNvPr>
            <p:cNvGrpSpPr/>
            <p:nvPr/>
          </p:nvGrpSpPr>
          <p:grpSpPr>
            <a:xfrm>
              <a:off x="363167" y="1478394"/>
              <a:ext cx="7392272" cy="1382071"/>
              <a:chOff x="1152262" y="1362530"/>
              <a:chExt cx="8415558" cy="1678573"/>
            </a:xfrm>
          </p:grpSpPr>
          <p:sp>
            <p:nvSpPr>
              <p:cNvPr id="71" name="Rounded Rectangle 88">
                <a:extLst>
                  <a:ext uri="{FF2B5EF4-FFF2-40B4-BE49-F238E27FC236}">
                    <a16:creationId xmlns:a16="http://schemas.microsoft.com/office/drawing/2014/main" id="{5B008412-1615-0640-BE87-796EA8C96F00}"/>
                  </a:ext>
                </a:extLst>
              </p:cNvPr>
              <p:cNvSpPr/>
              <p:nvPr/>
            </p:nvSpPr>
            <p:spPr>
              <a:xfrm>
                <a:off x="1152262" y="1576854"/>
                <a:ext cx="6327232" cy="1464249"/>
              </a:xfrm>
              <a:prstGeom prst="round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72" name="Rounded Rectangle 89">
                <a:extLst>
                  <a:ext uri="{FF2B5EF4-FFF2-40B4-BE49-F238E27FC236}">
                    <a16:creationId xmlns:a16="http://schemas.microsoft.com/office/drawing/2014/main" id="{8B01B23C-ED59-5BEF-C103-6E6E82A11E30}"/>
                  </a:ext>
                </a:extLst>
              </p:cNvPr>
              <p:cNvSpPr/>
              <p:nvPr/>
            </p:nvSpPr>
            <p:spPr>
              <a:xfrm>
                <a:off x="2157171" y="1362530"/>
                <a:ext cx="7410649" cy="1464248"/>
              </a:xfrm>
              <a:prstGeom prst="roundRect">
                <a:avLst/>
              </a:prstGeom>
              <a:solidFill>
                <a:srgbClr val="E7E8ED"/>
              </a:solidFill>
              <a:ln>
                <a:solidFill>
                  <a:srgbClr val="E2F0D9"/>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73" name="Rounded Rectangle 90">
                <a:extLst>
                  <a:ext uri="{FF2B5EF4-FFF2-40B4-BE49-F238E27FC236}">
                    <a16:creationId xmlns:a16="http://schemas.microsoft.com/office/drawing/2014/main" id="{4211D297-FF0B-3D6F-BB3E-989DF79706FB}"/>
                  </a:ext>
                </a:extLst>
              </p:cNvPr>
              <p:cNvSpPr/>
              <p:nvPr/>
            </p:nvSpPr>
            <p:spPr>
              <a:xfrm>
                <a:off x="1158392" y="1780899"/>
                <a:ext cx="1977789" cy="646379"/>
              </a:xfrm>
              <a:prstGeom prst="round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74" name="Freeform 91">
                <a:extLst>
                  <a:ext uri="{FF2B5EF4-FFF2-40B4-BE49-F238E27FC236}">
                    <a16:creationId xmlns:a16="http://schemas.microsoft.com/office/drawing/2014/main" id="{56E30C70-F976-E1AC-3A83-8B4869B5EF64}"/>
                  </a:ext>
                </a:extLst>
              </p:cNvPr>
              <p:cNvSpPr/>
              <p:nvPr/>
            </p:nvSpPr>
            <p:spPr>
              <a:xfrm>
                <a:off x="3212769" y="1469032"/>
                <a:ext cx="6351423" cy="1370258"/>
              </a:xfrm>
              <a:custGeom>
                <a:avLst/>
                <a:gdLst>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3800373 w 4845401"/>
                  <a:gd name="connsiteY8" fmla="*/ 408549 h 1516498"/>
                  <a:gd name="connsiteX9" fmla="*/ 4801772 w 4845401"/>
                  <a:gd name="connsiteY9"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3800373 w 4845401"/>
                  <a:gd name="connsiteY8" fmla="*/ 408549 h 1516498"/>
                  <a:gd name="connsiteX9" fmla="*/ 4801772 w 4845401"/>
                  <a:gd name="connsiteY9"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00373 w 4845401"/>
                  <a:gd name="connsiteY9" fmla="*/ 408549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29401 w 4845401"/>
                  <a:gd name="connsiteY9" fmla="*/ 437578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29401 w 4845401"/>
                  <a:gd name="connsiteY9" fmla="*/ 437578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377973 w 4845401"/>
                  <a:gd name="connsiteY8" fmla="*/ 931063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872944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887458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801772 w 4845401"/>
                  <a:gd name="connsiteY10"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686356 w 4845401"/>
                  <a:gd name="connsiteY10" fmla="*/ 72301 h 1516498"/>
                  <a:gd name="connsiteX11" fmla="*/ 4801772 w 4845401"/>
                  <a:gd name="connsiteY11" fmla="*/ 0 h 1516498"/>
                  <a:gd name="connsiteX0" fmla="*/ 4801772 w 4845401"/>
                  <a:gd name="connsiteY0" fmla="*/ 0 h 1516498"/>
                  <a:gd name="connsiteX1" fmla="*/ 4823763 w 4845401"/>
                  <a:gd name="connsiteY1" fmla="*/ 32617 h 1516498"/>
                  <a:gd name="connsiteX2" fmla="*/ 4845401 w 4845401"/>
                  <a:gd name="connsiteY2" fmla="*/ 139794 h 1516498"/>
                  <a:gd name="connsiteX3" fmla="*/ 4845401 w 4845401"/>
                  <a:gd name="connsiteY3" fmla="*/ 1241151 h 1516498"/>
                  <a:gd name="connsiteX4" fmla="*/ 4570054 w 4845401"/>
                  <a:gd name="connsiteY4" fmla="*/ 1516498 h 1516498"/>
                  <a:gd name="connsiteX5" fmla="*/ 142739 w 4845401"/>
                  <a:gd name="connsiteY5" fmla="*/ 1516498 h 1516498"/>
                  <a:gd name="connsiteX6" fmla="*/ 35562 w 4845401"/>
                  <a:gd name="connsiteY6" fmla="*/ 1494860 h 1516498"/>
                  <a:gd name="connsiteX7" fmla="*/ 0 w 4845401"/>
                  <a:gd name="connsiteY7" fmla="*/ 1475558 h 1516498"/>
                  <a:gd name="connsiteX8" fmla="*/ 2407002 w 4845401"/>
                  <a:gd name="connsiteY8" fmla="*/ 945577 h 1516498"/>
                  <a:gd name="connsiteX9" fmla="*/ 3901972 w 4845401"/>
                  <a:gd name="connsiteY9" fmla="*/ 495635 h 1516498"/>
                  <a:gd name="connsiteX10" fmla="*/ 4686356 w 4845401"/>
                  <a:gd name="connsiteY10" fmla="*/ 72301 h 1516498"/>
                  <a:gd name="connsiteX11" fmla="*/ 4801772 w 4845401"/>
                  <a:gd name="connsiteY11" fmla="*/ 0 h 1516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45401" h="1516498">
                    <a:moveTo>
                      <a:pt x="4801772" y="0"/>
                    </a:moveTo>
                    <a:lnTo>
                      <a:pt x="4823763" y="32617"/>
                    </a:lnTo>
                    <a:cubicBezTo>
                      <a:pt x="4837696" y="65559"/>
                      <a:pt x="4845401" y="101777"/>
                      <a:pt x="4845401" y="139794"/>
                    </a:cubicBezTo>
                    <a:lnTo>
                      <a:pt x="4845401" y="1241151"/>
                    </a:lnTo>
                    <a:cubicBezTo>
                      <a:pt x="4845401" y="1393221"/>
                      <a:pt x="4722124" y="1516498"/>
                      <a:pt x="4570054" y="1516498"/>
                    </a:cubicBezTo>
                    <a:lnTo>
                      <a:pt x="142739" y="1516498"/>
                    </a:lnTo>
                    <a:cubicBezTo>
                      <a:pt x="104722" y="1516498"/>
                      <a:pt x="68504" y="1508793"/>
                      <a:pt x="35562" y="1494860"/>
                    </a:cubicBezTo>
                    <a:lnTo>
                      <a:pt x="0" y="1475558"/>
                    </a:lnTo>
                    <a:cubicBezTo>
                      <a:pt x="380726" y="1369497"/>
                      <a:pt x="1773607" y="1123412"/>
                      <a:pt x="2407002" y="945577"/>
                    </a:cubicBezTo>
                    <a:cubicBezTo>
                      <a:pt x="3040397" y="767742"/>
                      <a:pt x="3529461" y="641181"/>
                      <a:pt x="3901972" y="495635"/>
                    </a:cubicBezTo>
                    <a:cubicBezTo>
                      <a:pt x="4274483" y="350089"/>
                      <a:pt x="4580680" y="187034"/>
                      <a:pt x="4686356" y="72301"/>
                    </a:cubicBezTo>
                    <a:cubicBezTo>
                      <a:pt x="4836323" y="-10305"/>
                      <a:pt x="4771489" y="6614"/>
                      <a:pt x="4801772" y="0"/>
                    </a:cubicBezTo>
                    <a:close/>
                  </a:path>
                </a:pathLst>
              </a:cu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solidFill>
                    <a:srgbClr val="EF8F24"/>
                  </a:solidFill>
                </a:endParaRPr>
              </a:p>
            </p:txBody>
          </p:sp>
        </p:grpSp>
        <p:sp>
          <p:nvSpPr>
            <p:cNvPr id="70" name="TextBox 69">
              <a:extLst>
                <a:ext uri="{FF2B5EF4-FFF2-40B4-BE49-F238E27FC236}">
                  <a16:creationId xmlns:a16="http://schemas.microsoft.com/office/drawing/2014/main" id="{6C80C96D-0924-21B8-6B93-1D5A9EFFA81F}"/>
                </a:ext>
              </a:extLst>
            </p:cNvPr>
            <p:cNvSpPr txBox="1"/>
            <p:nvPr/>
          </p:nvSpPr>
          <p:spPr>
            <a:xfrm>
              <a:off x="407059" y="1846416"/>
              <a:ext cx="1622787" cy="443045"/>
            </a:xfrm>
            <a:prstGeom prst="rect">
              <a:avLst/>
            </a:prstGeom>
            <a:noFill/>
          </p:spPr>
          <p:txBody>
            <a:bodyPr wrap="square" rtlCol="1">
              <a:spAutoFit/>
            </a:bodyPr>
            <a:lstStyle/>
            <a:p>
              <a:pPr algn="ctr"/>
              <a:r>
                <a:rPr lang="ar-SA" sz="2300" b="1" dirty="0">
                  <a:solidFill>
                    <a:schemeClr val="bg1"/>
                  </a:solidFill>
                </a:rPr>
                <a:t>الإبداع </a:t>
              </a:r>
              <a:r>
                <a:rPr lang="ar-SA" sz="2300" b="1" dirty="0" err="1">
                  <a:solidFill>
                    <a:schemeClr val="bg1"/>
                  </a:solidFill>
                </a:rPr>
                <a:t>والإبتكار</a:t>
              </a:r>
              <a:endParaRPr lang="ar-SA" sz="2300" b="1" dirty="0">
                <a:solidFill>
                  <a:schemeClr val="bg1"/>
                </a:solidFill>
              </a:endParaRPr>
            </a:p>
          </p:txBody>
        </p:sp>
      </p:grpSp>
      <p:sp>
        <p:nvSpPr>
          <p:cNvPr id="76" name="TextBox 75">
            <a:extLst>
              <a:ext uri="{FF2B5EF4-FFF2-40B4-BE49-F238E27FC236}">
                <a16:creationId xmlns:a16="http://schemas.microsoft.com/office/drawing/2014/main" id="{BF48BE78-971A-F44C-F8A5-B796DE3C5809}"/>
              </a:ext>
            </a:extLst>
          </p:cNvPr>
          <p:cNvSpPr txBox="1"/>
          <p:nvPr/>
        </p:nvSpPr>
        <p:spPr>
          <a:xfrm>
            <a:off x="1290320" y="1831151"/>
            <a:ext cx="6885038" cy="923330"/>
          </a:xfrm>
          <a:prstGeom prst="rect">
            <a:avLst/>
          </a:prstGeom>
          <a:noFill/>
        </p:spPr>
        <p:txBody>
          <a:bodyPr wrap="square">
            <a:spAutoFit/>
          </a:bodyPr>
          <a:lstStyle/>
          <a:p>
            <a:pPr algn="just" rtl="1"/>
            <a:r>
              <a:rPr lang="ar-SA" dirty="0">
                <a:solidFill>
                  <a:srgbClr val="2E503B"/>
                </a:solidFill>
                <a:latin typeface="Arial" panose="020B0604020202020204" pitchFamily="34" charset="0"/>
                <a:cs typeface="Arial" panose="020B0604020202020204" pitchFamily="34" charset="0"/>
              </a:rPr>
              <a:t>طيب شركة تعمل في مجال الخدمات الطبية، والتعاون والإصرار مطلب أساسي للنجاح في هذا المجال. لذا فلا مكان داخل طيب </a:t>
            </a:r>
            <a:r>
              <a:rPr lang="ar-SA" dirty="0" err="1">
                <a:solidFill>
                  <a:srgbClr val="2E503B"/>
                </a:solidFill>
                <a:latin typeface="Arial" panose="020B0604020202020204" pitchFamily="34" charset="0"/>
                <a:cs typeface="Arial" panose="020B0604020202020204" pitchFamily="34" charset="0"/>
              </a:rPr>
              <a:t>للإجتهاد</a:t>
            </a:r>
            <a:r>
              <a:rPr lang="ar-SA" dirty="0">
                <a:solidFill>
                  <a:srgbClr val="2E503B"/>
                </a:solidFill>
                <a:latin typeface="Arial" panose="020B0604020202020204" pitchFamily="34" charset="0"/>
                <a:cs typeface="Arial" panose="020B0604020202020204" pitchFamily="34" charset="0"/>
              </a:rPr>
              <a:t> الفردي </a:t>
            </a:r>
            <a:r>
              <a:rPr lang="ar-SA" dirty="0" err="1">
                <a:solidFill>
                  <a:srgbClr val="2E503B"/>
                </a:solidFill>
                <a:latin typeface="Arial" panose="020B0604020202020204" pitchFamily="34" charset="0"/>
                <a:cs typeface="Arial" panose="020B0604020202020204" pitchFamily="34" charset="0"/>
              </a:rPr>
              <a:t>والإستسلام</a:t>
            </a:r>
            <a:r>
              <a:rPr lang="ar-SA" dirty="0">
                <a:solidFill>
                  <a:srgbClr val="2E503B"/>
                </a:solidFill>
                <a:latin typeface="Arial" panose="020B0604020202020204" pitchFamily="34" charset="0"/>
                <a:cs typeface="Arial" panose="020B0604020202020204" pitchFamily="34" charset="0"/>
              </a:rPr>
              <a:t>. إننا نؤمن فقط بالعمل الجماعي والإصرار الذي تسود فيه روح الفريق لتحقيق الهدف المشترك.</a:t>
            </a:r>
            <a:endParaRPr lang="en-US" dirty="0">
              <a:solidFill>
                <a:srgbClr val="2E503B"/>
              </a:solidFill>
              <a:latin typeface="Arial" panose="020B0604020202020204" pitchFamily="34" charset="0"/>
              <a:cs typeface="Arial" panose="020B0604020202020204" pitchFamily="34" charset="0"/>
            </a:endParaRPr>
          </a:p>
        </p:txBody>
      </p:sp>
      <p:sp>
        <p:nvSpPr>
          <p:cNvPr id="77" name="TextBox 76">
            <a:extLst>
              <a:ext uri="{FF2B5EF4-FFF2-40B4-BE49-F238E27FC236}">
                <a16:creationId xmlns:a16="http://schemas.microsoft.com/office/drawing/2014/main" id="{FFEE8EA4-06CD-E4EF-7473-D60BF673DCF9}"/>
              </a:ext>
            </a:extLst>
          </p:cNvPr>
          <p:cNvSpPr txBox="1"/>
          <p:nvPr/>
        </p:nvSpPr>
        <p:spPr>
          <a:xfrm>
            <a:off x="1290320" y="3395357"/>
            <a:ext cx="6885038" cy="923330"/>
          </a:xfrm>
          <a:prstGeom prst="rect">
            <a:avLst/>
          </a:prstGeom>
          <a:noFill/>
        </p:spPr>
        <p:txBody>
          <a:bodyPr wrap="square">
            <a:spAutoFit/>
          </a:bodyPr>
          <a:lstStyle/>
          <a:p>
            <a:pPr algn="just" rtl="1"/>
            <a:r>
              <a:rPr lang="ar-SA" dirty="0">
                <a:solidFill>
                  <a:srgbClr val="2E503B"/>
                </a:solidFill>
                <a:latin typeface="Arial" panose="020B0604020202020204" pitchFamily="34" charset="0"/>
                <a:cs typeface="Arial" panose="020B0604020202020204" pitchFamily="34" charset="0"/>
              </a:rPr>
              <a:t>للوقت أهمية كبرى في منظومة العمل في طيب فهو مورد لا يعوض أبداً. لذا كان تقديرنا بحجم أهميته. وقد بنيت الإستراتيجية العامة للعمل في الشركة بإعطاء الوقت نصيباً وافراً من الاهتمام، فبدون </a:t>
            </a:r>
            <a:r>
              <a:rPr lang="ar-SA" dirty="0" err="1">
                <a:solidFill>
                  <a:srgbClr val="2E503B"/>
                </a:solidFill>
                <a:latin typeface="Arial" panose="020B0604020202020204" pitchFamily="34" charset="0"/>
                <a:cs typeface="Arial" panose="020B0604020202020204" pitchFamily="34" charset="0"/>
              </a:rPr>
              <a:t>إستثماره</a:t>
            </a:r>
            <a:r>
              <a:rPr lang="ar-SA" dirty="0">
                <a:solidFill>
                  <a:srgbClr val="2E503B"/>
                </a:solidFill>
                <a:latin typeface="Arial" panose="020B0604020202020204" pitchFamily="34" charset="0"/>
                <a:cs typeface="Arial" panose="020B0604020202020204" pitchFamily="34" charset="0"/>
              </a:rPr>
              <a:t> جيداً لا يمكن أن تحقق الشركة أهدافها.</a:t>
            </a:r>
            <a:endParaRPr lang="en-US" dirty="0">
              <a:solidFill>
                <a:srgbClr val="2E503B"/>
              </a:solidFill>
              <a:latin typeface="Arial" panose="020B0604020202020204" pitchFamily="34" charset="0"/>
              <a:cs typeface="Arial" panose="020B0604020202020204" pitchFamily="34" charset="0"/>
            </a:endParaRPr>
          </a:p>
        </p:txBody>
      </p:sp>
      <p:sp>
        <p:nvSpPr>
          <p:cNvPr id="78" name="TextBox 77">
            <a:extLst>
              <a:ext uri="{FF2B5EF4-FFF2-40B4-BE49-F238E27FC236}">
                <a16:creationId xmlns:a16="http://schemas.microsoft.com/office/drawing/2014/main" id="{330E439B-EA40-B7CB-4514-99D8BE93631A}"/>
              </a:ext>
            </a:extLst>
          </p:cNvPr>
          <p:cNvSpPr txBox="1"/>
          <p:nvPr/>
        </p:nvSpPr>
        <p:spPr>
          <a:xfrm>
            <a:off x="1290320" y="5279176"/>
            <a:ext cx="6885038" cy="369332"/>
          </a:xfrm>
          <a:prstGeom prst="rect">
            <a:avLst/>
          </a:prstGeom>
          <a:noFill/>
        </p:spPr>
        <p:txBody>
          <a:bodyPr wrap="square">
            <a:spAutoFit/>
          </a:bodyPr>
          <a:lstStyle/>
          <a:p>
            <a:pPr algn="just" rtl="1"/>
            <a:r>
              <a:rPr lang="ar-SA" dirty="0">
                <a:solidFill>
                  <a:srgbClr val="2E503B"/>
                </a:solidFill>
                <a:latin typeface="Arial" panose="020B0604020202020204" pitchFamily="34" charset="0"/>
                <a:cs typeface="Arial" panose="020B0604020202020204" pitchFamily="34" charset="0"/>
              </a:rPr>
              <a:t>لا مجال للحصر في طيب. كل الأبواب مفتوحة لاستقبال كل ما هو جديد ومبتكر.</a:t>
            </a:r>
            <a:endParaRPr lang="en-US" dirty="0">
              <a:solidFill>
                <a:srgbClr val="2E503B"/>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9263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2D8193C0-2859-DF90-7C0E-732BE2143945}"/>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8515" y="131075"/>
            <a:ext cx="1066643" cy="490079"/>
          </a:xfrm>
          <a:prstGeom prst="rect">
            <a:avLst/>
          </a:prstGeom>
        </p:spPr>
      </p:pic>
      <p:grpSp>
        <p:nvGrpSpPr>
          <p:cNvPr id="2" name="Group 1">
            <a:extLst>
              <a:ext uri="{FF2B5EF4-FFF2-40B4-BE49-F238E27FC236}">
                <a16:creationId xmlns:a16="http://schemas.microsoft.com/office/drawing/2014/main" id="{FE50E211-5F1F-DC0F-D95D-0638997E3D02}"/>
              </a:ext>
            </a:extLst>
          </p:cNvPr>
          <p:cNvGrpSpPr/>
          <p:nvPr/>
        </p:nvGrpSpPr>
        <p:grpSpPr>
          <a:xfrm>
            <a:off x="-987674" y="-1460547"/>
            <a:ext cx="1094940" cy="461397"/>
            <a:chOff x="2032724" y="505505"/>
            <a:chExt cx="6363131" cy="461397"/>
          </a:xfrm>
        </p:grpSpPr>
        <p:sp>
          <p:nvSpPr>
            <p:cNvPr id="3" name="Rectangle 2">
              <a:extLst>
                <a:ext uri="{FF2B5EF4-FFF2-40B4-BE49-F238E27FC236}">
                  <a16:creationId xmlns:a16="http://schemas.microsoft.com/office/drawing/2014/main" id="{C8A5BA57-3A3A-B474-51CD-EB8BAB258E7C}"/>
                </a:ext>
              </a:extLst>
            </p:cNvPr>
            <p:cNvSpPr/>
            <p:nvPr/>
          </p:nvSpPr>
          <p:spPr>
            <a:xfrm>
              <a:off x="7600051" y="506059"/>
              <a:ext cx="795804" cy="460843"/>
            </a:xfrm>
            <a:prstGeom prst="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6ADF90C-3B6D-B761-AA60-53A922829CCA}"/>
                </a:ext>
              </a:extLst>
            </p:cNvPr>
            <p:cNvSpPr/>
            <p:nvPr/>
          </p:nvSpPr>
          <p:spPr>
            <a:xfrm>
              <a:off x="6804247" y="506059"/>
              <a:ext cx="795804" cy="460843"/>
            </a:xfrm>
            <a:prstGeom prst="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5A64A07-CB56-717E-B5D5-9875A3440D1C}"/>
                </a:ext>
              </a:extLst>
            </p:cNvPr>
            <p:cNvSpPr/>
            <p:nvPr/>
          </p:nvSpPr>
          <p:spPr>
            <a:xfrm>
              <a:off x="6008443" y="506059"/>
              <a:ext cx="795804" cy="460843"/>
            </a:xfrm>
            <a:prstGeom prst="rect">
              <a:avLst/>
            </a:pr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87F96E8-C677-5EA3-0BB8-DE4E965DFBA2}"/>
                </a:ext>
              </a:extLst>
            </p:cNvPr>
            <p:cNvSpPr/>
            <p:nvPr/>
          </p:nvSpPr>
          <p:spPr>
            <a:xfrm>
              <a:off x="5212639" y="506059"/>
              <a:ext cx="795804" cy="460843"/>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D8667FC-23F8-9973-4BD7-3340D83E032A}"/>
                </a:ext>
              </a:extLst>
            </p:cNvPr>
            <p:cNvSpPr/>
            <p:nvPr/>
          </p:nvSpPr>
          <p:spPr>
            <a:xfrm>
              <a:off x="4416835" y="506059"/>
              <a:ext cx="795804" cy="460843"/>
            </a:xfrm>
            <a:prstGeom prst="rect">
              <a:avLst/>
            </a:prstGeom>
            <a:solidFill>
              <a:srgbClr val="D94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A2AB70-1D5B-F9B8-7AEF-B7672B6AB8FF}"/>
                </a:ext>
              </a:extLst>
            </p:cNvPr>
            <p:cNvSpPr/>
            <p:nvPr/>
          </p:nvSpPr>
          <p:spPr>
            <a:xfrm>
              <a:off x="3621031" y="506059"/>
              <a:ext cx="795804" cy="460843"/>
            </a:xfrm>
            <a:prstGeom prst="rect">
              <a:avLst/>
            </a:prstGeom>
            <a:solidFill>
              <a:srgbClr val="575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9AA16A8-3FBF-4E7C-C4B9-43C9023BE7C2}"/>
                </a:ext>
              </a:extLst>
            </p:cNvPr>
            <p:cNvSpPr/>
            <p:nvPr/>
          </p:nvSpPr>
          <p:spPr>
            <a:xfrm>
              <a:off x="2825227" y="506059"/>
              <a:ext cx="795804" cy="460843"/>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4AC728B-C6DC-EFB2-2808-BCB39C321683}"/>
                </a:ext>
              </a:extLst>
            </p:cNvPr>
            <p:cNvSpPr/>
            <p:nvPr/>
          </p:nvSpPr>
          <p:spPr>
            <a:xfrm>
              <a:off x="2032724" y="505505"/>
              <a:ext cx="795804" cy="460843"/>
            </a:xfrm>
            <a:prstGeom prst="rect">
              <a:avLst/>
            </a:prstGeom>
            <a:solidFill>
              <a:srgbClr val="0A0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26">
            <a:extLst>
              <a:ext uri="{FF2B5EF4-FFF2-40B4-BE49-F238E27FC236}">
                <a16:creationId xmlns:a16="http://schemas.microsoft.com/office/drawing/2014/main" id="{CB0349C4-7B3A-892D-F117-63FC56ABE0D2}"/>
              </a:ext>
            </a:extLst>
          </p:cNvPr>
          <p:cNvGrpSpPr/>
          <p:nvPr/>
        </p:nvGrpSpPr>
        <p:grpSpPr>
          <a:xfrm rot="16200000">
            <a:off x="8844463" y="-2593678"/>
            <a:ext cx="118171" cy="6576902"/>
            <a:chOff x="11838962" y="5660020"/>
            <a:chExt cx="353038" cy="1202719"/>
          </a:xfrm>
        </p:grpSpPr>
        <p:sp>
          <p:nvSpPr>
            <p:cNvPr id="28" name="Rectangle 27">
              <a:extLst>
                <a:ext uri="{FF2B5EF4-FFF2-40B4-BE49-F238E27FC236}">
                  <a16:creationId xmlns:a16="http://schemas.microsoft.com/office/drawing/2014/main" id="{5BD27FE5-5678-34C0-636C-203959CFE783}"/>
                </a:ext>
              </a:extLst>
            </p:cNvPr>
            <p:cNvSpPr/>
            <p:nvPr/>
          </p:nvSpPr>
          <p:spPr>
            <a:xfrm>
              <a:off x="12014521" y="5660020"/>
              <a:ext cx="177479"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sp>
          <p:nvSpPr>
            <p:cNvPr id="29" name="Rectangle 28">
              <a:extLst>
                <a:ext uri="{FF2B5EF4-FFF2-40B4-BE49-F238E27FC236}">
                  <a16:creationId xmlns:a16="http://schemas.microsoft.com/office/drawing/2014/main" id="{BF89895D-CF8F-8F8D-1291-12995B9B7467}"/>
                </a:ext>
              </a:extLst>
            </p:cNvPr>
            <p:cNvSpPr/>
            <p:nvPr/>
          </p:nvSpPr>
          <p:spPr>
            <a:xfrm>
              <a:off x="11838962" y="5660020"/>
              <a:ext cx="177479"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grpSp>
      <p:sp>
        <p:nvSpPr>
          <p:cNvPr id="14" name="TextBox 13">
            <a:extLst>
              <a:ext uri="{FF2B5EF4-FFF2-40B4-BE49-F238E27FC236}">
                <a16:creationId xmlns:a16="http://schemas.microsoft.com/office/drawing/2014/main" id="{00169218-E9FB-A69E-4A0D-090821E6A785}"/>
              </a:ext>
            </a:extLst>
          </p:cNvPr>
          <p:cNvSpPr txBox="1"/>
          <p:nvPr/>
        </p:nvSpPr>
        <p:spPr>
          <a:xfrm>
            <a:off x="5338399" y="2164608"/>
            <a:ext cx="5523877" cy="473206"/>
          </a:xfrm>
          <a:prstGeom prst="rect">
            <a:avLst/>
          </a:prstGeom>
          <a:noFill/>
        </p:spPr>
        <p:txBody>
          <a:bodyPr wrap="square" rtlCol="0">
            <a:spAutoFit/>
          </a:bodyPr>
          <a:lstStyle/>
          <a:p>
            <a:pPr algn="just" rtl="1">
              <a:lnSpc>
                <a:spcPct val="150000"/>
              </a:lnSpc>
            </a:pPr>
            <a:r>
              <a:rPr lang="ar-SA" dirty="0">
                <a:solidFill>
                  <a:srgbClr val="57586D"/>
                </a:solidFill>
                <a:latin typeface="JF Flat" panose="02000500000000000000" pitchFamily="50" charset="-78"/>
              </a:rPr>
              <a:t>الإلتزام بتسهيل الوصول لخدمات الرعاية الصحية المنزلية.</a:t>
            </a:r>
            <a:endParaRPr lang="en-US" dirty="0">
              <a:solidFill>
                <a:srgbClr val="57586D"/>
              </a:solidFill>
              <a:latin typeface="JF Flat" panose="02000500000000000000" pitchFamily="50" charset="-78"/>
            </a:endParaRPr>
          </a:p>
        </p:txBody>
      </p:sp>
      <p:sp>
        <p:nvSpPr>
          <p:cNvPr id="15" name="TextBox 14">
            <a:extLst>
              <a:ext uri="{FF2B5EF4-FFF2-40B4-BE49-F238E27FC236}">
                <a16:creationId xmlns:a16="http://schemas.microsoft.com/office/drawing/2014/main" id="{C2AAE051-1A1D-DB55-0BBD-318878E90782}"/>
              </a:ext>
            </a:extLst>
          </p:cNvPr>
          <p:cNvSpPr txBox="1"/>
          <p:nvPr/>
        </p:nvSpPr>
        <p:spPr>
          <a:xfrm>
            <a:off x="5338400" y="3100207"/>
            <a:ext cx="5523874" cy="710774"/>
          </a:xfrm>
          <a:prstGeom prst="rect">
            <a:avLst/>
          </a:prstGeom>
          <a:noFill/>
        </p:spPr>
        <p:txBody>
          <a:bodyPr wrap="square" rtlCol="0">
            <a:spAutoFit/>
          </a:bodyPr>
          <a:lstStyle/>
          <a:p>
            <a:pPr algn="just" rtl="1">
              <a:lnSpc>
                <a:spcPct val="150000"/>
              </a:lnSpc>
            </a:pPr>
            <a:r>
              <a:rPr lang="ar-SA" dirty="0">
                <a:solidFill>
                  <a:srgbClr val="57586D"/>
                </a:solidFill>
                <a:latin typeface="JF Flat" panose="02000500000000000000" pitchFamily="50" charset="-78"/>
              </a:rPr>
              <a:t>تفعيل وتحسين الخدمات الصحية الرقمية وتمكين القدرات الصحية </a:t>
            </a:r>
            <a:r>
              <a:rPr lang="ar-SA" dirty="0" err="1">
                <a:solidFill>
                  <a:srgbClr val="57586D"/>
                </a:solidFill>
                <a:latin typeface="JF Flat" panose="02000500000000000000" pitchFamily="50" charset="-78"/>
              </a:rPr>
              <a:t>الإفتراضية</a:t>
            </a:r>
            <a:r>
              <a:rPr lang="ar-SA" dirty="0">
                <a:solidFill>
                  <a:srgbClr val="57586D"/>
                </a:solidFill>
                <a:latin typeface="JF Flat" panose="02000500000000000000" pitchFamily="50" charset="-78"/>
              </a:rPr>
              <a:t> لتحقيق المستهدفات.</a:t>
            </a:r>
            <a:endParaRPr lang="en-US" dirty="0">
              <a:solidFill>
                <a:srgbClr val="57586D"/>
              </a:solidFill>
              <a:latin typeface="JF Flat" panose="02000500000000000000" pitchFamily="50" charset="-78"/>
            </a:endParaRPr>
          </a:p>
        </p:txBody>
      </p:sp>
      <p:sp>
        <p:nvSpPr>
          <p:cNvPr id="16" name="TextBox 15">
            <a:extLst>
              <a:ext uri="{FF2B5EF4-FFF2-40B4-BE49-F238E27FC236}">
                <a16:creationId xmlns:a16="http://schemas.microsoft.com/office/drawing/2014/main" id="{E07B840B-AB35-A6CA-4229-4276A97173AB}"/>
              </a:ext>
            </a:extLst>
          </p:cNvPr>
          <p:cNvSpPr txBox="1"/>
          <p:nvPr/>
        </p:nvSpPr>
        <p:spPr>
          <a:xfrm>
            <a:off x="5338400" y="4228211"/>
            <a:ext cx="5523874" cy="710774"/>
          </a:xfrm>
          <a:prstGeom prst="rect">
            <a:avLst/>
          </a:prstGeom>
          <a:noFill/>
        </p:spPr>
        <p:txBody>
          <a:bodyPr wrap="square" rtlCol="0">
            <a:spAutoFit/>
          </a:bodyPr>
          <a:lstStyle/>
          <a:p>
            <a:pPr algn="just" rtl="1">
              <a:lnSpc>
                <a:spcPct val="150000"/>
              </a:lnSpc>
            </a:pPr>
            <a:r>
              <a:rPr lang="ar-SA" dirty="0">
                <a:solidFill>
                  <a:srgbClr val="57586D"/>
                </a:solidFill>
                <a:latin typeface="JF Flat" panose="02000500000000000000" pitchFamily="50" charset="-78"/>
              </a:rPr>
              <a:t>مسؤوليتنا نحو المجتمع من رفع مستوى جودة الحياة والإستعداد للمخاطر الصحية عن طريق تحسين الخدمات الصحية المنزلية وتعزيز البحث </a:t>
            </a:r>
            <a:r>
              <a:rPr lang="ar-SA" dirty="0" err="1">
                <a:solidFill>
                  <a:srgbClr val="57586D"/>
                </a:solidFill>
                <a:latin typeface="JF Flat" panose="02000500000000000000" pitchFamily="50" charset="-78"/>
              </a:rPr>
              <a:t>والإبتكار</a:t>
            </a:r>
            <a:r>
              <a:rPr lang="ar-SA" dirty="0">
                <a:solidFill>
                  <a:srgbClr val="57586D"/>
                </a:solidFill>
                <a:latin typeface="JF Flat" panose="02000500000000000000" pitchFamily="50" charset="-78"/>
              </a:rPr>
              <a:t>.</a:t>
            </a:r>
            <a:endParaRPr lang="en-US" dirty="0">
              <a:solidFill>
                <a:srgbClr val="57586D"/>
              </a:solidFill>
              <a:latin typeface="JF Flat" panose="02000500000000000000" pitchFamily="50" charset="-78"/>
            </a:endParaRPr>
          </a:p>
        </p:txBody>
      </p:sp>
      <p:sp>
        <p:nvSpPr>
          <p:cNvPr id="18" name="TextBox 17">
            <a:extLst>
              <a:ext uri="{FF2B5EF4-FFF2-40B4-BE49-F238E27FC236}">
                <a16:creationId xmlns:a16="http://schemas.microsoft.com/office/drawing/2014/main" id="{AC3687CF-126E-42FA-D1AF-21EE02CCBCB8}"/>
              </a:ext>
            </a:extLst>
          </p:cNvPr>
          <p:cNvSpPr txBox="1"/>
          <p:nvPr/>
        </p:nvSpPr>
        <p:spPr>
          <a:xfrm>
            <a:off x="5338399" y="5538570"/>
            <a:ext cx="5523874" cy="378464"/>
          </a:xfrm>
          <a:prstGeom prst="rect">
            <a:avLst/>
          </a:prstGeom>
          <a:noFill/>
        </p:spPr>
        <p:txBody>
          <a:bodyPr wrap="square" rtlCol="0">
            <a:spAutoFit/>
          </a:bodyPr>
          <a:lstStyle/>
          <a:p>
            <a:pPr algn="just" rtl="1">
              <a:lnSpc>
                <a:spcPct val="150000"/>
              </a:lnSpc>
            </a:pPr>
            <a:r>
              <a:rPr lang="ar-SA" dirty="0">
                <a:solidFill>
                  <a:srgbClr val="57586D"/>
                </a:solidFill>
                <a:latin typeface="JF Flat" panose="02000500000000000000" pitchFamily="50" charset="-78"/>
              </a:rPr>
              <a:t>تحقيق التميز في تقديم الخدمات الصحية المنزلية بأعلى جودة وأقل تكلفة.</a:t>
            </a:r>
            <a:endParaRPr lang="en-US" dirty="0">
              <a:solidFill>
                <a:srgbClr val="57586D"/>
              </a:solidFill>
              <a:latin typeface="JF Flat" panose="02000500000000000000" pitchFamily="50" charset="-78"/>
            </a:endParaRPr>
          </a:p>
        </p:txBody>
      </p:sp>
      <p:sp>
        <p:nvSpPr>
          <p:cNvPr id="20" name="Rectangle: Rounded Corners 19">
            <a:extLst>
              <a:ext uri="{FF2B5EF4-FFF2-40B4-BE49-F238E27FC236}">
                <a16:creationId xmlns:a16="http://schemas.microsoft.com/office/drawing/2014/main" id="{6F89B454-EBE9-CEA3-C17A-834BEDBC43DE}"/>
              </a:ext>
            </a:extLst>
          </p:cNvPr>
          <p:cNvSpPr/>
          <p:nvPr/>
        </p:nvSpPr>
        <p:spPr>
          <a:xfrm>
            <a:off x="11171608" y="3366406"/>
            <a:ext cx="288465" cy="261925"/>
          </a:xfrm>
          <a:prstGeom prst="roundRect">
            <a:avLst/>
          </a:prstGeom>
          <a:solidFill>
            <a:srgbClr val="EF8F24"/>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Rounded Corners 20">
            <a:extLst>
              <a:ext uri="{FF2B5EF4-FFF2-40B4-BE49-F238E27FC236}">
                <a16:creationId xmlns:a16="http://schemas.microsoft.com/office/drawing/2014/main" id="{3B41F3DB-372C-45BF-743A-C80D980107BF}"/>
              </a:ext>
            </a:extLst>
          </p:cNvPr>
          <p:cNvSpPr/>
          <p:nvPr/>
        </p:nvSpPr>
        <p:spPr>
          <a:xfrm>
            <a:off x="11171608" y="2244483"/>
            <a:ext cx="288465" cy="261925"/>
          </a:xfrm>
          <a:prstGeom prst="roundRect">
            <a:avLst/>
          </a:prstGeom>
          <a:solidFill>
            <a:srgbClr val="1F62FB"/>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Rounded Corners 23">
            <a:extLst>
              <a:ext uri="{FF2B5EF4-FFF2-40B4-BE49-F238E27FC236}">
                <a16:creationId xmlns:a16="http://schemas.microsoft.com/office/drawing/2014/main" id="{63D33512-F455-7394-4936-85184D57BCB2}"/>
              </a:ext>
            </a:extLst>
          </p:cNvPr>
          <p:cNvSpPr/>
          <p:nvPr/>
        </p:nvSpPr>
        <p:spPr>
          <a:xfrm>
            <a:off x="11171608" y="4488328"/>
            <a:ext cx="288465" cy="261925"/>
          </a:xfrm>
          <a:prstGeom prst="roundRect">
            <a:avLst/>
          </a:prstGeom>
          <a:solidFill>
            <a:srgbClr val="33AFF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Rounded Corners 24">
            <a:extLst>
              <a:ext uri="{FF2B5EF4-FFF2-40B4-BE49-F238E27FC236}">
                <a16:creationId xmlns:a16="http://schemas.microsoft.com/office/drawing/2014/main" id="{24D2CA7D-C1F8-3D8B-73C0-9E440F417CF5}"/>
              </a:ext>
            </a:extLst>
          </p:cNvPr>
          <p:cNvSpPr/>
          <p:nvPr/>
        </p:nvSpPr>
        <p:spPr>
          <a:xfrm>
            <a:off x="11171608" y="5610251"/>
            <a:ext cx="288465" cy="261925"/>
          </a:xfrm>
          <a:prstGeom prst="roundRect">
            <a:avLst/>
          </a:prstGeom>
          <a:solidFill>
            <a:srgbClr val="3CAEA3"/>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a:extLst>
              <a:ext uri="{FF2B5EF4-FFF2-40B4-BE49-F238E27FC236}">
                <a16:creationId xmlns:a16="http://schemas.microsoft.com/office/drawing/2014/main" id="{51D1F8C6-A47F-08B1-17B9-80775A89B4A5}"/>
              </a:ext>
            </a:extLst>
          </p:cNvPr>
          <p:cNvSpPr txBox="1"/>
          <p:nvPr/>
        </p:nvSpPr>
        <p:spPr>
          <a:xfrm>
            <a:off x="2858947" y="1266581"/>
            <a:ext cx="8763452" cy="584775"/>
          </a:xfrm>
          <a:prstGeom prst="rect">
            <a:avLst/>
          </a:prstGeom>
          <a:noFill/>
        </p:spPr>
        <p:txBody>
          <a:bodyPr wrap="square" rtlCol="0">
            <a:spAutoFit/>
          </a:bodyPr>
          <a:lstStyle/>
          <a:p>
            <a:pPr algn="r"/>
            <a:r>
              <a:rPr lang="ar-SA" sz="3200" b="1" dirty="0">
                <a:solidFill>
                  <a:srgbClr val="1F62FB"/>
                </a:solidFill>
                <a:latin typeface="JF Flat" panose="02000500000000000000" pitchFamily="50" charset="-78"/>
              </a:rPr>
              <a:t>الركائز الرئيسية لشركة طيب للرعاية الصحية المنزلية</a:t>
            </a:r>
            <a:endParaRPr lang="en-US" sz="3200" b="1" dirty="0">
              <a:solidFill>
                <a:srgbClr val="1F62FB"/>
              </a:solidFill>
              <a:latin typeface="JF Flat" panose="02000500000000000000" pitchFamily="50" charset="-78"/>
            </a:endParaRPr>
          </a:p>
        </p:txBody>
      </p:sp>
      <p:grpSp>
        <p:nvGrpSpPr>
          <p:cNvPr id="47" name="Group 46">
            <a:extLst>
              <a:ext uri="{FF2B5EF4-FFF2-40B4-BE49-F238E27FC236}">
                <a16:creationId xmlns:a16="http://schemas.microsoft.com/office/drawing/2014/main" id="{12B6B1B3-8AA5-969B-D93F-671DB3BF17E4}"/>
              </a:ext>
            </a:extLst>
          </p:cNvPr>
          <p:cNvGrpSpPr/>
          <p:nvPr/>
        </p:nvGrpSpPr>
        <p:grpSpPr>
          <a:xfrm>
            <a:off x="11837044" y="5660020"/>
            <a:ext cx="354956" cy="1207812"/>
            <a:chOff x="11837044" y="5660020"/>
            <a:chExt cx="354956" cy="1207812"/>
          </a:xfrm>
        </p:grpSpPr>
        <p:sp>
          <p:nvSpPr>
            <p:cNvPr id="48" name="Rectangle 47">
              <a:extLst>
                <a:ext uri="{FF2B5EF4-FFF2-40B4-BE49-F238E27FC236}">
                  <a16:creationId xmlns:a16="http://schemas.microsoft.com/office/drawing/2014/main" id="{2EE8AEA0-7946-D17C-9F0D-F0352721390E}"/>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sp>
          <p:nvSpPr>
            <p:cNvPr id="49" name="Rectangle 48">
              <a:extLst>
                <a:ext uri="{FF2B5EF4-FFF2-40B4-BE49-F238E27FC236}">
                  <a16:creationId xmlns:a16="http://schemas.microsoft.com/office/drawing/2014/main" id="{44071E02-A5EF-5367-E668-3B0F02E5FC16}"/>
                </a:ext>
              </a:extLst>
            </p:cNvPr>
            <p:cNvSpPr/>
            <p:nvPr/>
          </p:nvSpPr>
          <p:spPr>
            <a:xfrm>
              <a:off x="11837044" y="5665113"/>
              <a:ext cx="177478"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grpSp>
    </p:spTree>
    <p:extLst>
      <p:ext uri="{BB962C8B-B14F-4D97-AF65-F5344CB8AC3E}">
        <p14:creationId xmlns:p14="http://schemas.microsoft.com/office/powerpoint/2010/main" val="3870489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2D8193C0-2859-DF90-7C0E-732BE2143945}"/>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28515" y="131075"/>
            <a:ext cx="1066643" cy="490079"/>
          </a:xfrm>
          <a:prstGeom prst="rect">
            <a:avLst/>
          </a:prstGeom>
        </p:spPr>
      </p:pic>
      <p:grpSp>
        <p:nvGrpSpPr>
          <p:cNvPr id="2" name="Group 1">
            <a:extLst>
              <a:ext uri="{FF2B5EF4-FFF2-40B4-BE49-F238E27FC236}">
                <a16:creationId xmlns:a16="http://schemas.microsoft.com/office/drawing/2014/main" id="{FE50E211-5F1F-DC0F-D95D-0638997E3D02}"/>
              </a:ext>
            </a:extLst>
          </p:cNvPr>
          <p:cNvGrpSpPr/>
          <p:nvPr/>
        </p:nvGrpSpPr>
        <p:grpSpPr>
          <a:xfrm>
            <a:off x="-987674" y="-1460547"/>
            <a:ext cx="1094940" cy="461397"/>
            <a:chOff x="2032724" y="505505"/>
            <a:chExt cx="6363131" cy="461397"/>
          </a:xfrm>
        </p:grpSpPr>
        <p:sp>
          <p:nvSpPr>
            <p:cNvPr id="3" name="Rectangle 2">
              <a:extLst>
                <a:ext uri="{FF2B5EF4-FFF2-40B4-BE49-F238E27FC236}">
                  <a16:creationId xmlns:a16="http://schemas.microsoft.com/office/drawing/2014/main" id="{C8A5BA57-3A3A-B474-51CD-EB8BAB258E7C}"/>
                </a:ext>
              </a:extLst>
            </p:cNvPr>
            <p:cNvSpPr/>
            <p:nvPr/>
          </p:nvSpPr>
          <p:spPr>
            <a:xfrm>
              <a:off x="7600051" y="506059"/>
              <a:ext cx="795804" cy="460843"/>
            </a:xfrm>
            <a:prstGeom prst="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B6ADF90C-3B6D-B761-AA60-53A922829CCA}"/>
                </a:ext>
              </a:extLst>
            </p:cNvPr>
            <p:cNvSpPr/>
            <p:nvPr/>
          </p:nvSpPr>
          <p:spPr>
            <a:xfrm>
              <a:off x="6804247" y="506059"/>
              <a:ext cx="795804" cy="460843"/>
            </a:xfrm>
            <a:prstGeom prst="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55A64A07-CB56-717E-B5D5-9875A3440D1C}"/>
                </a:ext>
              </a:extLst>
            </p:cNvPr>
            <p:cNvSpPr/>
            <p:nvPr/>
          </p:nvSpPr>
          <p:spPr>
            <a:xfrm>
              <a:off x="6008443" y="506059"/>
              <a:ext cx="795804" cy="460843"/>
            </a:xfrm>
            <a:prstGeom prst="rect">
              <a:avLst/>
            </a:pr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E87F96E8-C677-5EA3-0BB8-DE4E965DFBA2}"/>
                </a:ext>
              </a:extLst>
            </p:cNvPr>
            <p:cNvSpPr/>
            <p:nvPr/>
          </p:nvSpPr>
          <p:spPr>
            <a:xfrm>
              <a:off x="5212639" y="506059"/>
              <a:ext cx="795804" cy="460843"/>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AD8667FC-23F8-9973-4BD7-3340D83E032A}"/>
                </a:ext>
              </a:extLst>
            </p:cNvPr>
            <p:cNvSpPr/>
            <p:nvPr/>
          </p:nvSpPr>
          <p:spPr>
            <a:xfrm>
              <a:off x="4416835" y="506059"/>
              <a:ext cx="795804" cy="460843"/>
            </a:xfrm>
            <a:prstGeom prst="rect">
              <a:avLst/>
            </a:prstGeom>
            <a:solidFill>
              <a:srgbClr val="D94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A2AB70-1D5B-F9B8-7AEF-B7672B6AB8FF}"/>
                </a:ext>
              </a:extLst>
            </p:cNvPr>
            <p:cNvSpPr/>
            <p:nvPr/>
          </p:nvSpPr>
          <p:spPr>
            <a:xfrm>
              <a:off x="3621031" y="506059"/>
              <a:ext cx="795804" cy="460843"/>
            </a:xfrm>
            <a:prstGeom prst="rect">
              <a:avLst/>
            </a:prstGeom>
            <a:solidFill>
              <a:srgbClr val="575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9AA16A8-3FBF-4E7C-C4B9-43C9023BE7C2}"/>
                </a:ext>
              </a:extLst>
            </p:cNvPr>
            <p:cNvSpPr/>
            <p:nvPr/>
          </p:nvSpPr>
          <p:spPr>
            <a:xfrm>
              <a:off x="2825227" y="506059"/>
              <a:ext cx="795804" cy="460843"/>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4AC728B-C6DC-EFB2-2808-BCB39C321683}"/>
                </a:ext>
              </a:extLst>
            </p:cNvPr>
            <p:cNvSpPr/>
            <p:nvPr/>
          </p:nvSpPr>
          <p:spPr>
            <a:xfrm>
              <a:off x="2032724" y="505505"/>
              <a:ext cx="795804" cy="460843"/>
            </a:xfrm>
            <a:prstGeom prst="rect">
              <a:avLst/>
            </a:prstGeom>
            <a:solidFill>
              <a:srgbClr val="0A0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7" name="Group 26">
            <a:extLst>
              <a:ext uri="{FF2B5EF4-FFF2-40B4-BE49-F238E27FC236}">
                <a16:creationId xmlns:a16="http://schemas.microsoft.com/office/drawing/2014/main" id="{CB0349C4-7B3A-892D-F117-63FC56ABE0D2}"/>
              </a:ext>
            </a:extLst>
          </p:cNvPr>
          <p:cNvGrpSpPr/>
          <p:nvPr/>
        </p:nvGrpSpPr>
        <p:grpSpPr>
          <a:xfrm rot="16200000">
            <a:off x="8844459" y="-2593678"/>
            <a:ext cx="118171" cy="6576902"/>
            <a:chOff x="11838962" y="5660020"/>
            <a:chExt cx="353038" cy="1202719"/>
          </a:xfrm>
        </p:grpSpPr>
        <p:sp>
          <p:nvSpPr>
            <p:cNvPr id="28" name="Rectangle 27">
              <a:extLst>
                <a:ext uri="{FF2B5EF4-FFF2-40B4-BE49-F238E27FC236}">
                  <a16:creationId xmlns:a16="http://schemas.microsoft.com/office/drawing/2014/main" id="{5BD27FE5-5678-34C0-636C-203959CFE783}"/>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sp>
          <p:nvSpPr>
            <p:cNvPr id="29" name="Rectangle 28">
              <a:extLst>
                <a:ext uri="{FF2B5EF4-FFF2-40B4-BE49-F238E27FC236}">
                  <a16:creationId xmlns:a16="http://schemas.microsoft.com/office/drawing/2014/main" id="{BF89895D-CF8F-8F8D-1291-12995B9B7467}"/>
                </a:ext>
              </a:extLst>
            </p:cNvPr>
            <p:cNvSpPr/>
            <p:nvPr/>
          </p:nvSpPr>
          <p:spPr>
            <a:xfrm>
              <a:off x="11838962" y="5660020"/>
              <a:ext cx="177479"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64" dirty="0">
                <a:solidFill>
                  <a:srgbClr val="1F62FB"/>
                </a:solidFill>
              </a:endParaRPr>
            </a:p>
          </p:txBody>
        </p:sp>
      </p:grpSp>
      <p:grpSp>
        <p:nvGrpSpPr>
          <p:cNvPr id="11" name="Group 10">
            <a:extLst>
              <a:ext uri="{FF2B5EF4-FFF2-40B4-BE49-F238E27FC236}">
                <a16:creationId xmlns:a16="http://schemas.microsoft.com/office/drawing/2014/main" id="{E9710285-B3EE-F4E6-7DFE-C7F46DDD8A05}"/>
              </a:ext>
            </a:extLst>
          </p:cNvPr>
          <p:cNvGrpSpPr/>
          <p:nvPr/>
        </p:nvGrpSpPr>
        <p:grpSpPr>
          <a:xfrm>
            <a:off x="11837044" y="5660020"/>
            <a:ext cx="354956" cy="1207812"/>
            <a:chOff x="11837044" y="5660020"/>
            <a:chExt cx="354956" cy="1207812"/>
          </a:xfrm>
        </p:grpSpPr>
        <p:sp>
          <p:nvSpPr>
            <p:cNvPr id="12" name="Rectangle 11">
              <a:extLst>
                <a:ext uri="{FF2B5EF4-FFF2-40B4-BE49-F238E27FC236}">
                  <a16:creationId xmlns:a16="http://schemas.microsoft.com/office/drawing/2014/main" id="{A7B2E35E-FDFA-8990-8ED5-FC367FCDAA30}"/>
                </a:ext>
              </a:extLst>
            </p:cNvPr>
            <p:cNvSpPr/>
            <p:nvPr/>
          </p:nvSpPr>
          <p:spPr>
            <a:xfrm>
              <a:off x="12014522" y="5660020"/>
              <a:ext cx="177478" cy="1202719"/>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sp>
          <p:nvSpPr>
            <p:cNvPr id="13" name="Rectangle 12">
              <a:extLst>
                <a:ext uri="{FF2B5EF4-FFF2-40B4-BE49-F238E27FC236}">
                  <a16:creationId xmlns:a16="http://schemas.microsoft.com/office/drawing/2014/main" id="{5806D54F-9847-A074-F4DB-A142C9C09EB6}"/>
                </a:ext>
              </a:extLst>
            </p:cNvPr>
            <p:cNvSpPr/>
            <p:nvPr/>
          </p:nvSpPr>
          <p:spPr>
            <a:xfrm>
              <a:off x="11837044" y="5665113"/>
              <a:ext cx="177478" cy="1202719"/>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1F62FB"/>
                </a:solidFill>
              </a:endParaRPr>
            </a:p>
          </p:txBody>
        </p:sp>
      </p:grpSp>
      <p:grpSp>
        <p:nvGrpSpPr>
          <p:cNvPr id="15" name="Group 14">
            <a:extLst>
              <a:ext uri="{FF2B5EF4-FFF2-40B4-BE49-F238E27FC236}">
                <a16:creationId xmlns:a16="http://schemas.microsoft.com/office/drawing/2014/main" id="{AF6C9013-C058-C945-6A8C-9918B01374B8}"/>
              </a:ext>
            </a:extLst>
          </p:cNvPr>
          <p:cNvGrpSpPr/>
          <p:nvPr/>
        </p:nvGrpSpPr>
        <p:grpSpPr>
          <a:xfrm flipH="1">
            <a:off x="3376431" y="1862141"/>
            <a:ext cx="5900414" cy="810181"/>
            <a:chOff x="299194" y="2407279"/>
            <a:chExt cx="8509968" cy="695244"/>
          </a:xfrm>
        </p:grpSpPr>
        <p:sp>
          <p:nvSpPr>
            <p:cNvPr id="32" name="Rectangle 31">
              <a:extLst>
                <a:ext uri="{FF2B5EF4-FFF2-40B4-BE49-F238E27FC236}">
                  <a16:creationId xmlns:a16="http://schemas.microsoft.com/office/drawing/2014/main" id="{BB2F2CAA-1D78-052B-5A75-7381B5898C2E}"/>
                </a:ext>
              </a:extLst>
            </p:cNvPr>
            <p:cNvSpPr/>
            <p:nvPr/>
          </p:nvSpPr>
          <p:spPr>
            <a:xfrm flipH="1">
              <a:off x="363061" y="2407279"/>
              <a:ext cx="8446101" cy="695243"/>
            </a:xfrm>
            <a:prstGeom prst="rect">
              <a:avLst/>
            </a:prstGeom>
            <a:solidFill>
              <a:srgbClr val="E7E8ED"/>
            </a:solidFill>
            <a:ln>
              <a:noFill/>
            </a:ln>
            <a:effectLst>
              <a:outerShdw blurRad="114300" dist="38100" dir="8100000" algn="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33" name="Rectangle: Top Corners Rounded 32">
              <a:extLst>
                <a:ext uri="{FF2B5EF4-FFF2-40B4-BE49-F238E27FC236}">
                  <a16:creationId xmlns:a16="http://schemas.microsoft.com/office/drawing/2014/main" id="{12087111-0FDE-EF2D-6721-821F38F9DE82}"/>
                </a:ext>
              </a:extLst>
            </p:cNvPr>
            <p:cNvSpPr/>
            <p:nvPr/>
          </p:nvSpPr>
          <p:spPr>
            <a:xfrm rot="16200000" flipH="1">
              <a:off x="299195" y="2407281"/>
              <a:ext cx="695241" cy="695244"/>
            </a:xfrm>
            <a:prstGeom prst="round2SameRect">
              <a:avLst/>
            </a:prstGeom>
            <a:solidFill>
              <a:srgbClr val="33AFFA"/>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EF8F24"/>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E0FF9893-827B-8EF0-A9ED-AA70F9E9E803}"/>
                </a:ext>
              </a:extLst>
            </p:cNvPr>
            <p:cNvSpPr txBox="1"/>
            <p:nvPr/>
          </p:nvSpPr>
          <p:spPr>
            <a:xfrm>
              <a:off x="396638" y="2546330"/>
              <a:ext cx="483319" cy="316936"/>
            </a:xfrm>
            <a:prstGeom prst="rect">
              <a:avLst/>
            </a:prstGeom>
            <a:noFill/>
          </p:spPr>
          <p:txBody>
            <a:bodyPr wrap="square" rtlCol="0">
              <a:spAutoFit/>
            </a:bodyPr>
            <a:lstStyle/>
            <a:p>
              <a:pPr algn="ctr"/>
              <a:r>
                <a:rPr lang="en-US" b="1" dirty="0">
                  <a:solidFill>
                    <a:srgbClr val="57586D"/>
                  </a:solidFill>
                  <a:latin typeface="Arial" panose="020B0604020202020204" pitchFamily="34" charset="0"/>
                  <a:cs typeface="Arial" panose="020B0604020202020204" pitchFamily="34" charset="0"/>
                </a:rPr>
                <a:t>1</a:t>
              </a:r>
            </a:p>
          </p:txBody>
        </p:sp>
        <p:sp>
          <p:nvSpPr>
            <p:cNvPr id="35" name="TextBox 34">
              <a:extLst>
                <a:ext uri="{FF2B5EF4-FFF2-40B4-BE49-F238E27FC236}">
                  <a16:creationId xmlns:a16="http://schemas.microsoft.com/office/drawing/2014/main" id="{E5364CA1-DB3C-314E-385B-FCFE809A4D8F}"/>
                </a:ext>
              </a:extLst>
            </p:cNvPr>
            <p:cNvSpPr txBox="1"/>
            <p:nvPr/>
          </p:nvSpPr>
          <p:spPr>
            <a:xfrm>
              <a:off x="1107441" y="2611699"/>
              <a:ext cx="7477761" cy="316936"/>
            </a:xfrm>
            <a:prstGeom prst="rect">
              <a:avLst/>
            </a:prstGeom>
            <a:noFill/>
          </p:spPr>
          <p:txBody>
            <a:bodyPr wrap="square" rtlCol="0">
              <a:spAutoFit/>
            </a:bodyPr>
            <a:lstStyle/>
            <a:p>
              <a:pPr algn="r"/>
              <a:r>
                <a:rPr lang="ar-SA" dirty="0">
                  <a:solidFill>
                    <a:srgbClr val="57586D"/>
                  </a:solidFill>
                  <a:latin typeface="Arial" panose="020B0604020202020204" pitchFamily="34" charset="0"/>
                  <a:cs typeface="Arial" panose="020B0604020202020204" pitchFamily="34" charset="0"/>
                </a:rPr>
                <a:t>التشغيل الكامل أو الجزئي لخدمات الأقسام الطبية</a:t>
              </a:r>
              <a:endParaRPr lang="en-US" dirty="0">
                <a:solidFill>
                  <a:srgbClr val="57586D"/>
                </a:solidFill>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A25A7C44-9041-7940-963F-C0DE3383B5D8}"/>
              </a:ext>
            </a:extLst>
          </p:cNvPr>
          <p:cNvGrpSpPr/>
          <p:nvPr/>
        </p:nvGrpSpPr>
        <p:grpSpPr>
          <a:xfrm flipH="1">
            <a:off x="3376431" y="2967175"/>
            <a:ext cx="5900415" cy="810180"/>
            <a:chOff x="217913" y="1472559"/>
            <a:chExt cx="8509969" cy="695244"/>
          </a:xfrm>
        </p:grpSpPr>
        <p:grpSp>
          <p:nvGrpSpPr>
            <p:cNvPr id="24" name="Group 23">
              <a:extLst>
                <a:ext uri="{FF2B5EF4-FFF2-40B4-BE49-F238E27FC236}">
                  <a16:creationId xmlns:a16="http://schemas.microsoft.com/office/drawing/2014/main" id="{0DD5887C-B71E-C2F6-2164-A746B709D6DE}"/>
                </a:ext>
              </a:extLst>
            </p:cNvPr>
            <p:cNvGrpSpPr/>
            <p:nvPr/>
          </p:nvGrpSpPr>
          <p:grpSpPr>
            <a:xfrm flipH="1">
              <a:off x="217913" y="1472559"/>
              <a:ext cx="8509969" cy="695244"/>
              <a:chOff x="763929" y="925423"/>
              <a:chExt cx="8431777" cy="2009479"/>
            </a:xfrm>
          </p:grpSpPr>
          <p:sp>
            <p:nvSpPr>
              <p:cNvPr id="30" name="Rectangle 29">
                <a:extLst>
                  <a:ext uri="{FF2B5EF4-FFF2-40B4-BE49-F238E27FC236}">
                    <a16:creationId xmlns:a16="http://schemas.microsoft.com/office/drawing/2014/main" id="{7BC3CEDC-27DA-0AD2-E7D0-A7EF91CC6693}"/>
                  </a:ext>
                </a:extLst>
              </p:cNvPr>
              <p:cNvSpPr/>
              <p:nvPr/>
            </p:nvSpPr>
            <p:spPr>
              <a:xfrm>
                <a:off x="763929" y="925423"/>
                <a:ext cx="8368496" cy="2009476"/>
              </a:xfrm>
              <a:prstGeom prst="rect">
                <a:avLst/>
              </a:prstGeom>
              <a:solidFill>
                <a:srgbClr val="E7E8ED"/>
              </a:solidFill>
              <a:ln>
                <a:noFill/>
              </a:ln>
              <a:effectLst>
                <a:outerShdw blurRad="114300" dist="38100" dir="8100000" algn="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31" name="Rectangle: Top Corners Rounded 30">
                <a:extLst>
                  <a:ext uri="{FF2B5EF4-FFF2-40B4-BE49-F238E27FC236}">
                    <a16:creationId xmlns:a16="http://schemas.microsoft.com/office/drawing/2014/main" id="{04A2099E-2CA4-E27F-2D5D-50A8981B40C7}"/>
                  </a:ext>
                </a:extLst>
              </p:cNvPr>
              <p:cNvSpPr/>
              <p:nvPr/>
            </p:nvSpPr>
            <p:spPr>
              <a:xfrm rot="5400000">
                <a:off x="7846543" y="1585740"/>
                <a:ext cx="2009469" cy="688856"/>
              </a:xfrm>
              <a:prstGeom prst="round2SameRect">
                <a:avLst/>
              </a:prstGeom>
              <a:solidFill>
                <a:srgbClr val="EF8F24"/>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EF8F24"/>
                  </a:solidFill>
                  <a:latin typeface="Arial" panose="020B0604020202020204" pitchFamily="34" charset="0"/>
                  <a:cs typeface="Arial" panose="020B0604020202020204" pitchFamily="34" charset="0"/>
                </a:endParaRPr>
              </a:p>
            </p:txBody>
          </p:sp>
        </p:grpSp>
        <p:sp>
          <p:nvSpPr>
            <p:cNvPr id="25" name="TextBox 24">
              <a:extLst>
                <a:ext uri="{FF2B5EF4-FFF2-40B4-BE49-F238E27FC236}">
                  <a16:creationId xmlns:a16="http://schemas.microsoft.com/office/drawing/2014/main" id="{4F9DCE58-51EE-681C-3486-37CB1D92FF88}"/>
                </a:ext>
              </a:extLst>
            </p:cNvPr>
            <p:cNvSpPr txBox="1"/>
            <p:nvPr/>
          </p:nvSpPr>
          <p:spPr>
            <a:xfrm>
              <a:off x="315358" y="1611611"/>
              <a:ext cx="483317" cy="316937"/>
            </a:xfrm>
            <a:prstGeom prst="rect">
              <a:avLst/>
            </a:prstGeom>
            <a:noFill/>
          </p:spPr>
          <p:txBody>
            <a:bodyPr wrap="square" rtlCol="0">
              <a:spAutoFit/>
            </a:bodyPr>
            <a:lstStyle/>
            <a:p>
              <a:pPr algn="ctr"/>
              <a:r>
                <a:rPr lang="en-US" b="1" dirty="0">
                  <a:solidFill>
                    <a:srgbClr val="57586D"/>
                  </a:solidFill>
                  <a:latin typeface="Arial" panose="020B0604020202020204" pitchFamily="34" charset="0"/>
                  <a:cs typeface="Arial" panose="020B0604020202020204" pitchFamily="34" charset="0"/>
                </a:rPr>
                <a:t>2</a:t>
              </a:r>
            </a:p>
          </p:txBody>
        </p:sp>
      </p:grpSp>
      <p:grpSp>
        <p:nvGrpSpPr>
          <p:cNvPr id="18" name="Group 17">
            <a:extLst>
              <a:ext uri="{FF2B5EF4-FFF2-40B4-BE49-F238E27FC236}">
                <a16:creationId xmlns:a16="http://schemas.microsoft.com/office/drawing/2014/main" id="{E8C44DCC-FF75-9DE3-726F-BF0FD5684D07}"/>
              </a:ext>
            </a:extLst>
          </p:cNvPr>
          <p:cNvGrpSpPr/>
          <p:nvPr/>
        </p:nvGrpSpPr>
        <p:grpSpPr>
          <a:xfrm flipH="1">
            <a:off x="3376431" y="4072205"/>
            <a:ext cx="5900415" cy="810181"/>
            <a:chOff x="217913" y="1472559"/>
            <a:chExt cx="8509969" cy="695244"/>
          </a:xfrm>
        </p:grpSpPr>
        <p:grpSp>
          <p:nvGrpSpPr>
            <p:cNvPr id="19" name="Group 18">
              <a:extLst>
                <a:ext uri="{FF2B5EF4-FFF2-40B4-BE49-F238E27FC236}">
                  <a16:creationId xmlns:a16="http://schemas.microsoft.com/office/drawing/2014/main" id="{E54C5F96-F2B9-9F09-A397-B0B5A7E7FAFE}"/>
                </a:ext>
              </a:extLst>
            </p:cNvPr>
            <p:cNvGrpSpPr/>
            <p:nvPr/>
          </p:nvGrpSpPr>
          <p:grpSpPr>
            <a:xfrm flipH="1">
              <a:off x="217913" y="1472559"/>
              <a:ext cx="8509969" cy="695244"/>
              <a:chOff x="763929" y="925423"/>
              <a:chExt cx="8431777" cy="2009479"/>
            </a:xfrm>
          </p:grpSpPr>
          <p:sp>
            <p:nvSpPr>
              <p:cNvPr id="22" name="Rectangle 21">
                <a:extLst>
                  <a:ext uri="{FF2B5EF4-FFF2-40B4-BE49-F238E27FC236}">
                    <a16:creationId xmlns:a16="http://schemas.microsoft.com/office/drawing/2014/main" id="{1FA57113-3E98-3F01-38A1-00A54749C4FB}"/>
                  </a:ext>
                </a:extLst>
              </p:cNvPr>
              <p:cNvSpPr/>
              <p:nvPr/>
            </p:nvSpPr>
            <p:spPr>
              <a:xfrm>
                <a:off x="763929" y="925423"/>
                <a:ext cx="8368496" cy="2009476"/>
              </a:xfrm>
              <a:prstGeom prst="rect">
                <a:avLst/>
              </a:prstGeom>
              <a:solidFill>
                <a:srgbClr val="E7E8ED"/>
              </a:solidFill>
              <a:ln>
                <a:noFill/>
              </a:ln>
              <a:effectLst>
                <a:outerShdw blurRad="114300" dist="38100" dir="8100000" algn="tr" rotWithShape="0">
                  <a:prstClr val="black">
                    <a:alpha val="46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23" name="Rectangle: Top Corners Rounded 22">
                <a:extLst>
                  <a:ext uri="{FF2B5EF4-FFF2-40B4-BE49-F238E27FC236}">
                    <a16:creationId xmlns:a16="http://schemas.microsoft.com/office/drawing/2014/main" id="{D0987929-6420-EA27-A5E4-91AF8F3828DC}"/>
                  </a:ext>
                </a:extLst>
              </p:cNvPr>
              <p:cNvSpPr/>
              <p:nvPr/>
            </p:nvSpPr>
            <p:spPr>
              <a:xfrm rot="5400000">
                <a:off x="7846543" y="1585740"/>
                <a:ext cx="2009469" cy="688856"/>
              </a:xfrm>
              <a:prstGeom prst="round2SameRect">
                <a:avLst/>
              </a:prstGeom>
              <a:solidFill>
                <a:srgbClr val="3CAEA3"/>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3CAEA3"/>
                  </a:solidFill>
                  <a:latin typeface="Arial" panose="020B0604020202020204" pitchFamily="34" charset="0"/>
                  <a:cs typeface="Arial" panose="020B0604020202020204" pitchFamily="34" charset="0"/>
                </a:endParaRPr>
              </a:p>
            </p:txBody>
          </p:sp>
        </p:grpSp>
        <p:sp>
          <p:nvSpPr>
            <p:cNvPr id="20" name="TextBox 19">
              <a:extLst>
                <a:ext uri="{FF2B5EF4-FFF2-40B4-BE49-F238E27FC236}">
                  <a16:creationId xmlns:a16="http://schemas.microsoft.com/office/drawing/2014/main" id="{017DA436-8D61-D451-6309-F024328EDC6B}"/>
                </a:ext>
              </a:extLst>
            </p:cNvPr>
            <p:cNvSpPr txBox="1"/>
            <p:nvPr/>
          </p:nvSpPr>
          <p:spPr>
            <a:xfrm>
              <a:off x="315358" y="1611610"/>
              <a:ext cx="483317" cy="316936"/>
            </a:xfrm>
            <a:prstGeom prst="rect">
              <a:avLst/>
            </a:prstGeom>
            <a:noFill/>
          </p:spPr>
          <p:txBody>
            <a:bodyPr wrap="square" rtlCol="0">
              <a:spAutoFit/>
            </a:bodyPr>
            <a:lstStyle/>
            <a:p>
              <a:pPr algn="ctr"/>
              <a:r>
                <a:rPr lang="en-US" b="1" dirty="0">
                  <a:solidFill>
                    <a:srgbClr val="57586D"/>
                  </a:solidFill>
                  <a:latin typeface="Arial" panose="020B0604020202020204" pitchFamily="34" charset="0"/>
                  <a:cs typeface="Arial" panose="020B0604020202020204" pitchFamily="34" charset="0"/>
                </a:rPr>
                <a:t>3</a:t>
              </a:r>
            </a:p>
          </p:txBody>
        </p:sp>
      </p:grpSp>
      <p:sp>
        <p:nvSpPr>
          <p:cNvPr id="37" name="TextBox 36">
            <a:extLst>
              <a:ext uri="{FF2B5EF4-FFF2-40B4-BE49-F238E27FC236}">
                <a16:creationId xmlns:a16="http://schemas.microsoft.com/office/drawing/2014/main" id="{2BC20815-FFEE-5634-0408-3477E65DDE89}"/>
              </a:ext>
            </a:extLst>
          </p:cNvPr>
          <p:cNvSpPr txBox="1"/>
          <p:nvPr/>
        </p:nvSpPr>
        <p:spPr>
          <a:xfrm flipH="1">
            <a:off x="3479346" y="3187597"/>
            <a:ext cx="5184731" cy="369332"/>
          </a:xfrm>
          <a:prstGeom prst="rect">
            <a:avLst/>
          </a:prstGeom>
          <a:noFill/>
        </p:spPr>
        <p:txBody>
          <a:bodyPr wrap="square" rtlCol="0">
            <a:spAutoFit/>
          </a:bodyPr>
          <a:lstStyle/>
          <a:p>
            <a:pPr algn="r"/>
            <a:r>
              <a:rPr lang="ar-SA" dirty="0">
                <a:solidFill>
                  <a:srgbClr val="57586D"/>
                </a:solidFill>
                <a:latin typeface="Arial" panose="020B0604020202020204" pitchFamily="34" charset="0"/>
                <a:cs typeface="Arial" panose="020B0604020202020204" pitchFamily="34" charset="0"/>
              </a:rPr>
              <a:t>تشغيل برنامج الرعاية الصحية المنزلية والرعاية الصحية الممتدة</a:t>
            </a:r>
            <a:endParaRPr lang="en-US" dirty="0">
              <a:solidFill>
                <a:srgbClr val="57586D"/>
              </a:solidFill>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1D2A2D89-D884-D694-6AC8-DAD74EDF2E05}"/>
              </a:ext>
            </a:extLst>
          </p:cNvPr>
          <p:cNvSpPr txBox="1"/>
          <p:nvPr/>
        </p:nvSpPr>
        <p:spPr>
          <a:xfrm flipH="1">
            <a:off x="3479346" y="4292629"/>
            <a:ext cx="5184731" cy="369332"/>
          </a:xfrm>
          <a:prstGeom prst="rect">
            <a:avLst/>
          </a:prstGeom>
          <a:noFill/>
        </p:spPr>
        <p:txBody>
          <a:bodyPr wrap="square" rtlCol="0">
            <a:spAutoFit/>
          </a:bodyPr>
          <a:lstStyle/>
          <a:p>
            <a:pPr algn="r"/>
            <a:r>
              <a:rPr lang="ar-SA" dirty="0">
                <a:solidFill>
                  <a:srgbClr val="57586D"/>
                </a:solidFill>
                <a:latin typeface="Arial" panose="020B0604020202020204" pitchFamily="34" charset="0"/>
                <a:cs typeface="Arial" panose="020B0604020202020204" pitchFamily="34" charset="0"/>
              </a:rPr>
              <a:t>تشغيل العيادة المتنقلة أو </a:t>
            </a:r>
            <a:r>
              <a:rPr lang="ar-SA" dirty="0" err="1">
                <a:solidFill>
                  <a:srgbClr val="57586D"/>
                </a:solidFill>
                <a:latin typeface="Arial" panose="020B0604020202020204" pitchFamily="34" charset="0"/>
                <a:cs typeface="Arial" panose="020B0604020202020204" pitchFamily="34" charset="0"/>
              </a:rPr>
              <a:t>الإفتراضية</a:t>
            </a:r>
            <a:endParaRPr lang="en-US" dirty="0">
              <a:solidFill>
                <a:srgbClr val="57586D"/>
              </a:solidFill>
              <a:latin typeface="Arial" panose="020B0604020202020204" pitchFamily="34" charset="0"/>
              <a:cs typeface="Arial" panose="020B0604020202020204" pitchFamily="34" charset="0"/>
            </a:endParaRPr>
          </a:p>
        </p:txBody>
      </p:sp>
      <p:sp>
        <p:nvSpPr>
          <p:cNvPr id="40" name="TextBox 39">
            <a:extLst>
              <a:ext uri="{FF2B5EF4-FFF2-40B4-BE49-F238E27FC236}">
                <a16:creationId xmlns:a16="http://schemas.microsoft.com/office/drawing/2014/main" id="{664C2B68-1C2C-EF56-1816-2E0C3D1078A6}"/>
              </a:ext>
            </a:extLst>
          </p:cNvPr>
          <p:cNvSpPr txBox="1"/>
          <p:nvPr/>
        </p:nvSpPr>
        <p:spPr>
          <a:xfrm>
            <a:off x="3788229" y="904138"/>
            <a:ext cx="8048815" cy="584775"/>
          </a:xfrm>
          <a:prstGeom prst="rect">
            <a:avLst/>
          </a:prstGeom>
          <a:noFill/>
        </p:spPr>
        <p:txBody>
          <a:bodyPr wrap="square" rtlCol="0">
            <a:spAutoFit/>
          </a:bodyPr>
          <a:lstStyle/>
          <a:p>
            <a:pPr algn="r"/>
            <a:r>
              <a:rPr lang="ar-SA" sz="3200" b="1" dirty="0">
                <a:solidFill>
                  <a:srgbClr val="1F62FB"/>
                </a:solidFill>
                <a:latin typeface="Arial" panose="020B0604020202020204" pitchFamily="34" charset="0"/>
                <a:cs typeface="Arial" panose="020B0604020202020204" pitchFamily="34" charset="0"/>
              </a:rPr>
              <a:t>خدمات طيب</a:t>
            </a:r>
            <a:endParaRPr lang="en-US" sz="3200" b="1" dirty="0">
              <a:solidFill>
                <a:srgbClr val="1F62FB"/>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2776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D66C045E-E3F4-0F5F-DA1F-AFFAD4BBF0B1}"/>
              </a:ext>
            </a:extLst>
          </p:cNvPr>
          <p:cNvSpPr/>
          <p:nvPr/>
        </p:nvSpPr>
        <p:spPr>
          <a:xfrm>
            <a:off x="6083126" y="1863"/>
            <a:ext cx="6096000" cy="6858000"/>
          </a:xfrm>
          <a:prstGeom prst="rect">
            <a:avLst/>
          </a:prstGeom>
          <a:blipFill dpi="0" rotWithShape="1">
            <a:blip r:embed="rId2"/>
            <a:srcRect/>
            <a:stretch>
              <a:fillRect/>
            </a:stretch>
          </a:blip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a:extLst>
              <a:ext uri="{FF2B5EF4-FFF2-40B4-BE49-F238E27FC236}">
                <a16:creationId xmlns:a16="http://schemas.microsoft.com/office/drawing/2014/main" id="{0F585E14-9D80-E61B-8157-DE942D7B66C9}"/>
              </a:ext>
            </a:extLst>
          </p:cNvPr>
          <p:cNvSpPr/>
          <p:nvPr/>
        </p:nvSpPr>
        <p:spPr>
          <a:xfrm>
            <a:off x="0" y="0"/>
            <a:ext cx="12192000" cy="6869575"/>
          </a:xfrm>
          <a:prstGeom prst="rect">
            <a:avLst/>
          </a:prstGeom>
          <a:blipFill dpi="0" rotWithShape="1">
            <a:blip r:embed="rId3">
              <a:alphaModFix amt="72000"/>
              <a:grayscl/>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3313436B-E13F-E459-DE9B-25840FC47DFD}"/>
              </a:ext>
            </a:extLst>
          </p:cNvPr>
          <p:cNvSpPr/>
          <p:nvPr/>
        </p:nvSpPr>
        <p:spPr>
          <a:xfrm>
            <a:off x="0" y="11575"/>
            <a:ext cx="12192000" cy="6858000"/>
          </a:xfrm>
          <a:prstGeom prst="rect">
            <a:avLst/>
          </a:prstGeom>
          <a:solidFill>
            <a:srgbClr val="1F62FB">
              <a:alpha val="4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3F5EA6"/>
              </a:solidFill>
            </a:endParaRPr>
          </a:p>
        </p:txBody>
      </p:sp>
      <p:sp>
        <p:nvSpPr>
          <p:cNvPr id="28" name="Freeform 75">
            <a:extLst>
              <a:ext uri="{FF2B5EF4-FFF2-40B4-BE49-F238E27FC236}">
                <a16:creationId xmlns:a16="http://schemas.microsoft.com/office/drawing/2014/main" id="{362D5606-A8F2-4922-2D62-E079A71366BC}"/>
              </a:ext>
            </a:extLst>
          </p:cNvPr>
          <p:cNvSpPr/>
          <p:nvPr/>
        </p:nvSpPr>
        <p:spPr>
          <a:xfrm>
            <a:off x="1709823" y="-26089"/>
            <a:ext cx="5671784" cy="7501834"/>
          </a:xfrm>
          <a:custGeom>
            <a:avLst/>
            <a:gdLst>
              <a:gd name="connsiteX0" fmla="*/ 0 w 6994122"/>
              <a:gd name="connsiteY0" fmla="*/ 0 h 6872514"/>
              <a:gd name="connsiteX1" fmla="*/ 6994122 w 6994122"/>
              <a:gd name="connsiteY1" fmla="*/ 0 h 6872514"/>
              <a:gd name="connsiteX2" fmla="*/ 6994122 w 6994122"/>
              <a:gd name="connsiteY2" fmla="*/ 6872514 h 6872514"/>
              <a:gd name="connsiteX3" fmla="*/ 4989231 w 6994122"/>
              <a:gd name="connsiteY3" fmla="*/ 6872514 h 6872514"/>
            </a:gdLst>
            <a:ahLst/>
            <a:cxnLst>
              <a:cxn ang="0">
                <a:pos x="connsiteX0" y="connsiteY0"/>
              </a:cxn>
              <a:cxn ang="0">
                <a:pos x="connsiteX1" y="connsiteY1"/>
              </a:cxn>
              <a:cxn ang="0">
                <a:pos x="connsiteX2" y="connsiteY2"/>
              </a:cxn>
              <a:cxn ang="0">
                <a:pos x="connsiteX3" y="connsiteY3"/>
              </a:cxn>
            </a:cxnLst>
            <a:rect l="l" t="t" r="r" b="b"/>
            <a:pathLst>
              <a:path w="6994122" h="6872514">
                <a:moveTo>
                  <a:pt x="0" y="0"/>
                </a:moveTo>
                <a:lnTo>
                  <a:pt x="6994122" y="0"/>
                </a:lnTo>
                <a:lnTo>
                  <a:pt x="6994122" y="6872514"/>
                </a:lnTo>
                <a:lnTo>
                  <a:pt x="4989231" y="6872514"/>
                </a:lnTo>
                <a:close/>
              </a:path>
            </a:pathLst>
          </a:cu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solidFill>
                <a:srgbClr val="2E503B">
                  <a:alpha val="58000"/>
                </a:srgbClr>
              </a:solidFill>
            </a:endParaRPr>
          </a:p>
        </p:txBody>
      </p:sp>
      <p:sp>
        <p:nvSpPr>
          <p:cNvPr id="29" name="Freeform 75">
            <a:extLst>
              <a:ext uri="{FF2B5EF4-FFF2-40B4-BE49-F238E27FC236}">
                <a16:creationId xmlns:a16="http://schemas.microsoft.com/office/drawing/2014/main" id="{BAFC4A6A-80CB-FAA9-548E-1F90208AE0D2}"/>
              </a:ext>
            </a:extLst>
          </p:cNvPr>
          <p:cNvSpPr/>
          <p:nvPr/>
        </p:nvSpPr>
        <p:spPr>
          <a:xfrm>
            <a:off x="3450000" y="-27558"/>
            <a:ext cx="5671784" cy="7501834"/>
          </a:xfrm>
          <a:custGeom>
            <a:avLst/>
            <a:gdLst>
              <a:gd name="connsiteX0" fmla="*/ 0 w 6994122"/>
              <a:gd name="connsiteY0" fmla="*/ 0 h 6872514"/>
              <a:gd name="connsiteX1" fmla="*/ 6994122 w 6994122"/>
              <a:gd name="connsiteY1" fmla="*/ 0 h 6872514"/>
              <a:gd name="connsiteX2" fmla="*/ 6994122 w 6994122"/>
              <a:gd name="connsiteY2" fmla="*/ 6872514 h 6872514"/>
              <a:gd name="connsiteX3" fmla="*/ 4989231 w 6994122"/>
              <a:gd name="connsiteY3" fmla="*/ 6872514 h 6872514"/>
            </a:gdLst>
            <a:ahLst/>
            <a:cxnLst>
              <a:cxn ang="0">
                <a:pos x="connsiteX0" y="connsiteY0"/>
              </a:cxn>
              <a:cxn ang="0">
                <a:pos x="connsiteX1" y="connsiteY1"/>
              </a:cxn>
              <a:cxn ang="0">
                <a:pos x="connsiteX2" y="connsiteY2"/>
              </a:cxn>
              <a:cxn ang="0">
                <a:pos x="connsiteX3" y="connsiteY3"/>
              </a:cxn>
            </a:cxnLst>
            <a:rect l="l" t="t" r="r" b="b"/>
            <a:pathLst>
              <a:path w="6994122" h="6872514">
                <a:moveTo>
                  <a:pt x="0" y="0"/>
                </a:moveTo>
                <a:lnTo>
                  <a:pt x="6994122" y="0"/>
                </a:lnTo>
                <a:lnTo>
                  <a:pt x="6994122" y="6872514"/>
                </a:lnTo>
                <a:lnTo>
                  <a:pt x="4989231" y="6872514"/>
                </a:lnTo>
                <a:close/>
              </a:path>
            </a:pathLst>
          </a:cu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solidFill>
                <a:srgbClr val="2E503B">
                  <a:alpha val="58000"/>
                </a:srgbClr>
              </a:solidFill>
            </a:endParaRPr>
          </a:p>
        </p:txBody>
      </p:sp>
      <p:grpSp>
        <p:nvGrpSpPr>
          <p:cNvPr id="30" name="Group 29">
            <a:extLst>
              <a:ext uri="{FF2B5EF4-FFF2-40B4-BE49-F238E27FC236}">
                <a16:creationId xmlns:a16="http://schemas.microsoft.com/office/drawing/2014/main" id="{FFDA9094-6FF3-34AF-849A-3A5C8DF43755}"/>
              </a:ext>
            </a:extLst>
          </p:cNvPr>
          <p:cNvGrpSpPr/>
          <p:nvPr/>
        </p:nvGrpSpPr>
        <p:grpSpPr>
          <a:xfrm>
            <a:off x="0" y="-389242"/>
            <a:ext cx="11513587" cy="7854913"/>
            <a:chOff x="-1" y="-40602"/>
            <a:chExt cx="12192001" cy="5726710"/>
          </a:xfrm>
        </p:grpSpPr>
        <p:sp>
          <p:nvSpPr>
            <p:cNvPr id="31" name="Rectangle 30">
              <a:extLst>
                <a:ext uri="{FF2B5EF4-FFF2-40B4-BE49-F238E27FC236}">
                  <a16:creationId xmlns:a16="http://schemas.microsoft.com/office/drawing/2014/main" id="{2AAD12EF-D72F-8963-0D14-97ABDE1E764C}"/>
                </a:ext>
              </a:extLst>
            </p:cNvPr>
            <p:cNvSpPr/>
            <p:nvPr/>
          </p:nvSpPr>
          <p:spPr>
            <a:xfrm>
              <a:off x="-1" y="1899842"/>
              <a:ext cx="6275428" cy="2233555"/>
            </a:xfrm>
            <a:prstGeom prst="rect">
              <a:avLst/>
            </a:prstGeom>
            <a:solidFill>
              <a:srgbClr val="1F62FB">
                <a:alpha val="3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SA" sz="6600" dirty="0"/>
                <a:t>شكراً لكم</a:t>
              </a:r>
              <a:endParaRPr lang="en-US" sz="6600" dirty="0"/>
            </a:p>
          </p:txBody>
        </p:sp>
        <p:sp>
          <p:nvSpPr>
            <p:cNvPr id="32" name="Freeform 75">
              <a:extLst>
                <a:ext uri="{FF2B5EF4-FFF2-40B4-BE49-F238E27FC236}">
                  <a16:creationId xmlns:a16="http://schemas.microsoft.com/office/drawing/2014/main" id="{FDA237DA-8749-0568-1D8E-4A468FBF9221}"/>
                </a:ext>
              </a:extLst>
            </p:cNvPr>
            <p:cNvSpPr/>
            <p:nvPr/>
          </p:nvSpPr>
          <p:spPr>
            <a:xfrm>
              <a:off x="6002778" y="-40602"/>
              <a:ext cx="6189222" cy="5686108"/>
            </a:xfrm>
            <a:custGeom>
              <a:avLst/>
              <a:gdLst>
                <a:gd name="connsiteX0" fmla="*/ 0 w 6994122"/>
                <a:gd name="connsiteY0" fmla="*/ 0 h 6872514"/>
                <a:gd name="connsiteX1" fmla="*/ 6994122 w 6994122"/>
                <a:gd name="connsiteY1" fmla="*/ 0 h 6872514"/>
                <a:gd name="connsiteX2" fmla="*/ 6994122 w 6994122"/>
                <a:gd name="connsiteY2" fmla="*/ 6872514 h 6872514"/>
                <a:gd name="connsiteX3" fmla="*/ 4989231 w 6994122"/>
                <a:gd name="connsiteY3" fmla="*/ 6872514 h 6872514"/>
              </a:gdLst>
              <a:ahLst/>
              <a:cxnLst>
                <a:cxn ang="0">
                  <a:pos x="connsiteX0" y="connsiteY0"/>
                </a:cxn>
                <a:cxn ang="0">
                  <a:pos x="connsiteX1" y="connsiteY1"/>
                </a:cxn>
                <a:cxn ang="0">
                  <a:pos x="connsiteX2" y="connsiteY2"/>
                </a:cxn>
                <a:cxn ang="0">
                  <a:pos x="connsiteX3" y="connsiteY3"/>
                </a:cxn>
              </a:cxnLst>
              <a:rect l="l" t="t" r="r" b="b"/>
              <a:pathLst>
                <a:path w="6994122" h="6872514">
                  <a:moveTo>
                    <a:pt x="0" y="0"/>
                  </a:moveTo>
                  <a:lnTo>
                    <a:pt x="6994122" y="0"/>
                  </a:lnTo>
                  <a:lnTo>
                    <a:pt x="6994122" y="6872514"/>
                  </a:lnTo>
                  <a:lnTo>
                    <a:pt x="4989231" y="6872514"/>
                  </a:lnTo>
                  <a:close/>
                </a:path>
              </a:pathLst>
            </a:cu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solidFill>
                  <a:srgbClr val="2E503B">
                    <a:alpha val="58000"/>
                  </a:srgbClr>
                </a:solidFill>
              </a:endParaRPr>
            </a:p>
          </p:txBody>
        </p:sp>
        <p:sp>
          <p:nvSpPr>
            <p:cNvPr id="33" name="Freeform 75">
              <a:extLst>
                <a:ext uri="{FF2B5EF4-FFF2-40B4-BE49-F238E27FC236}">
                  <a16:creationId xmlns:a16="http://schemas.microsoft.com/office/drawing/2014/main" id="{64EB445F-0367-C018-69E3-1A5BA3F58508}"/>
                </a:ext>
              </a:extLst>
            </p:cNvPr>
            <p:cNvSpPr/>
            <p:nvPr/>
          </p:nvSpPr>
          <p:spPr>
            <a:xfrm>
              <a:off x="5163025" y="14514"/>
              <a:ext cx="6005982" cy="5671594"/>
            </a:xfrm>
            <a:custGeom>
              <a:avLst/>
              <a:gdLst>
                <a:gd name="connsiteX0" fmla="*/ 0 w 6994122"/>
                <a:gd name="connsiteY0" fmla="*/ 0 h 6872514"/>
                <a:gd name="connsiteX1" fmla="*/ 6994122 w 6994122"/>
                <a:gd name="connsiteY1" fmla="*/ 0 h 6872514"/>
                <a:gd name="connsiteX2" fmla="*/ 6994122 w 6994122"/>
                <a:gd name="connsiteY2" fmla="*/ 6872514 h 6872514"/>
                <a:gd name="connsiteX3" fmla="*/ 4989231 w 6994122"/>
                <a:gd name="connsiteY3" fmla="*/ 6872514 h 6872514"/>
              </a:gdLst>
              <a:ahLst/>
              <a:cxnLst>
                <a:cxn ang="0">
                  <a:pos x="connsiteX0" y="connsiteY0"/>
                </a:cxn>
                <a:cxn ang="0">
                  <a:pos x="connsiteX1" y="connsiteY1"/>
                </a:cxn>
                <a:cxn ang="0">
                  <a:pos x="connsiteX2" y="connsiteY2"/>
                </a:cxn>
                <a:cxn ang="0">
                  <a:pos x="connsiteX3" y="connsiteY3"/>
                </a:cxn>
              </a:cxnLst>
              <a:rect l="l" t="t" r="r" b="b"/>
              <a:pathLst>
                <a:path w="6994122" h="6872514">
                  <a:moveTo>
                    <a:pt x="0" y="0"/>
                  </a:moveTo>
                  <a:lnTo>
                    <a:pt x="6994122" y="0"/>
                  </a:lnTo>
                  <a:lnTo>
                    <a:pt x="6994122" y="6872514"/>
                  </a:lnTo>
                  <a:lnTo>
                    <a:pt x="4989231" y="6872514"/>
                  </a:lnTo>
                  <a:close/>
                </a:path>
              </a:pathLst>
            </a:cu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dirty="0">
                <a:solidFill>
                  <a:srgbClr val="2E503B">
                    <a:alpha val="58000"/>
                  </a:srgbClr>
                </a:solidFill>
              </a:endParaRPr>
            </a:p>
          </p:txBody>
        </p:sp>
      </p:grpSp>
      <p:grpSp>
        <p:nvGrpSpPr>
          <p:cNvPr id="4" name="Group 3">
            <a:extLst>
              <a:ext uri="{FF2B5EF4-FFF2-40B4-BE49-F238E27FC236}">
                <a16:creationId xmlns:a16="http://schemas.microsoft.com/office/drawing/2014/main" id="{CB4587E3-6559-BDAC-2645-A7A677C7D509}"/>
              </a:ext>
            </a:extLst>
          </p:cNvPr>
          <p:cNvGrpSpPr/>
          <p:nvPr/>
        </p:nvGrpSpPr>
        <p:grpSpPr>
          <a:xfrm>
            <a:off x="-1705495" y="1811482"/>
            <a:ext cx="1094940" cy="461397"/>
            <a:chOff x="2032724" y="505505"/>
            <a:chExt cx="6363131" cy="461397"/>
          </a:xfrm>
        </p:grpSpPr>
        <p:sp>
          <p:nvSpPr>
            <p:cNvPr id="5" name="Rectangle 4">
              <a:extLst>
                <a:ext uri="{FF2B5EF4-FFF2-40B4-BE49-F238E27FC236}">
                  <a16:creationId xmlns:a16="http://schemas.microsoft.com/office/drawing/2014/main" id="{69440F31-09C2-FAC2-BC46-411DEB867E21}"/>
                </a:ext>
              </a:extLst>
            </p:cNvPr>
            <p:cNvSpPr/>
            <p:nvPr/>
          </p:nvSpPr>
          <p:spPr>
            <a:xfrm>
              <a:off x="7600051" y="506059"/>
              <a:ext cx="795804" cy="460843"/>
            </a:xfrm>
            <a:prstGeom prst="rect">
              <a:avLst/>
            </a:prstGeom>
            <a:solidFill>
              <a:srgbClr val="33AFF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BDDF9B2C-BF3E-68F0-2D0B-88D9F129D12E}"/>
                </a:ext>
              </a:extLst>
            </p:cNvPr>
            <p:cNvSpPr/>
            <p:nvPr/>
          </p:nvSpPr>
          <p:spPr>
            <a:xfrm>
              <a:off x="6804247" y="506059"/>
              <a:ext cx="795804" cy="460843"/>
            </a:xfrm>
            <a:prstGeom prst="rect">
              <a:avLst/>
            </a:prstGeom>
            <a:solidFill>
              <a:srgbClr val="3CAE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91E64418-DBF5-D54C-62C0-65DFEA2D0D24}"/>
                </a:ext>
              </a:extLst>
            </p:cNvPr>
            <p:cNvSpPr/>
            <p:nvPr/>
          </p:nvSpPr>
          <p:spPr>
            <a:xfrm>
              <a:off x="6008443" y="506059"/>
              <a:ext cx="795804" cy="460843"/>
            </a:xfrm>
            <a:prstGeom prst="rect">
              <a:avLst/>
            </a:prstGeom>
            <a:solidFill>
              <a:srgbClr val="E7E8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763D58A-721C-DF91-339E-9C02CDD8EFEE}"/>
                </a:ext>
              </a:extLst>
            </p:cNvPr>
            <p:cNvSpPr/>
            <p:nvPr/>
          </p:nvSpPr>
          <p:spPr>
            <a:xfrm>
              <a:off x="5212639" y="506059"/>
              <a:ext cx="795804" cy="460843"/>
            </a:xfrm>
            <a:prstGeom prst="rect">
              <a:avLst/>
            </a:prstGeom>
            <a:solidFill>
              <a:srgbClr val="1F62F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5D34066-E3BD-5A01-D022-FAC583B1D278}"/>
                </a:ext>
              </a:extLst>
            </p:cNvPr>
            <p:cNvSpPr/>
            <p:nvPr/>
          </p:nvSpPr>
          <p:spPr>
            <a:xfrm>
              <a:off x="4416835" y="506059"/>
              <a:ext cx="795804" cy="460843"/>
            </a:xfrm>
            <a:prstGeom prst="rect">
              <a:avLst/>
            </a:prstGeom>
            <a:solidFill>
              <a:srgbClr val="D94D4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6451879-75A0-E17D-09FA-777DA8C39F73}"/>
                </a:ext>
              </a:extLst>
            </p:cNvPr>
            <p:cNvSpPr/>
            <p:nvPr/>
          </p:nvSpPr>
          <p:spPr>
            <a:xfrm>
              <a:off x="3621031" y="506059"/>
              <a:ext cx="795804" cy="460843"/>
            </a:xfrm>
            <a:prstGeom prst="rect">
              <a:avLst/>
            </a:prstGeom>
            <a:solidFill>
              <a:srgbClr val="5758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7CD3617-3D71-E7FB-FE0B-2FA8658150CE}"/>
                </a:ext>
              </a:extLst>
            </p:cNvPr>
            <p:cNvSpPr/>
            <p:nvPr/>
          </p:nvSpPr>
          <p:spPr>
            <a:xfrm>
              <a:off x="2825227" y="506059"/>
              <a:ext cx="795804" cy="460843"/>
            </a:xfrm>
            <a:prstGeom prst="rect">
              <a:avLst/>
            </a:prstGeom>
            <a:solidFill>
              <a:srgbClr val="EF8F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313148B0-8A1D-D5CD-D445-C2814631D7E7}"/>
                </a:ext>
              </a:extLst>
            </p:cNvPr>
            <p:cNvSpPr/>
            <p:nvPr/>
          </p:nvSpPr>
          <p:spPr>
            <a:xfrm>
              <a:off x="2032724" y="505505"/>
              <a:ext cx="795804" cy="460843"/>
            </a:xfrm>
            <a:prstGeom prst="rect">
              <a:avLst/>
            </a:prstGeom>
            <a:solidFill>
              <a:srgbClr val="0A0A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extBox 14">
            <a:extLst>
              <a:ext uri="{FF2B5EF4-FFF2-40B4-BE49-F238E27FC236}">
                <a16:creationId xmlns:a16="http://schemas.microsoft.com/office/drawing/2014/main" id="{6AF0832B-FB63-E2CE-4F7A-0887C205F6B9}"/>
              </a:ext>
            </a:extLst>
          </p:cNvPr>
          <p:cNvSpPr txBox="1"/>
          <p:nvPr/>
        </p:nvSpPr>
        <p:spPr>
          <a:xfrm>
            <a:off x="8305050" y="3471769"/>
            <a:ext cx="3885327" cy="584775"/>
          </a:xfrm>
          <a:prstGeom prst="rect">
            <a:avLst/>
          </a:prstGeom>
          <a:solidFill>
            <a:schemeClr val="bg1">
              <a:alpha val="60000"/>
            </a:schemeClr>
          </a:solidFill>
          <a:ln>
            <a:noFill/>
          </a:ln>
        </p:spPr>
        <p:txBody>
          <a:bodyPr wrap="square" rtlCol="0">
            <a:spAutoFit/>
          </a:bodyPr>
          <a:lstStyle/>
          <a:p>
            <a:pPr algn="ctr"/>
            <a:r>
              <a:rPr lang="ar-SA" sz="3200" b="1" dirty="0">
                <a:solidFill>
                  <a:srgbClr val="57586D"/>
                </a:solidFill>
                <a:latin typeface="Bodoni MT Black" panose="02070A03080606020203" pitchFamily="18" charset="0"/>
              </a:rPr>
              <a:t>نهاية العرض الفني</a:t>
            </a:r>
            <a:endParaRPr lang="en-US" sz="3200" b="1" dirty="0">
              <a:solidFill>
                <a:srgbClr val="57586D"/>
              </a:solidFill>
              <a:latin typeface="Bodoni MT Black" panose="02070A03080606020203" pitchFamily="18" charset="0"/>
            </a:endParaRPr>
          </a:p>
        </p:txBody>
      </p:sp>
      <p:pic>
        <p:nvPicPr>
          <p:cNvPr id="2" name="Picture 1" descr="A blue oval with writing on it&#10;&#10;Description automatically generated">
            <a:extLst>
              <a:ext uri="{FF2B5EF4-FFF2-40B4-BE49-F238E27FC236}">
                <a16:creationId xmlns:a16="http://schemas.microsoft.com/office/drawing/2014/main" id="{3C5353D3-937B-E658-4CD6-D55F24D501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338" y="5263758"/>
            <a:ext cx="1981372" cy="1463167"/>
          </a:xfrm>
          <a:prstGeom prst="rect">
            <a:avLst/>
          </a:prstGeom>
        </p:spPr>
      </p:pic>
    </p:spTree>
    <p:extLst>
      <p:ext uri="{BB962C8B-B14F-4D97-AF65-F5344CB8AC3E}">
        <p14:creationId xmlns:p14="http://schemas.microsoft.com/office/powerpoint/2010/main" val="76138866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E097872DA891409A1DF299C5C6BAFD" ma:contentTypeVersion="10" ma:contentTypeDescription="Create a new document." ma:contentTypeScope="" ma:versionID="80238afc22602da7d95e05019bf5aa04">
  <xsd:schema xmlns:xsd="http://www.w3.org/2001/XMLSchema" xmlns:xs="http://www.w3.org/2001/XMLSchema" xmlns:p="http://schemas.microsoft.com/office/2006/metadata/properties" xmlns:ns2="19062e8a-5f7d-4f9f-8756-ab50a092f657" xmlns:ns3="e1587cf3-a2b1-45a6-8f88-345d478cf0eb" targetNamespace="http://schemas.microsoft.com/office/2006/metadata/properties" ma:root="true" ma:fieldsID="ccd98e1b44baaab406176ed7dd8bece5" ns2:_="" ns3:_="">
    <xsd:import namespace="19062e8a-5f7d-4f9f-8756-ab50a092f657"/>
    <xsd:import namespace="e1587cf3-a2b1-45a6-8f88-345d478cf0e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9062e8a-5f7d-4f9f-8756-ab50a092f65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4ecf64b-84ea-490b-959b-4f795748291c"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587cf3-a2b1-45a6-8f88-345d478cf0e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b916b20-53ac-482d-896e-9a0ac4204dd4}" ma:internalName="TaxCatchAll" ma:showField="CatchAllData" ma:web="e1587cf3-a2b1-45a6-8f88-345d478cf0e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1587cf3-a2b1-45a6-8f88-345d478cf0eb" xsi:nil="true"/>
    <lcf76f155ced4ddcb4097134ff3c332f xmlns="19062e8a-5f7d-4f9f-8756-ab50a092f65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FEDEC0EE-D949-4DCE-8D38-243EE64F8A06}"/>
</file>

<file path=customXml/itemProps2.xml><?xml version="1.0" encoding="utf-8"?>
<ds:datastoreItem xmlns:ds="http://schemas.openxmlformats.org/officeDocument/2006/customXml" ds:itemID="{AF67A896-F5D2-45E5-87F8-C2AD945F9144}"/>
</file>

<file path=customXml/itemProps3.xml><?xml version="1.0" encoding="utf-8"?>
<ds:datastoreItem xmlns:ds="http://schemas.openxmlformats.org/officeDocument/2006/customXml" ds:itemID="{40F9925D-F9FB-4CB0-89B0-2C6B277AE49C}"/>
</file>

<file path=docProps/app.xml><?xml version="1.0" encoding="utf-8"?>
<Properties xmlns="http://schemas.openxmlformats.org/officeDocument/2006/extended-properties" xmlns:vt="http://schemas.openxmlformats.org/officeDocument/2006/docPropsVTypes">
  <TotalTime>8126</TotalTime>
  <Words>643</Words>
  <Application>Microsoft Office PowerPoint</Application>
  <PresentationFormat>Widescreen</PresentationFormat>
  <Paragraphs>35</Paragraphs>
  <Slides>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Bodoni MT Black</vt:lpstr>
      <vt:lpstr>Calibri</vt:lpstr>
      <vt:lpstr>Calibri Light</vt:lpstr>
      <vt:lpstr>JF Flat</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taibsa staff05</dc:creator>
  <cp:lastModifiedBy>Mahmoud Abu Farha</cp:lastModifiedBy>
  <cp:revision>177</cp:revision>
  <dcterms:created xsi:type="dcterms:W3CDTF">2023-10-11T08:57:01Z</dcterms:created>
  <dcterms:modified xsi:type="dcterms:W3CDTF">2024-10-14T12:47:46Z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0x010100AAE097872DA891409A1DF299C5C6BAFD</vt:lpwstr>
  </property>
</Properties>
</file>