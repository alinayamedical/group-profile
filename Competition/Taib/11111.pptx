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405" r:id="rId2"/>
    <p:sldId id="406" r:id="rId3"/>
    <p:sldId id="285" r:id="rId4"/>
    <p:sldId id="283" r:id="rId5"/>
    <p:sldId id="282" r:id="rId6"/>
    <p:sldId id="316" r:id="rId7"/>
    <p:sldId id="291" r:id="rId8"/>
    <p:sldId id="32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586D"/>
    <a:srgbClr val="1F62FB"/>
    <a:srgbClr val="3CAEA3"/>
    <a:srgbClr val="EF8F24"/>
    <a:srgbClr val="33AFFA"/>
    <a:srgbClr val="E7E8ED"/>
    <a:srgbClr val="D94D45"/>
    <a:srgbClr val="B9BCCB"/>
    <a:srgbClr val="859EE7"/>
    <a:srgbClr val="0A0A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8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5C63C-CA6C-4316-BEC8-B5F846C1858C}" type="datetimeFigureOut">
              <a:rPr lang="en-GB" smtClean="0"/>
              <a:t>14/10/2024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C9F65-DC7F-4633-825D-F0E8930DD029}" type="slidenum">
              <a:rPr lang="en-GB" smtClean="0"/>
              <a:t>‹#›</a:t>
            </a:fld>
            <a:endParaRPr lang="en-GB"/>
          </a:p>
        </p:txBody>
      </p:sp>
    </p:spTree>
    <p:extLst>
      <p:ext uri="{BB962C8B-B14F-4D97-AF65-F5344CB8AC3E}">
        <p14:creationId xmlns:p14="http://schemas.microsoft.com/office/powerpoint/2010/main" val="3314553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1C9F65-DC7F-4633-825D-F0E8930DD029}" type="slidenum">
              <a:rPr lang="en-GB" smtClean="0"/>
              <a:t>3</a:t>
            </a:fld>
            <a:endParaRPr lang="en-GB"/>
          </a:p>
        </p:txBody>
      </p:sp>
    </p:spTree>
    <p:extLst>
      <p:ext uri="{BB962C8B-B14F-4D97-AF65-F5344CB8AC3E}">
        <p14:creationId xmlns:p14="http://schemas.microsoft.com/office/powerpoint/2010/main" val="1903307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0A7C7-DAA8-A5C9-84C7-369FC02B72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8950981-8DF0-2894-1D13-890F2C9DB6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3C72CB5-91BE-8012-F4D9-72B5069FBFA7}"/>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5" name="Footer Placeholder 4">
            <a:extLst>
              <a:ext uri="{FF2B5EF4-FFF2-40B4-BE49-F238E27FC236}">
                <a16:creationId xmlns:a16="http://schemas.microsoft.com/office/drawing/2014/main" id="{288B0DB9-525A-C0AE-3433-3A56C6AD62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CCC977-B6E2-C394-EBEF-9AA7F67F9550}"/>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030854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81219-BAC0-4965-A417-181922A3C46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07A2EBB-1765-32A2-3D3E-C5617E161B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4E8DAF-25CD-F39D-222A-F8DAD43C7BAE}"/>
              </a:ext>
            </a:extLst>
          </p:cNvPr>
          <p:cNvSpPr>
            <a:spLocks noGrp="1"/>
          </p:cNvSpPr>
          <p:nvPr>
            <p:ph type="dt" sz="half" idx="10"/>
          </p:nvPr>
        </p:nvSpPr>
        <p:spPr/>
        <p:txBody>
          <a:bodyPr/>
          <a:lstStyle/>
          <a:p>
            <a:fld id="{581E2439-4DC7-4851-B7FE-392914D11DE7}" type="datetimeFigureOut">
              <a:rPr lang="en-GB" smtClean="0"/>
              <a:t>14/10/2024</a:t>
            </a:fld>
            <a:endParaRPr lang="en-GB" dirty="0"/>
          </a:p>
        </p:txBody>
      </p:sp>
      <p:sp>
        <p:nvSpPr>
          <p:cNvPr id="5" name="Footer Placeholder 4">
            <a:extLst>
              <a:ext uri="{FF2B5EF4-FFF2-40B4-BE49-F238E27FC236}">
                <a16:creationId xmlns:a16="http://schemas.microsoft.com/office/drawing/2014/main" id="{869784BB-4398-2C1E-B9CB-6C35E0B6B9D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DFD0A3-81B9-20BD-A087-C70C2AA45A6C}"/>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619870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EF9E8-B280-7825-8E36-81AE268FA0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62B7F13-CFF5-8E1F-F4D0-C636A50F9C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EEEE9B-3320-9AD1-1F2D-4927D2F51493}"/>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5" name="Footer Placeholder 4">
            <a:extLst>
              <a:ext uri="{FF2B5EF4-FFF2-40B4-BE49-F238E27FC236}">
                <a16:creationId xmlns:a16="http://schemas.microsoft.com/office/drawing/2014/main" id="{B7FE7A91-C91B-9B0A-19E5-4F90E7F852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E24D51-43C8-1442-CCF1-2659F606F77F}"/>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799267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C61A-8BEA-D80F-F6C1-C1B0D49EF7C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F145D93-89FF-6450-5CAF-693FE32DCC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5305470-15F2-C970-D040-75A8C28EF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EA8E656-0AB7-738F-A7A9-3A8E4E93CE94}"/>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6" name="Footer Placeholder 5">
            <a:extLst>
              <a:ext uri="{FF2B5EF4-FFF2-40B4-BE49-F238E27FC236}">
                <a16:creationId xmlns:a16="http://schemas.microsoft.com/office/drawing/2014/main" id="{EB985DC0-AD65-BDC6-BBCF-F427DB3BAC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C21FFD-C656-D61A-425F-0A6108723289}"/>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976615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14CD-F3DA-3E18-64AC-90A508CEA43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D31E8B-B8A7-1EFF-DEB8-97FB02265F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9793F5-3888-A9CB-66E2-FE3C02F0FB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FC7ECA8-1825-0B57-8501-C0A6DF45A7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A6E51D-10EA-ECBC-1CC1-FD8636F1D4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FFC772D-BC90-C0B4-BEE3-1148D23B419B}"/>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8" name="Footer Placeholder 7">
            <a:extLst>
              <a:ext uri="{FF2B5EF4-FFF2-40B4-BE49-F238E27FC236}">
                <a16:creationId xmlns:a16="http://schemas.microsoft.com/office/drawing/2014/main" id="{B206D741-5270-7AE6-78C6-C44C5ED1B6F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C077858-66DE-890A-3A37-DB47C040D516}"/>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571420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CE35-9176-61F9-9177-F8DC6EC47AA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8739AD8-B973-F91D-20DE-993AF92846B1}"/>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4" name="Footer Placeholder 3">
            <a:extLst>
              <a:ext uri="{FF2B5EF4-FFF2-40B4-BE49-F238E27FC236}">
                <a16:creationId xmlns:a16="http://schemas.microsoft.com/office/drawing/2014/main" id="{AD5AA558-F57B-AA80-93A6-35D3E07C0B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005E232-918F-7A88-9CDF-5A89CFE83DEF}"/>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1066641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87DC2F-7A26-BB86-FD38-412BDA6D2EE0}"/>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3" name="Footer Placeholder 2">
            <a:extLst>
              <a:ext uri="{FF2B5EF4-FFF2-40B4-BE49-F238E27FC236}">
                <a16:creationId xmlns:a16="http://schemas.microsoft.com/office/drawing/2014/main" id="{239DFC65-A2F0-6787-7DE7-841B74E102E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F33D321-6FAA-B077-F89C-0D4F5BE1E870}"/>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294033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D4C06-888F-AA41-9746-275E0EAA5A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16F0890-4D47-4BA5-C667-6FDE6FED9E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015B6B0-1F88-74CF-F4EE-073C7EE6B4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6C2A46-29A9-173D-AC4F-799133D0E203}"/>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6" name="Footer Placeholder 5">
            <a:extLst>
              <a:ext uri="{FF2B5EF4-FFF2-40B4-BE49-F238E27FC236}">
                <a16:creationId xmlns:a16="http://schemas.microsoft.com/office/drawing/2014/main" id="{A724DD9E-0A21-9574-F1C2-B9CC686CDBD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08A926-F528-6AF4-47EF-F5CB0381E458}"/>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3628617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7B3AA-356C-F468-993F-B8B642B19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4A4D913-0DF4-13F3-B827-F8D26EE65C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237B3BF-9A11-60CF-E3F7-EA0CE817A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DE0A4-0D9C-8509-54EA-DCF47C3750CF}"/>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6" name="Footer Placeholder 5">
            <a:extLst>
              <a:ext uri="{FF2B5EF4-FFF2-40B4-BE49-F238E27FC236}">
                <a16:creationId xmlns:a16="http://schemas.microsoft.com/office/drawing/2014/main" id="{476D8B9E-2BDE-3CD7-0A2F-FA36DB899EF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0C86DC8-FC7D-1DE0-68B9-F2882B2AD35A}"/>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962607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00B0-AF79-CAB4-0DBE-AB19A274FE1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3DD0D61-280C-FFA5-C2C2-F3DA0B432C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E1CC9A9-5C41-7336-766D-A5AB91984E96}"/>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5" name="Footer Placeholder 4">
            <a:extLst>
              <a:ext uri="{FF2B5EF4-FFF2-40B4-BE49-F238E27FC236}">
                <a16:creationId xmlns:a16="http://schemas.microsoft.com/office/drawing/2014/main" id="{BCAFEFC7-A300-409B-FE5B-8EE4BB408D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5D1937-6C1E-2AE8-625B-055CF1D06309}"/>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1781723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400AC7-5C83-988D-DA74-5302AA5407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3CAB78-EFE6-CACE-8919-EFC7F2B489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2D6D58-BAEC-2B18-7D1F-556DF651B436}"/>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5" name="Footer Placeholder 4">
            <a:extLst>
              <a:ext uri="{FF2B5EF4-FFF2-40B4-BE49-F238E27FC236}">
                <a16:creationId xmlns:a16="http://schemas.microsoft.com/office/drawing/2014/main" id="{B064E590-AA30-AA06-4F7E-22DE4778A0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034BB5-DD8C-F4CD-76EB-B34C663AEC43}"/>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4048299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CE35C7-F423-FD6D-DB68-96C9EB804C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CA520BE-BB66-AECD-B127-F72DB235A1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AC7332-738B-94BE-A9FB-F7835197E2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1E2439-4DC7-4851-B7FE-392914D11DE7}" type="datetimeFigureOut">
              <a:rPr lang="en-GB" smtClean="0"/>
              <a:t>14/10/2024</a:t>
            </a:fld>
            <a:endParaRPr lang="en-GB" dirty="0"/>
          </a:p>
        </p:txBody>
      </p:sp>
      <p:sp>
        <p:nvSpPr>
          <p:cNvPr id="5" name="Footer Placeholder 4">
            <a:extLst>
              <a:ext uri="{FF2B5EF4-FFF2-40B4-BE49-F238E27FC236}">
                <a16:creationId xmlns:a16="http://schemas.microsoft.com/office/drawing/2014/main" id="{C69332E4-3F88-E397-94EC-5753E22F9F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EF14597-4FB0-A306-3B6E-7249FA5797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4C9959-A226-434A-8193-ADC02DD685DF}" type="slidenum">
              <a:rPr lang="en-GB" smtClean="0"/>
              <a:t>‹#›</a:t>
            </a:fld>
            <a:endParaRPr lang="en-GB"/>
          </a:p>
        </p:txBody>
      </p:sp>
    </p:spTree>
    <p:extLst>
      <p:ext uri="{BB962C8B-B14F-4D97-AF65-F5344CB8AC3E}">
        <p14:creationId xmlns:p14="http://schemas.microsoft.com/office/powerpoint/2010/main" val="2619452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62FB"/>
        </a:solidFill>
        <a:effectLst/>
      </p:bgPr>
    </p:bg>
    <p:spTree>
      <p:nvGrpSpPr>
        <p:cNvPr id="1" name="">
          <a:extLst>
            <a:ext uri="{FF2B5EF4-FFF2-40B4-BE49-F238E27FC236}">
              <a16:creationId xmlns:a16="http://schemas.microsoft.com/office/drawing/2014/main" id="{1EA71036-0240-601A-2161-F4E768BCC36D}"/>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7FA15DA9-0027-E283-5A6A-76A30A242259}"/>
              </a:ext>
            </a:extLst>
          </p:cNvPr>
          <p:cNvSpPr/>
          <p:nvPr/>
        </p:nvSpPr>
        <p:spPr>
          <a:xfrm>
            <a:off x="0" y="0"/>
            <a:ext cx="12192000" cy="6858000"/>
          </a:xfrm>
          <a:custGeom>
            <a:avLst/>
            <a:gdLst>
              <a:gd name="connsiteX0" fmla="*/ 11922691 w 12192000"/>
              <a:gd name="connsiteY0" fmla="*/ 0 h 6858000"/>
              <a:gd name="connsiteX1" fmla="*/ 12192000 w 12192000"/>
              <a:gd name="connsiteY1" fmla="*/ 0 h 6858000"/>
              <a:gd name="connsiteX2" fmla="*/ 12192000 w 12192000"/>
              <a:gd name="connsiteY2" fmla="*/ 6858000 h 6858000"/>
              <a:gd name="connsiteX3" fmla="*/ 8421904 w 12192000"/>
              <a:gd name="connsiteY3" fmla="*/ 6858000 h 6858000"/>
              <a:gd name="connsiteX4" fmla="*/ 11448068 w 12192000"/>
              <a:gd name="connsiteY4" fmla="*/ 2045683 h 6858000"/>
              <a:gd name="connsiteX5" fmla="*/ 10778798 w 12192000"/>
              <a:gd name="connsiteY5" fmla="*/ 2121170 h 6858000"/>
              <a:gd name="connsiteX6" fmla="*/ 7800103 w 12192000"/>
              <a:gd name="connsiteY6" fmla="*/ 6858000 h 6858000"/>
              <a:gd name="connsiteX7" fmla="*/ 7570005 w 12192000"/>
              <a:gd name="connsiteY7" fmla="*/ 6858000 h 6858000"/>
              <a:gd name="connsiteX8" fmla="*/ 0 w 12192000"/>
              <a:gd name="connsiteY8" fmla="*/ 0 h 6858000"/>
              <a:gd name="connsiteX9" fmla="*/ 8535030 w 12192000"/>
              <a:gd name="connsiteY9" fmla="*/ 0 h 6858000"/>
              <a:gd name="connsiteX10" fmla="*/ 4790296 w 12192000"/>
              <a:gd name="connsiteY10" fmla="*/ 5909203 h 6858000"/>
              <a:gd name="connsiteX11" fmla="*/ 5106779 w 12192000"/>
              <a:gd name="connsiteY11" fmla="*/ 5961370 h 6858000"/>
              <a:gd name="connsiteX12" fmla="*/ 8884573 w 12192000"/>
              <a:gd name="connsiteY12" fmla="*/ 0 h 6858000"/>
              <a:gd name="connsiteX13" fmla="*/ 9203574 w 12192000"/>
              <a:gd name="connsiteY13" fmla="*/ 0 h 6858000"/>
              <a:gd name="connsiteX14" fmla="*/ 4850887 w 12192000"/>
              <a:gd name="connsiteY14" fmla="*/ 6858000 h 6858000"/>
              <a:gd name="connsiteX15" fmla="*/ 545621 w 12192000"/>
              <a:gd name="connsiteY15" fmla="*/ 6858000 h 6858000"/>
              <a:gd name="connsiteX16" fmla="*/ 979684 w 12192000"/>
              <a:gd name="connsiteY16" fmla="*/ 6173047 h 6858000"/>
              <a:gd name="connsiteX17" fmla="*/ 663201 w 12192000"/>
              <a:gd name="connsiteY17" fmla="*/ 6120879 h 6858000"/>
              <a:gd name="connsiteX18" fmla="*/ 196078 w 12192000"/>
              <a:gd name="connsiteY18" fmla="*/ 6858000 h 6858000"/>
              <a:gd name="connsiteX19" fmla="*/ 0 w 12192000"/>
              <a:gd name="connsiteY1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6858000">
                <a:moveTo>
                  <a:pt x="11922691" y="0"/>
                </a:moveTo>
                <a:lnTo>
                  <a:pt x="12192000" y="0"/>
                </a:lnTo>
                <a:lnTo>
                  <a:pt x="12192000" y="6858000"/>
                </a:lnTo>
                <a:lnTo>
                  <a:pt x="8421904" y="6858000"/>
                </a:lnTo>
                <a:lnTo>
                  <a:pt x="11448068" y="2045683"/>
                </a:lnTo>
                <a:lnTo>
                  <a:pt x="10778798" y="2121170"/>
                </a:lnTo>
                <a:lnTo>
                  <a:pt x="7800103" y="6858000"/>
                </a:lnTo>
                <a:lnTo>
                  <a:pt x="7570005" y="6858000"/>
                </a:lnTo>
                <a:close/>
                <a:moveTo>
                  <a:pt x="0" y="0"/>
                </a:moveTo>
                <a:lnTo>
                  <a:pt x="8535030" y="0"/>
                </a:lnTo>
                <a:lnTo>
                  <a:pt x="4790296" y="5909203"/>
                </a:lnTo>
                <a:lnTo>
                  <a:pt x="5106779" y="5961370"/>
                </a:lnTo>
                <a:lnTo>
                  <a:pt x="8884573" y="0"/>
                </a:lnTo>
                <a:lnTo>
                  <a:pt x="9203574" y="0"/>
                </a:lnTo>
                <a:lnTo>
                  <a:pt x="4850887" y="6858000"/>
                </a:lnTo>
                <a:lnTo>
                  <a:pt x="545621" y="6858000"/>
                </a:lnTo>
                <a:lnTo>
                  <a:pt x="979684" y="6173047"/>
                </a:lnTo>
                <a:lnTo>
                  <a:pt x="663201" y="6120879"/>
                </a:lnTo>
                <a:lnTo>
                  <a:pt x="196078"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descr="A blue oval with writing on it&#10;&#10;Description automatically generated">
            <a:extLst>
              <a:ext uri="{FF2B5EF4-FFF2-40B4-BE49-F238E27FC236}">
                <a16:creationId xmlns:a16="http://schemas.microsoft.com/office/drawing/2014/main" id="{A9754CA1-3B8C-28A7-B381-4C1826650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338" y="5263758"/>
            <a:ext cx="1981372" cy="1463167"/>
          </a:xfrm>
          <a:prstGeom prst="rect">
            <a:avLst/>
          </a:prstGeom>
        </p:spPr>
      </p:pic>
      <p:sp>
        <p:nvSpPr>
          <p:cNvPr id="5" name="TextBox 4">
            <a:extLst>
              <a:ext uri="{FF2B5EF4-FFF2-40B4-BE49-F238E27FC236}">
                <a16:creationId xmlns:a16="http://schemas.microsoft.com/office/drawing/2014/main" id="{088BF18B-020F-F965-76E0-149869537E5A}"/>
              </a:ext>
            </a:extLst>
          </p:cNvPr>
          <p:cNvSpPr txBox="1"/>
          <p:nvPr/>
        </p:nvSpPr>
        <p:spPr>
          <a:xfrm>
            <a:off x="1003300" y="2374900"/>
            <a:ext cx="5092700" cy="707886"/>
          </a:xfrm>
          <a:prstGeom prst="rect">
            <a:avLst/>
          </a:prstGeom>
          <a:noFill/>
        </p:spPr>
        <p:txBody>
          <a:bodyPr wrap="square" rtlCol="0">
            <a:spAutoFit/>
          </a:bodyPr>
          <a:lstStyle/>
          <a:p>
            <a:pPr algn="ctr"/>
            <a:r>
              <a:rPr lang="ar-SA" sz="4000" b="1" dirty="0">
                <a:solidFill>
                  <a:srgbClr val="57586D"/>
                </a:solidFill>
              </a:rPr>
              <a:t>نبذة عن الشركة</a:t>
            </a:r>
            <a:endParaRPr lang="en-US" sz="4000" b="1" dirty="0">
              <a:solidFill>
                <a:srgbClr val="57586D"/>
              </a:solidFill>
            </a:endParaRPr>
          </a:p>
        </p:txBody>
      </p:sp>
      <p:pic>
        <p:nvPicPr>
          <p:cNvPr id="6" name="Graphic 5">
            <a:extLst>
              <a:ext uri="{FF2B5EF4-FFF2-40B4-BE49-F238E27FC236}">
                <a16:creationId xmlns:a16="http://schemas.microsoft.com/office/drawing/2014/main" id="{C9AC76A2-1979-3612-4459-C89F709AAC1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515" y="131075"/>
            <a:ext cx="1066643" cy="490079"/>
          </a:xfrm>
          <a:prstGeom prst="rect">
            <a:avLst/>
          </a:prstGeom>
        </p:spPr>
      </p:pic>
    </p:spTree>
    <p:extLst>
      <p:ext uri="{BB962C8B-B14F-4D97-AF65-F5344CB8AC3E}">
        <p14:creationId xmlns:p14="http://schemas.microsoft.com/office/powerpoint/2010/main" val="3180464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94C11EDB-824D-35D2-AAF2-A55771222230}"/>
              </a:ext>
            </a:extLst>
          </p:cNvPr>
          <p:cNvGrpSpPr/>
          <p:nvPr/>
        </p:nvGrpSpPr>
        <p:grpSpPr>
          <a:xfrm>
            <a:off x="11837044" y="5660020"/>
            <a:ext cx="354956" cy="1207812"/>
            <a:chOff x="11837044" y="5660020"/>
            <a:chExt cx="354956" cy="1207812"/>
          </a:xfrm>
        </p:grpSpPr>
        <p:sp>
          <p:nvSpPr>
            <p:cNvPr id="13" name="Rectangle 12">
              <a:extLst>
                <a:ext uri="{FF2B5EF4-FFF2-40B4-BE49-F238E27FC236}">
                  <a16:creationId xmlns:a16="http://schemas.microsoft.com/office/drawing/2014/main" id="{193428F7-D93C-E9F8-167B-0F09333F47B4}"/>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12" name="Rectangle 11">
              <a:extLst>
                <a:ext uri="{FF2B5EF4-FFF2-40B4-BE49-F238E27FC236}">
                  <a16:creationId xmlns:a16="http://schemas.microsoft.com/office/drawing/2014/main" id="{B684619C-5827-36F1-6E68-6C92D20B4EED}"/>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sp>
        <p:nvSpPr>
          <p:cNvPr id="11" name="TextBox 10">
            <a:extLst>
              <a:ext uri="{FF2B5EF4-FFF2-40B4-BE49-F238E27FC236}">
                <a16:creationId xmlns:a16="http://schemas.microsoft.com/office/drawing/2014/main" id="{57A68379-A31F-2DCB-42F2-3297C8FFFF35}"/>
              </a:ext>
            </a:extLst>
          </p:cNvPr>
          <p:cNvSpPr txBox="1"/>
          <p:nvPr/>
        </p:nvSpPr>
        <p:spPr>
          <a:xfrm>
            <a:off x="6234900" y="1520095"/>
            <a:ext cx="5409235" cy="5238742"/>
          </a:xfrm>
          <a:prstGeom prst="rect">
            <a:avLst/>
          </a:prstGeom>
          <a:noFill/>
        </p:spPr>
        <p:txBody>
          <a:bodyPr wrap="square" rtlCol="0">
            <a:spAutoFit/>
          </a:bodyPr>
          <a:lstStyle/>
          <a:p>
            <a:pPr marL="0" marR="0" algn="just" rtl="1">
              <a:lnSpc>
                <a:spcPct val="150000"/>
              </a:lnSpc>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"طيب السعودية المحدودة" شركة رائدة في مجال الرعاية الصحية المنزلية ومملوكة من شركة "</a:t>
            </a:r>
            <a:r>
              <a:rPr lang="ar-SA"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بلوم إنفست السعودية" </a:t>
            </a: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 مرخصة من هيئة السوق المالية والتي تقدم مجموعة واسعة من خدمات الإستثمار وتشمل إدارة الأصول وإدارة الثروات بالإضافة إلى الإستشارات وتمويل الشركات</a:t>
            </a:r>
            <a:r>
              <a:rPr lang="ar-EG"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 </a:t>
            </a:r>
            <a:r>
              <a:rPr lang="ar-EG"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 من اوائل شركات الرعاية المنزلية الحاصلة على ترخيص المركز السعودي لاعتماد المنشات الصحية (</a:t>
            </a:r>
            <a:r>
              <a:rPr lang="en-US"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CBAHI</a:t>
            </a:r>
            <a:r>
              <a:rPr lang="ar-EG"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a:t>
            </a:r>
            <a:r>
              <a:rPr lang="en-US"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 </a:t>
            </a:r>
            <a:r>
              <a:rPr lang="ar-SA"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 </a:t>
            </a:r>
            <a:endParaRPr lang="en-GB"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endParaRPr>
          </a:p>
          <a:p>
            <a:pPr marL="0" marR="0" algn="just" rtl="1">
              <a:lnSpc>
                <a:spcPct val="150000"/>
              </a:lnSpc>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تأسست شركة "طيب" في عام 2018 لتتبنى رؤية المملكة العربية السعودية 2030 لبرنامج التحول في القطاع الصحي، وذلك من خلال تقديم الحلول الصحية لرعاية المرضى في أماكن تواجدهم، وتحقيق تحسين الرعاية الصحية من خلال خدماتنا المبتكرة والمصممة لراحة المرضى وتلبية </a:t>
            </a:r>
            <a:r>
              <a:rPr lang="ar-SA" sz="1800" dirty="0" err="1">
                <a:solidFill>
                  <a:srgbClr val="57586D"/>
                </a:solidFill>
                <a:effectLst/>
                <a:latin typeface="Calibri" panose="020F0502020204030204" pitchFamily="34" charset="0"/>
                <a:ea typeface="Calibri" panose="020F0502020204030204" pitchFamily="34" charset="0"/>
                <a:cs typeface="Arial" panose="020B0604020202020204" pitchFamily="34" charset="0"/>
              </a:rPr>
              <a:t>إحتياجاتهم</a:t>
            </a: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a:t>
            </a:r>
          </a:p>
          <a:p>
            <a:pPr marL="0" marR="0" algn="just" rtl="1">
              <a:lnSpc>
                <a:spcPct val="150000"/>
              </a:lnSpc>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"طيب" تعيد تعريف مفهوم تقديم الرعاية الصحية وتلعب دوراً فعالاً في</a:t>
            </a:r>
            <a:endParaRPr lang="en-GB" sz="1800" dirty="0">
              <a:solidFill>
                <a:srgbClr val="57586D"/>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014BB06-834B-7B77-FB22-FCE5E96A2A55}"/>
              </a:ext>
            </a:extLst>
          </p:cNvPr>
          <p:cNvSpPr txBox="1"/>
          <p:nvPr/>
        </p:nvSpPr>
        <p:spPr>
          <a:xfrm>
            <a:off x="546682" y="1520095"/>
            <a:ext cx="5409235" cy="4618059"/>
          </a:xfrm>
          <a:prstGeom prst="rect">
            <a:avLst/>
          </a:prstGeom>
          <a:noFill/>
        </p:spPr>
        <p:txBody>
          <a:bodyPr wrap="square" rtlCol="0">
            <a:spAutoFit/>
          </a:bodyPr>
          <a:lstStyle>
            <a:defPPr>
              <a:defRPr lang="en-US"/>
            </a:defPPr>
            <a:lvl1pPr algn="just" rtl="1">
              <a:lnSpc>
                <a:spcPct val="150000"/>
              </a:lnSpc>
              <a:defRPr sz="2400">
                <a:latin typeface="JF Flat" panose="02000500000000000000" pitchFamily="50" charset="-78"/>
                <a:cs typeface="JF Flat" panose="02000500000000000000" pitchFamily="50" charset="-78"/>
              </a:defRPr>
            </a:lvl1pPr>
          </a:lstStyle>
          <a:p>
            <a:pPr marL="0" marR="0" rtl="1">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دعم أهداف رؤية المملكة 2030، من خلال نموذج رعاية متطور تسعى من خلاله لتعزيز وتسهيل إمكانية الوصول لخدمات الرعاية ورفع مستوى الجودة والكفاءة في مجال الرعاية الصحية، وتحرص على تقديم خدمات رعاية منزلية شاملة مصممة خصيصاً لتناسب </a:t>
            </a:r>
            <a:r>
              <a:rPr lang="ar-SA" sz="1800" dirty="0" err="1">
                <a:solidFill>
                  <a:srgbClr val="57586D"/>
                </a:solidFill>
                <a:effectLst/>
                <a:latin typeface="Calibri" panose="020F0502020204030204" pitchFamily="34" charset="0"/>
                <a:ea typeface="Calibri" panose="020F0502020204030204" pitchFamily="34" charset="0"/>
                <a:cs typeface="Arial" panose="020B0604020202020204" pitchFamily="34" charset="0"/>
              </a:rPr>
              <a:t>الإحتياجات</a:t>
            </a: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 الفردية والأسرية والمجتمعية، مثل الرعاية التمريضية المتخصصة، والخدمات العلاجية التأهيلية، وإدارة الأمراض المزمنة، والرعاية بعد العمليات الجراحية وغيرها، وذلك من قبل فريق مكون من ممارسين طبيين متخصصين ومؤهلين بشكل كامل من أطباء وممرضين وأخصائيين وخدمات طبية مساندة متعددة والتي تشمل خدمات النقل الإسعافي الطارئة وغير الطارئة للتأكد من حصول المرضى على الرعاية الصحية الشاملة في أماكن تواجدهم.</a:t>
            </a:r>
            <a:endParaRPr lang="en-GB" sz="1800" dirty="0">
              <a:solidFill>
                <a:srgbClr val="57586D"/>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FE9FF2C4-FAB6-4E34-B20C-3DAD2E08B709}"/>
              </a:ext>
            </a:extLst>
          </p:cNvPr>
          <p:cNvSpPr txBox="1"/>
          <p:nvPr/>
        </p:nvSpPr>
        <p:spPr>
          <a:xfrm>
            <a:off x="3788229" y="904138"/>
            <a:ext cx="8048815" cy="584775"/>
          </a:xfrm>
          <a:prstGeom prst="rect">
            <a:avLst/>
          </a:prstGeom>
          <a:noFill/>
        </p:spPr>
        <p:txBody>
          <a:bodyPr wrap="square" rtlCol="0">
            <a:spAutoFit/>
          </a:bodyPr>
          <a:lstStyle/>
          <a:p>
            <a:pPr algn="r"/>
            <a:r>
              <a:rPr lang="ar-SA" sz="3200" b="1" dirty="0">
                <a:solidFill>
                  <a:srgbClr val="1F62FB"/>
                </a:solidFill>
                <a:latin typeface="JF Flat" panose="02000500000000000000" pitchFamily="50" charset="-78"/>
              </a:rPr>
              <a:t>من نحن؟</a:t>
            </a:r>
            <a:endParaRPr lang="en-US" sz="3200" b="1" dirty="0">
              <a:solidFill>
                <a:srgbClr val="1F62FB"/>
              </a:solidFill>
              <a:latin typeface="JF Flat" panose="02000500000000000000" pitchFamily="50" charset="-78"/>
            </a:endParaRPr>
          </a:p>
        </p:txBody>
      </p:sp>
      <p:grpSp>
        <p:nvGrpSpPr>
          <p:cNvPr id="40" name="Group 39">
            <a:extLst>
              <a:ext uri="{FF2B5EF4-FFF2-40B4-BE49-F238E27FC236}">
                <a16:creationId xmlns:a16="http://schemas.microsoft.com/office/drawing/2014/main" id="{8DB61ECC-7A8C-4726-889E-842C8A132323}"/>
              </a:ext>
            </a:extLst>
          </p:cNvPr>
          <p:cNvGrpSpPr/>
          <p:nvPr/>
        </p:nvGrpSpPr>
        <p:grpSpPr>
          <a:xfrm rot="16200000">
            <a:off x="8844459" y="-2593678"/>
            <a:ext cx="118171" cy="6576902"/>
            <a:chOff x="11838962" y="5660020"/>
            <a:chExt cx="353038" cy="1202719"/>
          </a:xfrm>
        </p:grpSpPr>
        <p:sp>
          <p:nvSpPr>
            <p:cNvPr id="41" name="Rectangle 40">
              <a:extLst>
                <a:ext uri="{FF2B5EF4-FFF2-40B4-BE49-F238E27FC236}">
                  <a16:creationId xmlns:a16="http://schemas.microsoft.com/office/drawing/2014/main" id="{F979F0E6-908F-496F-8C1F-72FD767BFFF2}"/>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42" name="Rectangle 41">
              <a:extLst>
                <a:ext uri="{FF2B5EF4-FFF2-40B4-BE49-F238E27FC236}">
                  <a16:creationId xmlns:a16="http://schemas.microsoft.com/office/drawing/2014/main" id="{C7C2C5CA-3AE7-49EE-A876-41A74F0A7381}"/>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sp>
        <p:nvSpPr>
          <p:cNvPr id="16" name="Rectangle 15">
            <a:extLst>
              <a:ext uri="{FF2B5EF4-FFF2-40B4-BE49-F238E27FC236}">
                <a16:creationId xmlns:a16="http://schemas.microsoft.com/office/drawing/2014/main" id="{2BD49A34-FBB8-99D0-893F-719B8BE51B01}"/>
              </a:ext>
            </a:extLst>
          </p:cNvPr>
          <p:cNvSpPr/>
          <p:nvPr/>
        </p:nvSpPr>
        <p:spPr>
          <a:xfrm>
            <a:off x="3041" y="6503818"/>
            <a:ext cx="508957" cy="354182"/>
          </a:xfrm>
          <a:prstGeom prst="rect">
            <a:avLst/>
          </a:prstGeom>
          <a:solidFill>
            <a:srgbClr val="1F62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Poppins" panose="00000500000000000000" pitchFamily="2" charset="0"/>
                <a:cs typeface="Poppins" panose="00000500000000000000" pitchFamily="2" charset="0"/>
              </a:rPr>
              <a:t>5</a:t>
            </a:r>
            <a:endParaRPr lang="en-GB" sz="1400" b="1" dirty="0">
              <a:latin typeface="Poppins" panose="00000500000000000000" pitchFamily="2" charset="0"/>
              <a:cs typeface="Poppins" panose="00000500000000000000" pitchFamily="2" charset="0"/>
            </a:endParaRPr>
          </a:p>
        </p:txBody>
      </p:sp>
      <p:pic>
        <p:nvPicPr>
          <p:cNvPr id="17" name="Picture 16">
            <a:extLst>
              <a:ext uri="{FF2B5EF4-FFF2-40B4-BE49-F238E27FC236}">
                <a16:creationId xmlns:a16="http://schemas.microsoft.com/office/drawing/2014/main" id="{A8DF558B-606D-1997-8872-7F050329070D}"/>
              </a:ext>
            </a:extLst>
          </p:cNvPr>
          <p:cNvPicPr>
            <a:picLocks noChangeAspect="1"/>
          </p:cNvPicPr>
          <p:nvPr/>
        </p:nvPicPr>
        <p:blipFill>
          <a:blip r:embed="rId2"/>
          <a:stretch>
            <a:fillRect/>
          </a:stretch>
        </p:blipFill>
        <p:spPr>
          <a:xfrm>
            <a:off x="1670594" y="64880"/>
            <a:ext cx="1560286" cy="584775"/>
          </a:xfrm>
          <a:prstGeom prst="rect">
            <a:avLst/>
          </a:prstGeom>
        </p:spPr>
      </p:pic>
      <p:pic>
        <p:nvPicPr>
          <p:cNvPr id="20" name="Graphic 19">
            <a:extLst>
              <a:ext uri="{FF2B5EF4-FFF2-40B4-BE49-F238E27FC236}">
                <a16:creationId xmlns:a16="http://schemas.microsoft.com/office/drawing/2014/main" id="{A294D354-8F8D-3ED6-2BCB-C686322ADD4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515" y="131075"/>
            <a:ext cx="1066643" cy="490079"/>
          </a:xfrm>
          <a:prstGeom prst="rect">
            <a:avLst/>
          </a:prstGeom>
        </p:spPr>
      </p:pic>
    </p:spTree>
    <p:extLst>
      <p:ext uri="{BB962C8B-B14F-4D97-AF65-F5344CB8AC3E}">
        <p14:creationId xmlns:p14="http://schemas.microsoft.com/office/powerpoint/2010/main" val="991191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94C11EDB-824D-35D2-AAF2-A55771222230}"/>
              </a:ext>
            </a:extLst>
          </p:cNvPr>
          <p:cNvGrpSpPr/>
          <p:nvPr/>
        </p:nvGrpSpPr>
        <p:grpSpPr>
          <a:xfrm>
            <a:off x="11837044" y="5660020"/>
            <a:ext cx="354956" cy="1207812"/>
            <a:chOff x="11837044" y="5660020"/>
            <a:chExt cx="354956" cy="1207812"/>
          </a:xfrm>
        </p:grpSpPr>
        <p:sp>
          <p:nvSpPr>
            <p:cNvPr id="13" name="Rectangle 12">
              <a:extLst>
                <a:ext uri="{FF2B5EF4-FFF2-40B4-BE49-F238E27FC236}">
                  <a16:creationId xmlns:a16="http://schemas.microsoft.com/office/drawing/2014/main" id="{193428F7-D93C-E9F8-167B-0F09333F47B4}"/>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12" name="Rectangle 11">
              <a:extLst>
                <a:ext uri="{FF2B5EF4-FFF2-40B4-BE49-F238E27FC236}">
                  <a16:creationId xmlns:a16="http://schemas.microsoft.com/office/drawing/2014/main" id="{B684619C-5827-36F1-6E68-6C92D20B4EED}"/>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sp>
        <p:nvSpPr>
          <p:cNvPr id="23" name="TextBox 22">
            <a:extLst>
              <a:ext uri="{FF2B5EF4-FFF2-40B4-BE49-F238E27FC236}">
                <a16:creationId xmlns:a16="http://schemas.microsoft.com/office/drawing/2014/main" id="{34BCA3B4-209B-0170-9188-30A5FFAA102B}"/>
              </a:ext>
            </a:extLst>
          </p:cNvPr>
          <p:cNvSpPr txBox="1"/>
          <p:nvPr/>
        </p:nvSpPr>
        <p:spPr>
          <a:xfrm>
            <a:off x="7674015" y="1266581"/>
            <a:ext cx="3948384" cy="584775"/>
          </a:xfrm>
          <a:prstGeom prst="rect">
            <a:avLst/>
          </a:prstGeom>
          <a:noFill/>
        </p:spPr>
        <p:txBody>
          <a:bodyPr wrap="square" rtlCol="0">
            <a:spAutoFit/>
          </a:bodyPr>
          <a:lstStyle/>
          <a:p>
            <a:pPr algn="r"/>
            <a:r>
              <a:rPr lang="ar-SA" sz="3200" b="1" dirty="0">
                <a:solidFill>
                  <a:srgbClr val="1F62FB"/>
                </a:solidFill>
                <a:latin typeface="JF Flat" panose="02000500000000000000" pitchFamily="50" charset="-78"/>
              </a:rPr>
              <a:t>لماذا طيب؟</a:t>
            </a:r>
            <a:endParaRPr lang="en-US" sz="3200" b="1" dirty="0">
              <a:solidFill>
                <a:srgbClr val="1F62FB"/>
              </a:solidFill>
              <a:latin typeface="JF Flat" panose="02000500000000000000" pitchFamily="50" charset="-78"/>
            </a:endParaRPr>
          </a:p>
        </p:txBody>
      </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59"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grpSp>
        <p:nvGrpSpPr>
          <p:cNvPr id="14" name="Group 13">
            <a:extLst>
              <a:ext uri="{FF2B5EF4-FFF2-40B4-BE49-F238E27FC236}">
                <a16:creationId xmlns:a16="http://schemas.microsoft.com/office/drawing/2014/main" id="{473AB9E7-3E51-3EDA-DC83-4690BE490175}"/>
              </a:ext>
            </a:extLst>
          </p:cNvPr>
          <p:cNvGrpSpPr/>
          <p:nvPr/>
        </p:nvGrpSpPr>
        <p:grpSpPr>
          <a:xfrm>
            <a:off x="8316" y="2215560"/>
            <a:ext cx="10728960" cy="4652269"/>
            <a:chOff x="38796" y="2758459"/>
            <a:chExt cx="10728960" cy="6201192"/>
          </a:xfrm>
        </p:grpSpPr>
        <p:sp>
          <p:nvSpPr>
            <p:cNvPr id="36" name="Rectangle 35">
              <a:extLst>
                <a:ext uri="{FF2B5EF4-FFF2-40B4-BE49-F238E27FC236}">
                  <a16:creationId xmlns:a16="http://schemas.microsoft.com/office/drawing/2014/main" id="{A4BC654F-CD41-3CE4-A4F6-2303827895B8}"/>
                </a:ext>
              </a:extLst>
            </p:cNvPr>
            <p:cNvSpPr/>
            <p:nvPr/>
          </p:nvSpPr>
          <p:spPr>
            <a:xfrm>
              <a:off x="38796" y="2758459"/>
              <a:ext cx="10728960" cy="6201192"/>
            </a:xfrm>
            <a:prstGeom prst="rect">
              <a:avLst/>
            </a:prstGeom>
            <a:solidFill>
              <a:schemeClr val="bg1"/>
            </a:solidFill>
            <a:ln>
              <a:noFill/>
            </a:ln>
            <a:effectLst>
              <a:outerShdw blurRad="1651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9F8B925D-2B9B-A580-E2A6-004D6435BD40}"/>
                </a:ext>
              </a:extLst>
            </p:cNvPr>
            <p:cNvSpPr txBox="1"/>
            <p:nvPr/>
          </p:nvSpPr>
          <p:spPr>
            <a:xfrm>
              <a:off x="1564640" y="3151179"/>
              <a:ext cx="8961120" cy="5184674"/>
            </a:xfrm>
            <a:prstGeom prst="rect">
              <a:avLst/>
            </a:prstGeom>
            <a:noFill/>
          </p:spPr>
          <p:txBody>
            <a:bodyPr wrap="square" rtlCol="0">
              <a:spAutoFit/>
            </a:bodyPr>
            <a:lstStyle/>
            <a:p>
              <a:pPr algn="just" rtl="1">
                <a:lnSpc>
                  <a:spcPct val="150000"/>
                </a:lnSpc>
                <a:spcAft>
                  <a:spcPts val="800"/>
                </a:spcAft>
              </a:pPr>
              <a:r>
                <a:rPr lang="ar-SA" dirty="0">
                  <a:solidFill>
                    <a:srgbClr val="57586D"/>
                  </a:solidFill>
                  <a:latin typeface="Calibri" panose="020F0502020204030204" pitchFamily="34" charset="0"/>
                  <a:ea typeface="Calibri" panose="020F0502020204030204" pitchFamily="34" charset="0"/>
                </a:rPr>
                <a:t>تسعى شركة طيب </a:t>
              </a:r>
              <a:r>
                <a:rPr lang="ar-SA" sz="1800" dirty="0">
                  <a:solidFill>
                    <a:srgbClr val="57586D"/>
                  </a:solidFill>
                  <a:latin typeface="Calibri" panose="020F0502020204030204" pitchFamily="34" charset="0"/>
                  <a:ea typeface="Calibri" panose="020F0502020204030204" pitchFamily="34" charset="0"/>
                </a:rPr>
                <a:t>لتواكب رؤية المملكة 2030 في دعم القطاع الصحي وذلك بالتزامها بتوفي</a:t>
              </a:r>
              <a:r>
                <a:rPr lang="ar-SA" sz="1800" dirty="0">
                  <a:solidFill>
                    <a:srgbClr val="57586D"/>
                  </a:solidFill>
                  <a:effectLst/>
                  <a:latin typeface="Calibri" panose="020F0502020204030204" pitchFamily="34" charset="0"/>
                  <a:ea typeface="Calibri" panose="020F0502020204030204" pitchFamily="34" charset="0"/>
                </a:rPr>
                <a:t>ر الخدمات الطبية المتخصصة والمبتكرة وفق أعلى معايير الممارسات الطبية لجميع المستفيدين من القطاعي الخاص والعام في المملكة العربية السعودية و</a:t>
              </a:r>
              <a:r>
                <a:rPr lang="ar-SA" sz="1800" dirty="0">
                  <a:solidFill>
                    <a:srgbClr val="57586D"/>
                  </a:solidFill>
                  <a:latin typeface="JF Flat" panose="02000500000000000000" pitchFamily="50" charset="-78"/>
                </a:rPr>
                <a:t>تحسين تجربة المرضى وجودة حياتهم وتعزيز رفاهيتهم باستثمار كافة الوسائل التقنية من خلال منصة حل متكاملة لتقديم خدمات الرعاية الصحية للمستفيدين في أماكن راحتهم.</a:t>
              </a:r>
              <a:endParaRPr lang="en-US" sz="1800" dirty="0">
                <a:solidFill>
                  <a:srgbClr val="57586D"/>
                </a:solidFill>
                <a:latin typeface="JF Flat" panose="02000500000000000000" pitchFamily="50" charset="-78"/>
              </a:endParaRPr>
            </a:p>
            <a:p>
              <a:pPr marL="0" marR="0" algn="just" rtl="1">
                <a:lnSpc>
                  <a:spcPct val="150000"/>
                </a:lnSpc>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rPr>
                <a:t>كما تحرص شركة طيب على خدمة عملائها في كافة مجالات الرعاية المنزلية من حيث </a:t>
              </a:r>
              <a:r>
                <a:rPr lang="ar-SA" sz="1800" dirty="0" err="1">
                  <a:solidFill>
                    <a:srgbClr val="57586D"/>
                  </a:solidFill>
                  <a:effectLst/>
                  <a:latin typeface="Calibri" panose="020F0502020204030204" pitchFamily="34" charset="0"/>
                  <a:ea typeface="Calibri" panose="020F0502020204030204" pitchFamily="34" charset="0"/>
                </a:rPr>
                <a:t>إلتزامها</a:t>
              </a:r>
              <a:r>
                <a:rPr lang="ar-SA" sz="1800" dirty="0">
                  <a:solidFill>
                    <a:srgbClr val="57586D"/>
                  </a:solidFill>
                  <a:effectLst/>
                  <a:latin typeface="Calibri" panose="020F0502020204030204" pitchFamily="34" charset="0"/>
                  <a:ea typeface="Calibri" panose="020F0502020204030204" pitchFamily="34" charset="0"/>
                </a:rPr>
                <a:t> بالتميز من خلال منهجها الشامل وتوفير خدمات علاجية ووقائية وتأهيلية وتثقيفية، بالإضافة إلى التحقق من صحة مهارات كوادرها الطبية والإدارية لتقديم أعلى معايير خدمات الرعاية الصحية المنزلية التي نسعى من خلالها للمساهمة في الرفاهية الجسدية والنفسية </a:t>
              </a:r>
              <a:r>
                <a:rPr lang="ar-SA" sz="1800" dirty="0" err="1">
                  <a:solidFill>
                    <a:srgbClr val="57586D"/>
                  </a:solidFill>
                  <a:effectLst/>
                  <a:latin typeface="Calibri" panose="020F0502020204030204" pitchFamily="34" charset="0"/>
                  <a:ea typeface="Calibri" panose="020F0502020204030204" pitchFamily="34" charset="0"/>
                </a:rPr>
                <a:t>والإجتماعية</a:t>
              </a:r>
              <a:r>
                <a:rPr lang="ar-SA" sz="1800" dirty="0">
                  <a:solidFill>
                    <a:srgbClr val="57586D"/>
                  </a:solidFill>
                  <a:effectLst/>
                  <a:latin typeface="Calibri" panose="020F0502020204030204" pitchFamily="34" charset="0"/>
                  <a:ea typeface="Calibri" panose="020F0502020204030204" pitchFamily="34" charset="0"/>
                </a:rPr>
                <a:t> لعملائنا ومرافقيهم في راحة منازلهم وذلك بوضع وتنفيذ أعلى خطط الرعاية التي تتمحور حول عملائنا لتلبية جميع </a:t>
              </a:r>
              <a:r>
                <a:rPr lang="ar-SA" sz="1800" dirty="0" err="1">
                  <a:solidFill>
                    <a:srgbClr val="57586D"/>
                  </a:solidFill>
                  <a:effectLst/>
                  <a:latin typeface="Calibri" panose="020F0502020204030204" pitchFamily="34" charset="0"/>
                  <a:ea typeface="Calibri" panose="020F0502020204030204" pitchFamily="34" charset="0"/>
                </a:rPr>
                <a:t>إحتياجاتهم</a:t>
              </a:r>
              <a:r>
                <a:rPr lang="ar-SA" sz="1800" dirty="0">
                  <a:solidFill>
                    <a:srgbClr val="57586D"/>
                  </a:solidFill>
                  <a:effectLst/>
                  <a:latin typeface="Calibri" panose="020F0502020204030204" pitchFamily="34" charset="0"/>
                  <a:ea typeface="Calibri" panose="020F0502020204030204" pitchFamily="34" charset="0"/>
                </a:rPr>
                <a:t> وتزويدهم بتجربة فردية </a:t>
              </a:r>
              <a:r>
                <a:rPr lang="ar-SA" sz="1800" dirty="0" err="1">
                  <a:solidFill>
                    <a:srgbClr val="57586D"/>
                  </a:solidFill>
                  <a:effectLst/>
                  <a:latin typeface="Calibri" panose="020F0502020204030204" pitchFamily="34" charset="0"/>
                  <a:ea typeface="Calibri" panose="020F0502020204030204" pitchFamily="34" charset="0"/>
                </a:rPr>
                <a:t>تتلائم</a:t>
              </a:r>
              <a:r>
                <a:rPr lang="ar-SA" sz="1800" dirty="0">
                  <a:solidFill>
                    <a:srgbClr val="57586D"/>
                  </a:solidFill>
                  <a:effectLst/>
                  <a:latin typeface="Calibri" panose="020F0502020204030204" pitchFamily="34" charset="0"/>
                  <a:ea typeface="Calibri" panose="020F0502020204030204" pitchFamily="34" charset="0"/>
                </a:rPr>
                <a:t> مع أهدافهم الشخصية وتساعدهم في تحسين </a:t>
              </a:r>
              <a:r>
                <a:rPr lang="ar-SA" sz="1800" dirty="0" err="1">
                  <a:solidFill>
                    <a:srgbClr val="57586D"/>
                  </a:solidFill>
                  <a:effectLst/>
                  <a:latin typeface="Calibri" panose="020F0502020204030204" pitchFamily="34" charset="0"/>
                  <a:ea typeface="Calibri" panose="020F0502020204030204" pitchFamily="34" charset="0"/>
                </a:rPr>
                <a:t>كفائتهم</a:t>
              </a:r>
              <a:r>
                <a:rPr lang="ar-SA" sz="1800" dirty="0">
                  <a:solidFill>
                    <a:srgbClr val="57586D"/>
                  </a:solidFill>
                  <a:effectLst/>
                  <a:latin typeface="Calibri" panose="020F0502020204030204" pitchFamily="34" charset="0"/>
                  <a:ea typeface="Calibri" panose="020F0502020204030204" pitchFamily="34" charset="0"/>
                </a:rPr>
                <a:t> ومهاراتهم الذاتية.</a:t>
              </a:r>
              <a:endParaRPr lang="en-US" sz="1800" dirty="0">
                <a:solidFill>
                  <a:srgbClr val="57586D"/>
                </a:solidFill>
                <a:effectLst/>
                <a:latin typeface="Calibri" panose="020F0502020204030204" pitchFamily="34" charset="0"/>
                <a:ea typeface="Calibri" panose="020F0502020204030204" pitchFamily="34" charset="0"/>
              </a:endParaRPr>
            </a:p>
          </p:txBody>
        </p:sp>
      </p:grpSp>
      <p:sp>
        <p:nvSpPr>
          <p:cNvPr id="15" name="Rectangle 14">
            <a:extLst>
              <a:ext uri="{FF2B5EF4-FFF2-40B4-BE49-F238E27FC236}">
                <a16:creationId xmlns:a16="http://schemas.microsoft.com/office/drawing/2014/main" id="{21D7C10F-064F-570A-DC62-0CB4AC8352EE}"/>
              </a:ext>
            </a:extLst>
          </p:cNvPr>
          <p:cNvSpPr/>
          <p:nvPr/>
        </p:nvSpPr>
        <p:spPr>
          <a:xfrm>
            <a:off x="-5742" y="2215560"/>
            <a:ext cx="1235102" cy="465259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pic>
        <p:nvPicPr>
          <p:cNvPr id="11" name="Graphic 10" descr="Send with solid fill">
            <a:extLst>
              <a:ext uri="{FF2B5EF4-FFF2-40B4-BE49-F238E27FC236}">
                <a16:creationId xmlns:a16="http://schemas.microsoft.com/office/drawing/2014/main" id="{383EF963-5945-2277-6866-7100BE5778E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662" y="74708"/>
            <a:ext cx="5743214" cy="5743214"/>
          </a:xfrm>
          <a:prstGeom prst="rect">
            <a:avLst/>
          </a:prstGeom>
        </p:spPr>
      </p:pic>
    </p:spTree>
    <p:extLst>
      <p:ext uri="{BB962C8B-B14F-4D97-AF65-F5344CB8AC3E}">
        <p14:creationId xmlns:p14="http://schemas.microsoft.com/office/powerpoint/2010/main" val="3009203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A4BC654F-CD41-3CE4-A4F6-2303827895B8}"/>
              </a:ext>
            </a:extLst>
          </p:cNvPr>
          <p:cNvSpPr/>
          <p:nvPr/>
        </p:nvSpPr>
        <p:spPr>
          <a:xfrm>
            <a:off x="0" y="2078098"/>
            <a:ext cx="10728960" cy="4779902"/>
          </a:xfrm>
          <a:prstGeom prst="rect">
            <a:avLst/>
          </a:prstGeom>
          <a:solidFill>
            <a:schemeClr val="bg1"/>
          </a:solidFill>
          <a:ln>
            <a:noFill/>
          </a:ln>
          <a:effectLst>
            <a:outerShdw blurRad="1651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descr="Eye with solid fill">
            <a:extLst>
              <a:ext uri="{FF2B5EF4-FFF2-40B4-BE49-F238E27FC236}">
                <a16:creationId xmlns:a16="http://schemas.microsoft.com/office/drawing/2014/main" id="{73A86FD3-7D07-B086-6135-888522533D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877" y="0"/>
            <a:ext cx="7565862" cy="6322941"/>
          </a:xfrm>
          <a:prstGeom prst="rect">
            <a:avLst/>
          </a:prstGeom>
        </p:spPr>
      </p:pic>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94C11EDB-824D-35D2-AAF2-A55771222230}"/>
              </a:ext>
            </a:extLst>
          </p:cNvPr>
          <p:cNvGrpSpPr/>
          <p:nvPr/>
        </p:nvGrpSpPr>
        <p:grpSpPr>
          <a:xfrm>
            <a:off x="11837044" y="5660020"/>
            <a:ext cx="354956" cy="1207812"/>
            <a:chOff x="11837044" y="5660020"/>
            <a:chExt cx="354956" cy="1207812"/>
          </a:xfrm>
        </p:grpSpPr>
        <p:sp>
          <p:nvSpPr>
            <p:cNvPr id="13" name="Rectangle 12">
              <a:extLst>
                <a:ext uri="{FF2B5EF4-FFF2-40B4-BE49-F238E27FC236}">
                  <a16:creationId xmlns:a16="http://schemas.microsoft.com/office/drawing/2014/main" id="{193428F7-D93C-E9F8-167B-0F09333F47B4}"/>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12" name="Rectangle 11">
              <a:extLst>
                <a:ext uri="{FF2B5EF4-FFF2-40B4-BE49-F238E27FC236}">
                  <a16:creationId xmlns:a16="http://schemas.microsoft.com/office/drawing/2014/main" id="{B684619C-5827-36F1-6E68-6C92D20B4EED}"/>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59"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grpSp>
        <p:nvGrpSpPr>
          <p:cNvPr id="39" name="Group 38">
            <a:extLst>
              <a:ext uri="{FF2B5EF4-FFF2-40B4-BE49-F238E27FC236}">
                <a16:creationId xmlns:a16="http://schemas.microsoft.com/office/drawing/2014/main" id="{58F40D9F-E42F-51DB-E4A8-1225F1B31DBE}"/>
              </a:ext>
            </a:extLst>
          </p:cNvPr>
          <p:cNvGrpSpPr/>
          <p:nvPr/>
        </p:nvGrpSpPr>
        <p:grpSpPr>
          <a:xfrm>
            <a:off x="5659120" y="2658733"/>
            <a:ext cx="4503969" cy="686086"/>
            <a:chOff x="7118429" y="1700661"/>
            <a:chExt cx="4503969" cy="686086"/>
          </a:xfrm>
        </p:grpSpPr>
        <p:sp>
          <p:nvSpPr>
            <p:cNvPr id="34" name="Rectangle: Rounded Corners 33">
              <a:extLst>
                <a:ext uri="{FF2B5EF4-FFF2-40B4-BE49-F238E27FC236}">
                  <a16:creationId xmlns:a16="http://schemas.microsoft.com/office/drawing/2014/main" id="{A60B7F5A-9EE7-0563-8A08-A1643C6A5DCE}"/>
                </a:ext>
              </a:extLst>
            </p:cNvPr>
            <p:cNvSpPr/>
            <p:nvPr/>
          </p:nvSpPr>
          <p:spPr>
            <a:xfrm>
              <a:off x="7118429" y="1700661"/>
              <a:ext cx="4503969" cy="686086"/>
            </a:xfrm>
            <a:prstGeom prst="roundRect">
              <a:avLst/>
            </a:prstGeom>
            <a:noFill/>
            <a:ln>
              <a:solidFill>
                <a:srgbClr val="749E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78AF03F-4668-D12A-8082-A1EC582DE41E}"/>
                </a:ext>
              </a:extLst>
            </p:cNvPr>
            <p:cNvSpPr txBox="1"/>
            <p:nvPr/>
          </p:nvSpPr>
          <p:spPr>
            <a:xfrm>
              <a:off x="7118429" y="1805276"/>
              <a:ext cx="4404784" cy="456535"/>
            </a:xfrm>
            <a:prstGeom prst="rect">
              <a:avLst/>
            </a:prstGeom>
            <a:noFill/>
          </p:spPr>
          <p:txBody>
            <a:bodyPr wrap="square" rtlCol="0" anchor="ctr">
              <a:spAutoFit/>
            </a:bodyPr>
            <a:lstStyle>
              <a:defPPr>
                <a:defRPr lang="en-US"/>
              </a:defPPr>
              <a:lvl1pPr algn="just" rtl="1">
                <a:lnSpc>
                  <a:spcPct val="150000"/>
                </a:lnSpc>
                <a:defRPr sz="2400">
                  <a:latin typeface="JF Flat" panose="02000500000000000000" pitchFamily="50" charset="-78"/>
                  <a:cs typeface="JF Flat" panose="02000500000000000000" pitchFamily="50" charset="-78"/>
                </a:defRPr>
              </a:lvl1pPr>
            </a:lstStyle>
            <a:p>
              <a:pPr algn="r"/>
              <a:r>
                <a:rPr lang="ar-SA" sz="1800" dirty="0">
                  <a:solidFill>
                    <a:srgbClr val="57586D"/>
                  </a:solidFill>
                  <a:cs typeface="+mn-cs"/>
                  <a:sym typeface="Calibri"/>
                </a:rPr>
                <a:t>أن نكون نموذجاً رائداً في تقديم وتعزيز الرعاية المنزلية</a:t>
              </a:r>
            </a:p>
          </p:txBody>
        </p:sp>
      </p:grpSp>
      <p:sp>
        <p:nvSpPr>
          <p:cNvPr id="37" name="Rectangle 36">
            <a:extLst>
              <a:ext uri="{FF2B5EF4-FFF2-40B4-BE49-F238E27FC236}">
                <a16:creationId xmlns:a16="http://schemas.microsoft.com/office/drawing/2014/main" id="{CAF962F6-6487-2C00-0492-36780B31FA43}"/>
              </a:ext>
            </a:extLst>
          </p:cNvPr>
          <p:cNvSpPr/>
          <p:nvPr/>
        </p:nvSpPr>
        <p:spPr>
          <a:xfrm>
            <a:off x="-5742" y="2078098"/>
            <a:ext cx="1235102" cy="4779902"/>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40" name="TextBox 39">
            <a:extLst>
              <a:ext uri="{FF2B5EF4-FFF2-40B4-BE49-F238E27FC236}">
                <a16:creationId xmlns:a16="http://schemas.microsoft.com/office/drawing/2014/main" id="{9F8B925D-2B9B-A580-E2A6-004D6435BD40}"/>
              </a:ext>
            </a:extLst>
          </p:cNvPr>
          <p:cNvSpPr txBox="1"/>
          <p:nvPr/>
        </p:nvSpPr>
        <p:spPr>
          <a:xfrm>
            <a:off x="1993768" y="3699378"/>
            <a:ext cx="8169321" cy="1719702"/>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نسعى في شركة طيب أن نكون علامة تجارية متميزة ورائدة في خدمات الرعاية الصحية المنزلية  في المملكة العربية السعودية من خلال السعي لتبني أحدث </a:t>
            </a:r>
            <a:r>
              <a:rPr lang="ar-SA" dirty="0" err="1">
                <a:solidFill>
                  <a:srgbClr val="57586D"/>
                </a:solidFill>
                <a:latin typeface="JF Flat" panose="02000500000000000000" pitchFamily="50" charset="-78"/>
              </a:rPr>
              <a:t>الإبتكارات</a:t>
            </a:r>
            <a:r>
              <a:rPr lang="ar-SA" dirty="0">
                <a:solidFill>
                  <a:srgbClr val="57586D"/>
                </a:solidFill>
                <a:latin typeface="JF Flat" panose="02000500000000000000" pitchFamily="50" charset="-78"/>
              </a:rPr>
              <a:t> الطبية ذات التأثير الإيجابي على خدمات الرعاية الصحية المنزلية في المملكة وذلك ببناء خطط إستراتيجية محكمة ومتكاملة تتحدى الواقع وتستثمر كافة الموارد المادية والبشرية وتنطلق نحو المستقبل لتحقيق رؤيتنا المرجوة. </a:t>
            </a:r>
            <a:endParaRPr lang="en-US" dirty="0">
              <a:solidFill>
                <a:srgbClr val="57586D"/>
              </a:solidFill>
              <a:latin typeface="JF Flat" panose="02000500000000000000" pitchFamily="50" charset="-78"/>
            </a:endParaRPr>
          </a:p>
        </p:txBody>
      </p:sp>
      <p:sp>
        <p:nvSpPr>
          <p:cNvPr id="47" name="TextBox 46">
            <a:extLst>
              <a:ext uri="{FF2B5EF4-FFF2-40B4-BE49-F238E27FC236}">
                <a16:creationId xmlns:a16="http://schemas.microsoft.com/office/drawing/2014/main" id="{5B3641D6-2890-4929-A5D1-4CD3B8F3D99E}"/>
              </a:ext>
            </a:extLst>
          </p:cNvPr>
          <p:cNvSpPr txBox="1"/>
          <p:nvPr/>
        </p:nvSpPr>
        <p:spPr>
          <a:xfrm>
            <a:off x="3788229" y="904138"/>
            <a:ext cx="8048815" cy="584775"/>
          </a:xfrm>
          <a:prstGeom prst="rect">
            <a:avLst/>
          </a:prstGeom>
          <a:noFill/>
        </p:spPr>
        <p:txBody>
          <a:bodyPr wrap="square" rtlCol="0">
            <a:spAutoFit/>
          </a:bodyPr>
          <a:lstStyle/>
          <a:p>
            <a:pPr algn="r"/>
            <a:r>
              <a:rPr lang="ar-SA" sz="3200" b="1" dirty="0">
                <a:solidFill>
                  <a:srgbClr val="1F62FB"/>
                </a:solidFill>
                <a:latin typeface="JF Flat" panose="02000500000000000000" pitchFamily="50" charset="-78"/>
              </a:rPr>
              <a:t>رؤية طيب للرعاية المنزلية</a:t>
            </a:r>
            <a:endParaRPr lang="en-US" sz="3200" b="1" dirty="0">
              <a:solidFill>
                <a:srgbClr val="1F62FB"/>
              </a:solidFill>
              <a:latin typeface="JF Flat" panose="02000500000000000000" pitchFamily="50" charset="-78"/>
            </a:endParaRPr>
          </a:p>
        </p:txBody>
      </p:sp>
    </p:spTree>
    <p:extLst>
      <p:ext uri="{BB962C8B-B14F-4D97-AF65-F5344CB8AC3E}">
        <p14:creationId xmlns:p14="http://schemas.microsoft.com/office/powerpoint/2010/main" val="786405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94C11EDB-824D-35D2-AAF2-A55771222230}"/>
              </a:ext>
            </a:extLst>
          </p:cNvPr>
          <p:cNvGrpSpPr/>
          <p:nvPr/>
        </p:nvGrpSpPr>
        <p:grpSpPr>
          <a:xfrm>
            <a:off x="11837044" y="5660020"/>
            <a:ext cx="354956" cy="1207812"/>
            <a:chOff x="11837044" y="5660020"/>
            <a:chExt cx="354956" cy="1207812"/>
          </a:xfrm>
        </p:grpSpPr>
        <p:sp>
          <p:nvSpPr>
            <p:cNvPr id="13" name="Rectangle 12">
              <a:extLst>
                <a:ext uri="{FF2B5EF4-FFF2-40B4-BE49-F238E27FC236}">
                  <a16:creationId xmlns:a16="http://schemas.microsoft.com/office/drawing/2014/main" id="{193428F7-D93C-E9F8-167B-0F09333F47B4}"/>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12" name="Rectangle 11">
              <a:extLst>
                <a:ext uri="{FF2B5EF4-FFF2-40B4-BE49-F238E27FC236}">
                  <a16:creationId xmlns:a16="http://schemas.microsoft.com/office/drawing/2014/main" id="{B684619C-5827-36F1-6E68-6C92D20B4EED}"/>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sp>
        <p:nvSpPr>
          <p:cNvPr id="23" name="TextBox 22">
            <a:extLst>
              <a:ext uri="{FF2B5EF4-FFF2-40B4-BE49-F238E27FC236}">
                <a16:creationId xmlns:a16="http://schemas.microsoft.com/office/drawing/2014/main" id="{34BCA3B4-209B-0170-9188-30A5FFAA102B}"/>
              </a:ext>
            </a:extLst>
          </p:cNvPr>
          <p:cNvSpPr txBox="1"/>
          <p:nvPr/>
        </p:nvSpPr>
        <p:spPr>
          <a:xfrm>
            <a:off x="9926320" y="891572"/>
            <a:ext cx="1788160" cy="584775"/>
          </a:xfrm>
          <a:prstGeom prst="rect">
            <a:avLst/>
          </a:prstGeom>
          <a:noFill/>
        </p:spPr>
        <p:txBody>
          <a:bodyPr wrap="square" rtlCol="0">
            <a:spAutoFit/>
          </a:bodyPr>
          <a:lstStyle/>
          <a:p>
            <a:pPr algn="ctr"/>
            <a:r>
              <a:rPr lang="ar-SA" sz="3200" b="1" dirty="0">
                <a:solidFill>
                  <a:srgbClr val="1F62FB"/>
                </a:solidFill>
                <a:latin typeface="JF Flat" panose="02000500000000000000" pitchFamily="50" charset="-78"/>
              </a:rPr>
              <a:t>قيمنا</a:t>
            </a:r>
            <a:endParaRPr lang="en-US" sz="3200" b="1" dirty="0">
              <a:solidFill>
                <a:srgbClr val="1F62FB"/>
              </a:solidFill>
              <a:latin typeface="JF Flat" panose="02000500000000000000" pitchFamily="50" charset="-78"/>
            </a:endParaRPr>
          </a:p>
        </p:txBody>
      </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63"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1" y="5660020"/>
              <a:ext cx="177479"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grpSp>
        <p:nvGrpSpPr>
          <p:cNvPr id="22" name="Group 21">
            <a:extLst>
              <a:ext uri="{FF2B5EF4-FFF2-40B4-BE49-F238E27FC236}">
                <a16:creationId xmlns:a16="http://schemas.microsoft.com/office/drawing/2014/main" id="{F19367E6-9752-668D-11EE-9BC2911AB4DD}"/>
              </a:ext>
            </a:extLst>
          </p:cNvPr>
          <p:cNvGrpSpPr/>
          <p:nvPr/>
        </p:nvGrpSpPr>
        <p:grpSpPr>
          <a:xfrm flipH="1">
            <a:off x="1127759" y="1679857"/>
            <a:ext cx="9374981" cy="1392151"/>
            <a:chOff x="363167" y="1478394"/>
            <a:chExt cx="7392272" cy="1382071"/>
          </a:xfrm>
        </p:grpSpPr>
        <p:grpSp>
          <p:nvGrpSpPr>
            <p:cNvPr id="52" name="Group 51">
              <a:extLst>
                <a:ext uri="{FF2B5EF4-FFF2-40B4-BE49-F238E27FC236}">
                  <a16:creationId xmlns:a16="http://schemas.microsoft.com/office/drawing/2014/main" id="{94DB8BD2-6CAB-82E1-376D-2EB784C599B5}"/>
                </a:ext>
              </a:extLst>
            </p:cNvPr>
            <p:cNvGrpSpPr/>
            <p:nvPr/>
          </p:nvGrpSpPr>
          <p:grpSpPr>
            <a:xfrm>
              <a:off x="363167" y="1478394"/>
              <a:ext cx="7392272" cy="1382071"/>
              <a:chOff x="1152262" y="1362530"/>
              <a:chExt cx="8415558" cy="1678573"/>
            </a:xfrm>
          </p:grpSpPr>
          <p:sp>
            <p:nvSpPr>
              <p:cNvPr id="55" name="Rounded Rectangle 88">
                <a:extLst>
                  <a:ext uri="{FF2B5EF4-FFF2-40B4-BE49-F238E27FC236}">
                    <a16:creationId xmlns:a16="http://schemas.microsoft.com/office/drawing/2014/main" id="{49248D9D-6748-58D8-8E94-DC10C89EC438}"/>
                  </a:ext>
                </a:extLst>
              </p:cNvPr>
              <p:cNvSpPr/>
              <p:nvPr/>
            </p:nvSpPr>
            <p:spPr>
              <a:xfrm>
                <a:off x="1152262" y="1576854"/>
                <a:ext cx="6327232" cy="1464249"/>
              </a:xfrm>
              <a:prstGeom prst="round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56" name="Rounded Rectangle 89">
                <a:extLst>
                  <a:ext uri="{FF2B5EF4-FFF2-40B4-BE49-F238E27FC236}">
                    <a16:creationId xmlns:a16="http://schemas.microsoft.com/office/drawing/2014/main" id="{099F2F3D-C486-333E-F6A8-ECC5B668A62C}"/>
                  </a:ext>
                </a:extLst>
              </p:cNvPr>
              <p:cNvSpPr/>
              <p:nvPr/>
            </p:nvSpPr>
            <p:spPr>
              <a:xfrm>
                <a:off x="2157171" y="1362530"/>
                <a:ext cx="7410649" cy="1464248"/>
              </a:xfrm>
              <a:prstGeom prst="roundRect">
                <a:avLst/>
              </a:prstGeom>
              <a:solidFill>
                <a:srgbClr val="E7E8ED"/>
              </a:solidFill>
              <a:ln>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7" name="Rounded Rectangle 90">
                <a:extLst>
                  <a:ext uri="{FF2B5EF4-FFF2-40B4-BE49-F238E27FC236}">
                    <a16:creationId xmlns:a16="http://schemas.microsoft.com/office/drawing/2014/main" id="{80823ADF-4A81-3511-DCDD-2ED4B153E2C3}"/>
                  </a:ext>
                </a:extLst>
              </p:cNvPr>
              <p:cNvSpPr/>
              <p:nvPr/>
            </p:nvSpPr>
            <p:spPr>
              <a:xfrm>
                <a:off x="1158392" y="1780899"/>
                <a:ext cx="1977789" cy="646379"/>
              </a:xfrm>
              <a:prstGeom prst="round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8" name="Freeform 91">
                <a:extLst>
                  <a:ext uri="{FF2B5EF4-FFF2-40B4-BE49-F238E27FC236}">
                    <a16:creationId xmlns:a16="http://schemas.microsoft.com/office/drawing/2014/main" id="{E4C95669-BF1D-0349-19B9-B015395F036B}"/>
                  </a:ext>
                </a:extLst>
              </p:cNvPr>
              <p:cNvSpPr/>
              <p:nvPr/>
            </p:nvSpPr>
            <p:spPr>
              <a:xfrm>
                <a:off x="3212769" y="1469032"/>
                <a:ext cx="6351423" cy="1370258"/>
              </a:xfrm>
              <a:custGeom>
                <a:avLst/>
                <a:gdLst>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00373 w 4845401"/>
                  <a:gd name="connsiteY9" fmla="*/ 408549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87458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5401" h="1516498">
                    <a:moveTo>
                      <a:pt x="4801772" y="0"/>
                    </a:moveTo>
                    <a:lnTo>
                      <a:pt x="4823763" y="32617"/>
                    </a:lnTo>
                    <a:cubicBezTo>
                      <a:pt x="4837696" y="65559"/>
                      <a:pt x="4845401" y="101777"/>
                      <a:pt x="4845401" y="139794"/>
                    </a:cubicBezTo>
                    <a:lnTo>
                      <a:pt x="4845401" y="1241151"/>
                    </a:lnTo>
                    <a:cubicBezTo>
                      <a:pt x="4845401" y="1393221"/>
                      <a:pt x="4722124" y="1516498"/>
                      <a:pt x="4570054" y="1516498"/>
                    </a:cubicBezTo>
                    <a:lnTo>
                      <a:pt x="142739" y="1516498"/>
                    </a:lnTo>
                    <a:cubicBezTo>
                      <a:pt x="104722" y="1516498"/>
                      <a:pt x="68504" y="1508793"/>
                      <a:pt x="35562" y="1494860"/>
                    </a:cubicBezTo>
                    <a:lnTo>
                      <a:pt x="0" y="1475558"/>
                    </a:lnTo>
                    <a:cubicBezTo>
                      <a:pt x="380726" y="1369497"/>
                      <a:pt x="1773607" y="1123412"/>
                      <a:pt x="2407002" y="945577"/>
                    </a:cubicBezTo>
                    <a:cubicBezTo>
                      <a:pt x="3040397" y="767742"/>
                      <a:pt x="3529461" y="641181"/>
                      <a:pt x="3901972" y="495635"/>
                    </a:cubicBezTo>
                    <a:cubicBezTo>
                      <a:pt x="4274483" y="350089"/>
                      <a:pt x="4580680" y="187034"/>
                      <a:pt x="4686356" y="72301"/>
                    </a:cubicBezTo>
                    <a:cubicBezTo>
                      <a:pt x="4836323" y="-10305"/>
                      <a:pt x="4771489" y="6614"/>
                      <a:pt x="4801772" y="0"/>
                    </a:cubicBezTo>
                    <a:close/>
                  </a:path>
                </a:pathLst>
              </a:cu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EF8F24"/>
                  </a:solidFill>
                </a:endParaRPr>
              </a:p>
            </p:txBody>
          </p:sp>
        </p:grpSp>
        <p:sp>
          <p:nvSpPr>
            <p:cNvPr id="53" name="TextBox 52">
              <a:extLst>
                <a:ext uri="{FF2B5EF4-FFF2-40B4-BE49-F238E27FC236}">
                  <a16:creationId xmlns:a16="http://schemas.microsoft.com/office/drawing/2014/main" id="{0E520DEC-3714-ABB4-4CD3-CD9E1F5649C0}"/>
                </a:ext>
              </a:extLst>
            </p:cNvPr>
            <p:cNvSpPr txBox="1"/>
            <p:nvPr/>
          </p:nvSpPr>
          <p:spPr>
            <a:xfrm>
              <a:off x="2277112" y="1594900"/>
              <a:ext cx="5064619" cy="366658"/>
            </a:xfrm>
            <a:prstGeom prst="rect">
              <a:avLst/>
            </a:prstGeom>
            <a:noFill/>
          </p:spPr>
          <p:txBody>
            <a:bodyPr wrap="square" rtlCol="1">
              <a:spAutoFit/>
            </a:bodyPr>
            <a:lstStyle/>
            <a:p>
              <a:pPr algn="just"/>
              <a:endParaRPr lang="ar-SA" b="1" dirty="0">
                <a:solidFill>
                  <a:srgbClr val="49712D"/>
                </a:solidFill>
              </a:endParaRPr>
            </a:p>
          </p:txBody>
        </p:sp>
        <p:sp>
          <p:nvSpPr>
            <p:cNvPr id="54" name="TextBox 53">
              <a:extLst>
                <a:ext uri="{FF2B5EF4-FFF2-40B4-BE49-F238E27FC236}">
                  <a16:creationId xmlns:a16="http://schemas.microsoft.com/office/drawing/2014/main" id="{196F8A79-DC19-CAD1-B9D3-15D84D79F9A8}"/>
                </a:ext>
              </a:extLst>
            </p:cNvPr>
            <p:cNvSpPr txBox="1"/>
            <p:nvPr/>
          </p:nvSpPr>
          <p:spPr>
            <a:xfrm>
              <a:off x="407059" y="1846416"/>
              <a:ext cx="1622787" cy="443045"/>
            </a:xfrm>
            <a:prstGeom prst="rect">
              <a:avLst/>
            </a:prstGeom>
            <a:noFill/>
          </p:spPr>
          <p:txBody>
            <a:bodyPr wrap="square" rtlCol="1">
              <a:spAutoFit/>
            </a:bodyPr>
            <a:lstStyle/>
            <a:p>
              <a:pPr algn="ctr"/>
              <a:r>
                <a:rPr lang="ar-SA" sz="2300" b="1" dirty="0">
                  <a:solidFill>
                    <a:schemeClr val="bg1"/>
                  </a:solidFill>
                </a:rPr>
                <a:t>الإصرار</a:t>
              </a:r>
            </a:p>
          </p:txBody>
        </p:sp>
      </p:grpSp>
      <p:sp>
        <p:nvSpPr>
          <p:cNvPr id="63" name="Rounded Rectangle 88">
            <a:extLst>
              <a:ext uri="{FF2B5EF4-FFF2-40B4-BE49-F238E27FC236}">
                <a16:creationId xmlns:a16="http://schemas.microsoft.com/office/drawing/2014/main" id="{1385BBBA-3365-07F9-FB16-A9221F69899E}"/>
              </a:ext>
            </a:extLst>
          </p:cNvPr>
          <p:cNvSpPr/>
          <p:nvPr/>
        </p:nvSpPr>
        <p:spPr>
          <a:xfrm flipH="1">
            <a:off x="3454166" y="3452296"/>
            <a:ext cx="7048574" cy="1214398"/>
          </a:xfrm>
          <a:prstGeom prst="round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64" name="Rounded Rectangle 89">
            <a:extLst>
              <a:ext uri="{FF2B5EF4-FFF2-40B4-BE49-F238E27FC236}">
                <a16:creationId xmlns:a16="http://schemas.microsoft.com/office/drawing/2014/main" id="{683D8BE5-2484-D66C-93DB-3E102E2339C2}"/>
              </a:ext>
            </a:extLst>
          </p:cNvPr>
          <p:cNvSpPr/>
          <p:nvPr/>
        </p:nvSpPr>
        <p:spPr>
          <a:xfrm flipH="1">
            <a:off x="1127759" y="3274543"/>
            <a:ext cx="8255506" cy="1214397"/>
          </a:xfrm>
          <a:prstGeom prst="roundRect">
            <a:avLst/>
          </a:prstGeom>
          <a:solidFill>
            <a:srgbClr val="E7E8ED"/>
          </a:solidFill>
          <a:ln>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65" name="Rounded Rectangle 90">
            <a:extLst>
              <a:ext uri="{FF2B5EF4-FFF2-40B4-BE49-F238E27FC236}">
                <a16:creationId xmlns:a16="http://schemas.microsoft.com/office/drawing/2014/main" id="{34C89AD7-13C0-2EEA-6BC1-9B588928410E}"/>
              </a:ext>
            </a:extLst>
          </p:cNvPr>
          <p:cNvSpPr/>
          <p:nvPr/>
        </p:nvSpPr>
        <p:spPr>
          <a:xfrm flipH="1">
            <a:off x="8292643" y="3621524"/>
            <a:ext cx="2203269" cy="536085"/>
          </a:xfrm>
          <a:prstGeom prst="round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66" name="Freeform 91">
            <a:extLst>
              <a:ext uri="{FF2B5EF4-FFF2-40B4-BE49-F238E27FC236}">
                <a16:creationId xmlns:a16="http://schemas.microsoft.com/office/drawing/2014/main" id="{544067FA-0B41-C986-3463-86D0D325B291}"/>
              </a:ext>
            </a:extLst>
          </p:cNvPr>
          <p:cNvSpPr/>
          <p:nvPr/>
        </p:nvSpPr>
        <p:spPr>
          <a:xfrm flipH="1">
            <a:off x="1131801" y="3362872"/>
            <a:ext cx="7075522" cy="1136445"/>
          </a:xfrm>
          <a:custGeom>
            <a:avLst/>
            <a:gdLst>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00373 w 4845401"/>
              <a:gd name="connsiteY9" fmla="*/ 408549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87458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5401" h="1516498">
                <a:moveTo>
                  <a:pt x="4801772" y="0"/>
                </a:moveTo>
                <a:lnTo>
                  <a:pt x="4823763" y="32617"/>
                </a:lnTo>
                <a:cubicBezTo>
                  <a:pt x="4837696" y="65559"/>
                  <a:pt x="4845401" y="101777"/>
                  <a:pt x="4845401" y="139794"/>
                </a:cubicBezTo>
                <a:lnTo>
                  <a:pt x="4845401" y="1241151"/>
                </a:lnTo>
                <a:cubicBezTo>
                  <a:pt x="4845401" y="1393221"/>
                  <a:pt x="4722124" y="1516498"/>
                  <a:pt x="4570054" y="1516498"/>
                </a:cubicBezTo>
                <a:lnTo>
                  <a:pt x="142739" y="1516498"/>
                </a:lnTo>
                <a:cubicBezTo>
                  <a:pt x="104722" y="1516498"/>
                  <a:pt x="68504" y="1508793"/>
                  <a:pt x="35562" y="1494860"/>
                </a:cubicBezTo>
                <a:lnTo>
                  <a:pt x="0" y="1475558"/>
                </a:lnTo>
                <a:cubicBezTo>
                  <a:pt x="380726" y="1369497"/>
                  <a:pt x="1773607" y="1123412"/>
                  <a:pt x="2407002" y="945577"/>
                </a:cubicBezTo>
                <a:cubicBezTo>
                  <a:pt x="3040397" y="767742"/>
                  <a:pt x="3529461" y="641181"/>
                  <a:pt x="3901972" y="495635"/>
                </a:cubicBezTo>
                <a:cubicBezTo>
                  <a:pt x="4274483" y="350089"/>
                  <a:pt x="4580680" y="187034"/>
                  <a:pt x="4686356" y="72301"/>
                </a:cubicBezTo>
                <a:cubicBezTo>
                  <a:pt x="4836323" y="-10305"/>
                  <a:pt x="4771489" y="6614"/>
                  <a:pt x="4801772" y="0"/>
                </a:cubicBezTo>
                <a:close/>
              </a:path>
            </a:pathLst>
          </a:cu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EF8F24"/>
              </a:solidFill>
            </a:endParaRPr>
          </a:p>
        </p:txBody>
      </p:sp>
      <p:sp>
        <p:nvSpPr>
          <p:cNvPr id="62" name="TextBox 61">
            <a:extLst>
              <a:ext uri="{FF2B5EF4-FFF2-40B4-BE49-F238E27FC236}">
                <a16:creationId xmlns:a16="http://schemas.microsoft.com/office/drawing/2014/main" id="{C46EB8EC-7356-B220-60FF-EE5CF4D705DE}"/>
              </a:ext>
            </a:extLst>
          </p:cNvPr>
          <p:cNvSpPr txBox="1"/>
          <p:nvPr/>
        </p:nvSpPr>
        <p:spPr>
          <a:xfrm flipH="1">
            <a:off x="8389035" y="3655409"/>
            <a:ext cx="2058041" cy="446276"/>
          </a:xfrm>
          <a:prstGeom prst="rect">
            <a:avLst/>
          </a:prstGeom>
          <a:noFill/>
        </p:spPr>
        <p:txBody>
          <a:bodyPr wrap="square" rtlCol="1">
            <a:spAutoFit/>
          </a:bodyPr>
          <a:lstStyle/>
          <a:p>
            <a:pPr algn="ctr"/>
            <a:r>
              <a:rPr lang="ar-SA" sz="2300" b="1" dirty="0" err="1">
                <a:solidFill>
                  <a:schemeClr val="bg1"/>
                </a:solidFill>
              </a:rPr>
              <a:t>الإلتزام</a:t>
            </a:r>
            <a:r>
              <a:rPr lang="ar-SA" sz="2300" b="1" dirty="0">
                <a:solidFill>
                  <a:schemeClr val="bg1"/>
                </a:solidFill>
              </a:rPr>
              <a:t> بالمواعيد</a:t>
            </a:r>
          </a:p>
        </p:txBody>
      </p:sp>
      <p:grpSp>
        <p:nvGrpSpPr>
          <p:cNvPr id="67" name="Group 66">
            <a:extLst>
              <a:ext uri="{FF2B5EF4-FFF2-40B4-BE49-F238E27FC236}">
                <a16:creationId xmlns:a16="http://schemas.microsoft.com/office/drawing/2014/main" id="{11DA61B1-775B-F5DA-BF14-2563E03799DE}"/>
              </a:ext>
            </a:extLst>
          </p:cNvPr>
          <p:cNvGrpSpPr/>
          <p:nvPr/>
        </p:nvGrpSpPr>
        <p:grpSpPr>
          <a:xfrm flipH="1">
            <a:off x="1127759" y="4869228"/>
            <a:ext cx="9374981" cy="1392151"/>
            <a:chOff x="363167" y="1478394"/>
            <a:chExt cx="7392272" cy="1382071"/>
          </a:xfrm>
        </p:grpSpPr>
        <p:grpSp>
          <p:nvGrpSpPr>
            <p:cNvPr id="68" name="Group 67">
              <a:extLst>
                <a:ext uri="{FF2B5EF4-FFF2-40B4-BE49-F238E27FC236}">
                  <a16:creationId xmlns:a16="http://schemas.microsoft.com/office/drawing/2014/main" id="{16F7BC9A-85C3-20B2-51B0-2DB2828E300A}"/>
                </a:ext>
              </a:extLst>
            </p:cNvPr>
            <p:cNvGrpSpPr/>
            <p:nvPr/>
          </p:nvGrpSpPr>
          <p:grpSpPr>
            <a:xfrm>
              <a:off x="363167" y="1478394"/>
              <a:ext cx="7392272" cy="1382071"/>
              <a:chOff x="1152262" y="1362530"/>
              <a:chExt cx="8415558" cy="1678573"/>
            </a:xfrm>
          </p:grpSpPr>
          <p:sp>
            <p:nvSpPr>
              <p:cNvPr id="71" name="Rounded Rectangle 88">
                <a:extLst>
                  <a:ext uri="{FF2B5EF4-FFF2-40B4-BE49-F238E27FC236}">
                    <a16:creationId xmlns:a16="http://schemas.microsoft.com/office/drawing/2014/main" id="{5B008412-1615-0640-BE87-796EA8C96F00}"/>
                  </a:ext>
                </a:extLst>
              </p:cNvPr>
              <p:cNvSpPr/>
              <p:nvPr/>
            </p:nvSpPr>
            <p:spPr>
              <a:xfrm>
                <a:off x="1152262" y="1576854"/>
                <a:ext cx="6327232" cy="1464249"/>
              </a:xfrm>
              <a:prstGeom prst="round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72" name="Rounded Rectangle 89">
                <a:extLst>
                  <a:ext uri="{FF2B5EF4-FFF2-40B4-BE49-F238E27FC236}">
                    <a16:creationId xmlns:a16="http://schemas.microsoft.com/office/drawing/2014/main" id="{8B01B23C-ED59-5BEF-C103-6E6E82A11E30}"/>
                  </a:ext>
                </a:extLst>
              </p:cNvPr>
              <p:cNvSpPr/>
              <p:nvPr/>
            </p:nvSpPr>
            <p:spPr>
              <a:xfrm>
                <a:off x="2157171" y="1362530"/>
                <a:ext cx="7410649" cy="1464248"/>
              </a:xfrm>
              <a:prstGeom prst="roundRect">
                <a:avLst/>
              </a:prstGeom>
              <a:solidFill>
                <a:srgbClr val="E7E8ED"/>
              </a:solidFill>
              <a:ln>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73" name="Rounded Rectangle 90">
                <a:extLst>
                  <a:ext uri="{FF2B5EF4-FFF2-40B4-BE49-F238E27FC236}">
                    <a16:creationId xmlns:a16="http://schemas.microsoft.com/office/drawing/2014/main" id="{4211D297-FF0B-3D6F-BB3E-989DF79706FB}"/>
                  </a:ext>
                </a:extLst>
              </p:cNvPr>
              <p:cNvSpPr/>
              <p:nvPr/>
            </p:nvSpPr>
            <p:spPr>
              <a:xfrm>
                <a:off x="1158392" y="1780899"/>
                <a:ext cx="1977789" cy="646379"/>
              </a:xfrm>
              <a:prstGeom prst="round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74" name="Freeform 91">
                <a:extLst>
                  <a:ext uri="{FF2B5EF4-FFF2-40B4-BE49-F238E27FC236}">
                    <a16:creationId xmlns:a16="http://schemas.microsoft.com/office/drawing/2014/main" id="{56E30C70-F976-E1AC-3A83-8B4869B5EF64}"/>
                  </a:ext>
                </a:extLst>
              </p:cNvPr>
              <p:cNvSpPr/>
              <p:nvPr/>
            </p:nvSpPr>
            <p:spPr>
              <a:xfrm>
                <a:off x="3212769" y="1469032"/>
                <a:ext cx="6351423" cy="1370258"/>
              </a:xfrm>
              <a:custGeom>
                <a:avLst/>
                <a:gdLst>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00373 w 4845401"/>
                  <a:gd name="connsiteY9" fmla="*/ 408549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87458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5401" h="1516498">
                    <a:moveTo>
                      <a:pt x="4801772" y="0"/>
                    </a:moveTo>
                    <a:lnTo>
                      <a:pt x="4823763" y="32617"/>
                    </a:lnTo>
                    <a:cubicBezTo>
                      <a:pt x="4837696" y="65559"/>
                      <a:pt x="4845401" y="101777"/>
                      <a:pt x="4845401" y="139794"/>
                    </a:cubicBezTo>
                    <a:lnTo>
                      <a:pt x="4845401" y="1241151"/>
                    </a:lnTo>
                    <a:cubicBezTo>
                      <a:pt x="4845401" y="1393221"/>
                      <a:pt x="4722124" y="1516498"/>
                      <a:pt x="4570054" y="1516498"/>
                    </a:cubicBezTo>
                    <a:lnTo>
                      <a:pt x="142739" y="1516498"/>
                    </a:lnTo>
                    <a:cubicBezTo>
                      <a:pt x="104722" y="1516498"/>
                      <a:pt x="68504" y="1508793"/>
                      <a:pt x="35562" y="1494860"/>
                    </a:cubicBezTo>
                    <a:lnTo>
                      <a:pt x="0" y="1475558"/>
                    </a:lnTo>
                    <a:cubicBezTo>
                      <a:pt x="380726" y="1369497"/>
                      <a:pt x="1773607" y="1123412"/>
                      <a:pt x="2407002" y="945577"/>
                    </a:cubicBezTo>
                    <a:cubicBezTo>
                      <a:pt x="3040397" y="767742"/>
                      <a:pt x="3529461" y="641181"/>
                      <a:pt x="3901972" y="495635"/>
                    </a:cubicBezTo>
                    <a:cubicBezTo>
                      <a:pt x="4274483" y="350089"/>
                      <a:pt x="4580680" y="187034"/>
                      <a:pt x="4686356" y="72301"/>
                    </a:cubicBezTo>
                    <a:cubicBezTo>
                      <a:pt x="4836323" y="-10305"/>
                      <a:pt x="4771489" y="6614"/>
                      <a:pt x="4801772" y="0"/>
                    </a:cubicBezTo>
                    <a:close/>
                  </a:path>
                </a:pathLst>
              </a:cu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EF8F24"/>
                  </a:solidFill>
                </a:endParaRPr>
              </a:p>
            </p:txBody>
          </p:sp>
        </p:grpSp>
        <p:sp>
          <p:nvSpPr>
            <p:cNvPr id="70" name="TextBox 69">
              <a:extLst>
                <a:ext uri="{FF2B5EF4-FFF2-40B4-BE49-F238E27FC236}">
                  <a16:creationId xmlns:a16="http://schemas.microsoft.com/office/drawing/2014/main" id="{6C80C96D-0924-21B8-6B93-1D5A9EFFA81F}"/>
                </a:ext>
              </a:extLst>
            </p:cNvPr>
            <p:cNvSpPr txBox="1"/>
            <p:nvPr/>
          </p:nvSpPr>
          <p:spPr>
            <a:xfrm>
              <a:off x="407059" y="1846416"/>
              <a:ext cx="1622787" cy="443045"/>
            </a:xfrm>
            <a:prstGeom prst="rect">
              <a:avLst/>
            </a:prstGeom>
            <a:noFill/>
          </p:spPr>
          <p:txBody>
            <a:bodyPr wrap="square" rtlCol="1">
              <a:spAutoFit/>
            </a:bodyPr>
            <a:lstStyle/>
            <a:p>
              <a:pPr algn="ctr"/>
              <a:r>
                <a:rPr lang="ar-SA" sz="2300" b="1" dirty="0">
                  <a:solidFill>
                    <a:schemeClr val="bg1"/>
                  </a:solidFill>
                </a:rPr>
                <a:t>الإبداع </a:t>
              </a:r>
              <a:r>
                <a:rPr lang="ar-SA" sz="2300" b="1" dirty="0" err="1">
                  <a:solidFill>
                    <a:schemeClr val="bg1"/>
                  </a:solidFill>
                </a:rPr>
                <a:t>والإبتكار</a:t>
              </a:r>
              <a:endParaRPr lang="ar-SA" sz="2300" b="1" dirty="0">
                <a:solidFill>
                  <a:schemeClr val="bg1"/>
                </a:solidFill>
              </a:endParaRPr>
            </a:p>
          </p:txBody>
        </p:sp>
      </p:grpSp>
      <p:sp>
        <p:nvSpPr>
          <p:cNvPr id="76" name="TextBox 75">
            <a:extLst>
              <a:ext uri="{FF2B5EF4-FFF2-40B4-BE49-F238E27FC236}">
                <a16:creationId xmlns:a16="http://schemas.microsoft.com/office/drawing/2014/main" id="{BF48BE78-971A-F44C-F8A5-B796DE3C5809}"/>
              </a:ext>
            </a:extLst>
          </p:cNvPr>
          <p:cNvSpPr txBox="1"/>
          <p:nvPr/>
        </p:nvSpPr>
        <p:spPr>
          <a:xfrm>
            <a:off x="1290320" y="1831151"/>
            <a:ext cx="6885038" cy="923330"/>
          </a:xfrm>
          <a:prstGeom prst="rect">
            <a:avLst/>
          </a:prstGeom>
          <a:noFill/>
        </p:spPr>
        <p:txBody>
          <a:bodyPr wrap="square">
            <a:spAutoFit/>
          </a:bodyPr>
          <a:lstStyle/>
          <a:p>
            <a:pPr algn="just" rtl="1"/>
            <a:r>
              <a:rPr lang="ar-SA" dirty="0">
                <a:solidFill>
                  <a:srgbClr val="2E503B"/>
                </a:solidFill>
                <a:latin typeface="Arial" panose="020B0604020202020204" pitchFamily="34" charset="0"/>
                <a:cs typeface="Arial" panose="020B0604020202020204" pitchFamily="34" charset="0"/>
              </a:rPr>
              <a:t>طيب شركة تعمل في مجال الخدمات الطبية، والتعاون والإصرار مطلب أساسي للنجاح في هذا المجال. لذا فلا مكان داخل طيب </a:t>
            </a:r>
            <a:r>
              <a:rPr lang="ar-SA" dirty="0" err="1">
                <a:solidFill>
                  <a:srgbClr val="2E503B"/>
                </a:solidFill>
                <a:latin typeface="Arial" panose="020B0604020202020204" pitchFamily="34" charset="0"/>
                <a:cs typeface="Arial" panose="020B0604020202020204" pitchFamily="34" charset="0"/>
              </a:rPr>
              <a:t>للإجتهاد</a:t>
            </a:r>
            <a:r>
              <a:rPr lang="ar-SA" dirty="0">
                <a:solidFill>
                  <a:srgbClr val="2E503B"/>
                </a:solidFill>
                <a:latin typeface="Arial" panose="020B0604020202020204" pitchFamily="34" charset="0"/>
                <a:cs typeface="Arial" panose="020B0604020202020204" pitchFamily="34" charset="0"/>
              </a:rPr>
              <a:t> الفردي </a:t>
            </a:r>
            <a:r>
              <a:rPr lang="ar-SA" dirty="0" err="1">
                <a:solidFill>
                  <a:srgbClr val="2E503B"/>
                </a:solidFill>
                <a:latin typeface="Arial" panose="020B0604020202020204" pitchFamily="34" charset="0"/>
                <a:cs typeface="Arial" panose="020B0604020202020204" pitchFamily="34" charset="0"/>
              </a:rPr>
              <a:t>والإستسلام</a:t>
            </a:r>
            <a:r>
              <a:rPr lang="ar-SA" dirty="0">
                <a:solidFill>
                  <a:srgbClr val="2E503B"/>
                </a:solidFill>
                <a:latin typeface="Arial" panose="020B0604020202020204" pitchFamily="34" charset="0"/>
                <a:cs typeface="Arial" panose="020B0604020202020204" pitchFamily="34" charset="0"/>
              </a:rPr>
              <a:t>. إننا نؤمن فقط بالعمل الجماعي والإصرار الذي تسود فيه روح الفريق لتحقيق الهدف المشترك.</a:t>
            </a:r>
            <a:endParaRPr lang="en-US" dirty="0">
              <a:solidFill>
                <a:srgbClr val="2E503B"/>
              </a:solidFill>
              <a:latin typeface="Arial" panose="020B0604020202020204" pitchFamily="34" charset="0"/>
              <a:cs typeface="Arial" panose="020B0604020202020204" pitchFamily="34" charset="0"/>
            </a:endParaRPr>
          </a:p>
        </p:txBody>
      </p:sp>
      <p:sp>
        <p:nvSpPr>
          <p:cNvPr id="77" name="TextBox 76">
            <a:extLst>
              <a:ext uri="{FF2B5EF4-FFF2-40B4-BE49-F238E27FC236}">
                <a16:creationId xmlns:a16="http://schemas.microsoft.com/office/drawing/2014/main" id="{FFEE8EA4-06CD-E4EF-7473-D60BF673DCF9}"/>
              </a:ext>
            </a:extLst>
          </p:cNvPr>
          <p:cNvSpPr txBox="1"/>
          <p:nvPr/>
        </p:nvSpPr>
        <p:spPr>
          <a:xfrm>
            <a:off x="1290320" y="3395357"/>
            <a:ext cx="6885038" cy="923330"/>
          </a:xfrm>
          <a:prstGeom prst="rect">
            <a:avLst/>
          </a:prstGeom>
          <a:noFill/>
        </p:spPr>
        <p:txBody>
          <a:bodyPr wrap="square">
            <a:spAutoFit/>
          </a:bodyPr>
          <a:lstStyle/>
          <a:p>
            <a:pPr algn="just" rtl="1"/>
            <a:r>
              <a:rPr lang="ar-SA" dirty="0">
                <a:solidFill>
                  <a:srgbClr val="2E503B"/>
                </a:solidFill>
                <a:latin typeface="Arial" panose="020B0604020202020204" pitchFamily="34" charset="0"/>
                <a:cs typeface="Arial" panose="020B0604020202020204" pitchFamily="34" charset="0"/>
              </a:rPr>
              <a:t>للوقت أهمية كبرى في منظومة العمل في طيب فهو مورد لا يعوض أبداً. لذا كان تقديرنا بحجم أهميته. وقد بنيت الإستراتيجية العامة للعمل في الشركة بإعطاء الوقت نصيباً وافراً من الاهتمام، فبدون </a:t>
            </a:r>
            <a:r>
              <a:rPr lang="ar-SA" dirty="0" err="1">
                <a:solidFill>
                  <a:srgbClr val="2E503B"/>
                </a:solidFill>
                <a:latin typeface="Arial" panose="020B0604020202020204" pitchFamily="34" charset="0"/>
                <a:cs typeface="Arial" panose="020B0604020202020204" pitchFamily="34" charset="0"/>
              </a:rPr>
              <a:t>إستثماره</a:t>
            </a:r>
            <a:r>
              <a:rPr lang="ar-SA" dirty="0">
                <a:solidFill>
                  <a:srgbClr val="2E503B"/>
                </a:solidFill>
                <a:latin typeface="Arial" panose="020B0604020202020204" pitchFamily="34" charset="0"/>
                <a:cs typeface="Arial" panose="020B0604020202020204" pitchFamily="34" charset="0"/>
              </a:rPr>
              <a:t> جيداً لا يمكن أن تحقق الشركة أهدافها.</a:t>
            </a:r>
            <a:endParaRPr lang="en-US" dirty="0">
              <a:solidFill>
                <a:srgbClr val="2E503B"/>
              </a:solidFill>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330E439B-EA40-B7CB-4514-99D8BE93631A}"/>
              </a:ext>
            </a:extLst>
          </p:cNvPr>
          <p:cNvSpPr txBox="1"/>
          <p:nvPr/>
        </p:nvSpPr>
        <p:spPr>
          <a:xfrm>
            <a:off x="1290320" y="5279176"/>
            <a:ext cx="6885038" cy="369332"/>
          </a:xfrm>
          <a:prstGeom prst="rect">
            <a:avLst/>
          </a:prstGeom>
          <a:noFill/>
        </p:spPr>
        <p:txBody>
          <a:bodyPr wrap="square">
            <a:spAutoFit/>
          </a:bodyPr>
          <a:lstStyle/>
          <a:p>
            <a:pPr algn="just" rtl="1"/>
            <a:r>
              <a:rPr lang="ar-SA" dirty="0">
                <a:solidFill>
                  <a:srgbClr val="2E503B"/>
                </a:solidFill>
                <a:latin typeface="Arial" panose="020B0604020202020204" pitchFamily="34" charset="0"/>
                <a:cs typeface="Arial" panose="020B0604020202020204" pitchFamily="34" charset="0"/>
              </a:rPr>
              <a:t>لا مجال للحصر في طيب. كل الأبواب مفتوحة لاستقبال كل ما هو جديد ومبتكر.</a:t>
            </a:r>
            <a:endParaRPr lang="en-US" dirty="0">
              <a:solidFill>
                <a:srgbClr val="2E503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9263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63"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1" y="5660020"/>
              <a:ext cx="177479"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sp>
        <p:nvSpPr>
          <p:cNvPr id="14" name="TextBox 13">
            <a:extLst>
              <a:ext uri="{FF2B5EF4-FFF2-40B4-BE49-F238E27FC236}">
                <a16:creationId xmlns:a16="http://schemas.microsoft.com/office/drawing/2014/main" id="{00169218-E9FB-A69E-4A0D-090821E6A785}"/>
              </a:ext>
            </a:extLst>
          </p:cNvPr>
          <p:cNvSpPr txBox="1"/>
          <p:nvPr/>
        </p:nvSpPr>
        <p:spPr>
          <a:xfrm>
            <a:off x="5338399" y="2164608"/>
            <a:ext cx="5523877" cy="473206"/>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الإلتزام بتسهيل الوصول لخدمات الرعاية الصحية المنزلية.</a:t>
            </a:r>
            <a:endParaRPr lang="en-US" dirty="0">
              <a:solidFill>
                <a:srgbClr val="57586D"/>
              </a:solidFill>
              <a:latin typeface="JF Flat" panose="02000500000000000000" pitchFamily="50" charset="-78"/>
            </a:endParaRPr>
          </a:p>
        </p:txBody>
      </p:sp>
      <p:sp>
        <p:nvSpPr>
          <p:cNvPr id="15" name="TextBox 14">
            <a:extLst>
              <a:ext uri="{FF2B5EF4-FFF2-40B4-BE49-F238E27FC236}">
                <a16:creationId xmlns:a16="http://schemas.microsoft.com/office/drawing/2014/main" id="{C2AAE051-1A1D-DB55-0BBD-318878E90782}"/>
              </a:ext>
            </a:extLst>
          </p:cNvPr>
          <p:cNvSpPr txBox="1"/>
          <p:nvPr/>
        </p:nvSpPr>
        <p:spPr>
          <a:xfrm>
            <a:off x="5338400" y="3100207"/>
            <a:ext cx="5523874" cy="710774"/>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تفعيل وتحسين الخدمات الصحية الرقمية وتمكين القدرات الصحية </a:t>
            </a:r>
            <a:r>
              <a:rPr lang="ar-SA" dirty="0" err="1">
                <a:solidFill>
                  <a:srgbClr val="57586D"/>
                </a:solidFill>
                <a:latin typeface="JF Flat" panose="02000500000000000000" pitchFamily="50" charset="-78"/>
              </a:rPr>
              <a:t>الإفتراضية</a:t>
            </a:r>
            <a:r>
              <a:rPr lang="ar-SA" dirty="0">
                <a:solidFill>
                  <a:srgbClr val="57586D"/>
                </a:solidFill>
                <a:latin typeface="JF Flat" panose="02000500000000000000" pitchFamily="50" charset="-78"/>
              </a:rPr>
              <a:t> لتحقيق المستهدفات.</a:t>
            </a:r>
            <a:endParaRPr lang="en-US" dirty="0">
              <a:solidFill>
                <a:srgbClr val="57586D"/>
              </a:solidFill>
              <a:latin typeface="JF Flat" panose="02000500000000000000" pitchFamily="50" charset="-78"/>
            </a:endParaRPr>
          </a:p>
        </p:txBody>
      </p:sp>
      <p:sp>
        <p:nvSpPr>
          <p:cNvPr id="16" name="TextBox 15">
            <a:extLst>
              <a:ext uri="{FF2B5EF4-FFF2-40B4-BE49-F238E27FC236}">
                <a16:creationId xmlns:a16="http://schemas.microsoft.com/office/drawing/2014/main" id="{E07B840B-AB35-A6CA-4229-4276A97173AB}"/>
              </a:ext>
            </a:extLst>
          </p:cNvPr>
          <p:cNvSpPr txBox="1"/>
          <p:nvPr/>
        </p:nvSpPr>
        <p:spPr>
          <a:xfrm>
            <a:off x="5338400" y="4228211"/>
            <a:ext cx="5523874" cy="710774"/>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مسؤوليتنا نحو المجتمع من رفع مستوى جودة الحياة والإستعداد للمخاطر الصحية عن طريق تحسين الخدمات الصحية المنزلية وتعزيز البحث </a:t>
            </a:r>
            <a:r>
              <a:rPr lang="ar-SA" dirty="0" err="1">
                <a:solidFill>
                  <a:srgbClr val="57586D"/>
                </a:solidFill>
                <a:latin typeface="JF Flat" panose="02000500000000000000" pitchFamily="50" charset="-78"/>
              </a:rPr>
              <a:t>والإبتكار</a:t>
            </a:r>
            <a:r>
              <a:rPr lang="ar-SA" dirty="0">
                <a:solidFill>
                  <a:srgbClr val="57586D"/>
                </a:solidFill>
                <a:latin typeface="JF Flat" panose="02000500000000000000" pitchFamily="50" charset="-78"/>
              </a:rPr>
              <a:t>.</a:t>
            </a:r>
            <a:endParaRPr lang="en-US" dirty="0">
              <a:solidFill>
                <a:srgbClr val="57586D"/>
              </a:solidFill>
              <a:latin typeface="JF Flat" panose="02000500000000000000" pitchFamily="50" charset="-78"/>
            </a:endParaRPr>
          </a:p>
        </p:txBody>
      </p:sp>
      <p:sp>
        <p:nvSpPr>
          <p:cNvPr id="18" name="TextBox 17">
            <a:extLst>
              <a:ext uri="{FF2B5EF4-FFF2-40B4-BE49-F238E27FC236}">
                <a16:creationId xmlns:a16="http://schemas.microsoft.com/office/drawing/2014/main" id="{AC3687CF-126E-42FA-D1AF-21EE02CCBCB8}"/>
              </a:ext>
            </a:extLst>
          </p:cNvPr>
          <p:cNvSpPr txBox="1"/>
          <p:nvPr/>
        </p:nvSpPr>
        <p:spPr>
          <a:xfrm>
            <a:off x="5338399" y="5538570"/>
            <a:ext cx="5523874" cy="378464"/>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تحقيق التميز في تقديم الخدمات الصحية المنزلية بأعلى جودة وأقل تكلفة.</a:t>
            </a:r>
            <a:endParaRPr lang="en-US" dirty="0">
              <a:solidFill>
                <a:srgbClr val="57586D"/>
              </a:solidFill>
              <a:latin typeface="JF Flat" panose="02000500000000000000" pitchFamily="50" charset="-78"/>
            </a:endParaRPr>
          </a:p>
        </p:txBody>
      </p:sp>
      <p:sp>
        <p:nvSpPr>
          <p:cNvPr id="20" name="Rectangle: Rounded Corners 19">
            <a:extLst>
              <a:ext uri="{FF2B5EF4-FFF2-40B4-BE49-F238E27FC236}">
                <a16:creationId xmlns:a16="http://schemas.microsoft.com/office/drawing/2014/main" id="{6F89B454-EBE9-CEA3-C17A-834BEDBC43DE}"/>
              </a:ext>
            </a:extLst>
          </p:cNvPr>
          <p:cNvSpPr/>
          <p:nvPr/>
        </p:nvSpPr>
        <p:spPr>
          <a:xfrm>
            <a:off x="11171608" y="3366406"/>
            <a:ext cx="288465" cy="261925"/>
          </a:xfrm>
          <a:prstGeom prst="roundRect">
            <a:avLst/>
          </a:prstGeom>
          <a:solidFill>
            <a:srgbClr val="EF8F2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3B41F3DB-372C-45BF-743A-C80D980107BF}"/>
              </a:ext>
            </a:extLst>
          </p:cNvPr>
          <p:cNvSpPr/>
          <p:nvPr/>
        </p:nvSpPr>
        <p:spPr>
          <a:xfrm>
            <a:off x="11171608" y="2244483"/>
            <a:ext cx="288465" cy="261925"/>
          </a:xfrm>
          <a:prstGeom prst="roundRect">
            <a:avLst/>
          </a:prstGeom>
          <a:solidFill>
            <a:srgbClr val="1F62F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Rounded Corners 23">
            <a:extLst>
              <a:ext uri="{FF2B5EF4-FFF2-40B4-BE49-F238E27FC236}">
                <a16:creationId xmlns:a16="http://schemas.microsoft.com/office/drawing/2014/main" id="{63D33512-F455-7394-4936-85184D57BCB2}"/>
              </a:ext>
            </a:extLst>
          </p:cNvPr>
          <p:cNvSpPr/>
          <p:nvPr/>
        </p:nvSpPr>
        <p:spPr>
          <a:xfrm>
            <a:off x="11171608" y="4488328"/>
            <a:ext cx="288465" cy="261925"/>
          </a:xfrm>
          <a:prstGeom prst="roundRect">
            <a:avLst/>
          </a:prstGeom>
          <a:solidFill>
            <a:srgbClr val="33AFF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24D2CA7D-C1F8-3D8B-73C0-9E440F417CF5}"/>
              </a:ext>
            </a:extLst>
          </p:cNvPr>
          <p:cNvSpPr/>
          <p:nvPr/>
        </p:nvSpPr>
        <p:spPr>
          <a:xfrm>
            <a:off x="11171608" y="5610251"/>
            <a:ext cx="288465" cy="261925"/>
          </a:xfrm>
          <a:prstGeom prst="roundRect">
            <a:avLst/>
          </a:prstGeom>
          <a:solidFill>
            <a:srgbClr val="3CAEA3"/>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51D1F8C6-A47F-08B1-17B9-80775A89B4A5}"/>
              </a:ext>
            </a:extLst>
          </p:cNvPr>
          <p:cNvSpPr txBox="1"/>
          <p:nvPr/>
        </p:nvSpPr>
        <p:spPr>
          <a:xfrm>
            <a:off x="2858947" y="1266581"/>
            <a:ext cx="8763452" cy="584775"/>
          </a:xfrm>
          <a:prstGeom prst="rect">
            <a:avLst/>
          </a:prstGeom>
          <a:noFill/>
        </p:spPr>
        <p:txBody>
          <a:bodyPr wrap="square" rtlCol="0">
            <a:spAutoFit/>
          </a:bodyPr>
          <a:lstStyle/>
          <a:p>
            <a:pPr algn="r"/>
            <a:r>
              <a:rPr lang="ar-SA" sz="3200" b="1" dirty="0">
                <a:solidFill>
                  <a:srgbClr val="1F62FB"/>
                </a:solidFill>
                <a:latin typeface="JF Flat" panose="02000500000000000000" pitchFamily="50" charset="-78"/>
              </a:rPr>
              <a:t>الركائز الرئيسية لشركة طيب للرعاية الصحية المنزلية</a:t>
            </a:r>
            <a:endParaRPr lang="en-US" sz="3200" b="1" dirty="0">
              <a:solidFill>
                <a:srgbClr val="1F62FB"/>
              </a:solidFill>
              <a:latin typeface="JF Flat" panose="02000500000000000000" pitchFamily="50" charset="-78"/>
            </a:endParaRPr>
          </a:p>
        </p:txBody>
      </p:sp>
      <p:grpSp>
        <p:nvGrpSpPr>
          <p:cNvPr id="47" name="Group 46">
            <a:extLst>
              <a:ext uri="{FF2B5EF4-FFF2-40B4-BE49-F238E27FC236}">
                <a16:creationId xmlns:a16="http://schemas.microsoft.com/office/drawing/2014/main" id="{12B6B1B3-8AA5-969B-D93F-671DB3BF17E4}"/>
              </a:ext>
            </a:extLst>
          </p:cNvPr>
          <p:cNvGrpSpPr/>
          <p:nvPr/>
        </p:nvGrpSpPr>
        <p:grpSpPr>
          <a:xfrm>
            <a:off x="11837044" y="5660020"/>
            <a:ext cx="354956" cy="1207812"/>
            <a:chOff x="11837044" y="5660020"/>
            <a:chExt cx="354956" cy="1207812"/>
          </a:xfrm>
        </p:grpSpPr>
        <p:sp>
          <p:nvSpPr>
            <p:cNvPr id="48" name="Rectangle 47">
              <a:extLst>
                <a:ext uri="{FF2B5EF4-FFF2-40B4-BE49-F238E27FC236}">
                  <a16:creationId xmlns:a16="http://schemas.microsoft.com/office/drawing/2014/main" id="{2EE8AEA0-7946-D17C-9F0D-F0352721390E}"/>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49" name="Rectangle 48">
              <a:extLst>
                <a:ext uri="{FF2B5EF4-FFF2-40B4-BE49-F238E27FC236}">
                  <a16:creationId xmlns:a16="http://schemas.microsoft.com/office/drawing/2014/main" id="{44071E02-A5EF-5367-E668-3B0F02E5FC16}"/>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spTree>
    <p:extLst>
      <p:ext uri="{BB962C8B-B14F-4D97-AF65-F5344CB8AC3E}">
        <p14:creationId xmlns:p14="http://schemas.microsoft.com/office/powerpoint/2010/main" val="3870489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59"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grpSp>
        <p:nvGrpSpPr>
          <p:cNvPr id="11" name="Group 10">
            <a:extLst>
              <a:ext uri="{FF2B5EF4-FFF2-40B4-BE49-F238E27FC236}">
                <a16:creationId xmlns:a16="http://schemas.microsoft.com/office/drawing/2014/main" id="{E9710285-B3EE-F4E6-7DFE-C7F46DDD8A05}"/>
              </a:ext>
            </a:extLst>
          </p:cNvPr>
          <p:cNvGrpSpPr/>
          <p:nvPr/>
        </p:nvGrpSpPr>
        <p:grpSpPr>
          <a:xfrm>
            <a:off x="11837044" y="5660020"/>
            <a:ext cx="354956" cy="1207812"/>
            <a:chOff x="11837044" y="5660020"/>
            <a:chExt cx="354956" cy="1207812"/>
          </a:xfrm>
        </p:grpSpPr>
        <p:sp>
          <p:nvSpPr>
            <p:cNvPr id="12" name="Rectangle 11">
              <a:extLst>
                <a:ext uri="{FF2B5EF4-FFF2-40B4-BE49-F238E27FC236}">
                  <a16:creationId xmlns:a16="http://schemas.microsoft.com/office/drawing/2014/main" id="{A7B2E35E-FDFA-8990-8ED5-FC367FCDAA30}"/>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13" name="Rectangle 12">
              <a:extLst>
                <a:ext uri="{FF2B5EF4-FFF2-40B4-BE49-F238E27FC236}">
                  <a16:creationId xmlns:a16="http://schemas.microsoft.com/office/drawing/2014/main" id="{5806D54F-9847-A074-F4DB-A142C9C09EB6}"/>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grpSp>
        <p:nvGrpSpPr>
          <p:cNvPr id="15" name="Group 14">
            <a:extLst>
              <a:ext uri="{FF2B5EF4-FFF2-40B4-BE49-F238E27FC236}">
                <a16:creationId xmlns:a16="http://schemas.microsoft.com/office/drawing/2014/main" id="{AF6C9013-C058-C945-6A8C-9918B01374B8}"/>
              </a:ext>
            </a:extLst>
          </p:cNvPr>
          <p:cNvGrpSpPr/>
          <p:nvPr/>
        </p:nvGrpSpPr>
        <p:grpSpPr>
          <a:xfrm flipH="1">
            <a:off x="3376431" y="1862141"/>
            <a:ext cx="5900414" cy="810181"/>
            <a:chOff x="299194" y="2407279"/>
            <a:chExt cx="8509968" cy="695244"/>
          </a:xfrm>
        </p:grpSpPr>
        <p:sp>
          <p:nvSpPr>
            <p:cNvPr id="32" name="Rectangle 31">
              <a:extLst>
                <a:ext uri="{FF2B5EF4-FFF2-40B4-BE49-F238E27FC236}">
                  <a16:creationId xmlns:a16="http://schemas.microsoft.com/office/drawing/2014/main" id="{BB2F2CAA-1D78-052B-5A75-7381B5898C2E}"/>
                </a:ext>
              </a:extLst>
            </p:cNvPr>
            <p:cNvSpPr/>
            <p:nvPr/>
          </p:nvSpPr>
          <p:spPr>
            <a:xfrm flipH="1">
              <a:off x="363061" y="2407279"/>
              <a:ext cx="8446101" cy="695243"/>
            </a:xfrm>
            <a:prstGeom prst="rect">
              <a:avLst/>
            </a:prstGeom>
            <a:solidFill>
              <a:srgbClr val="E7E8ED"/>
            </a:solidFill>
            <a:ln>
              <a:noFill/>
            </a:ln>
            <a:effectLst>
              <a:outerShdw blurRad="1143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3" name="Rectangle: Top Corners Rounded 32">
              <a:extLst>
                <a:ext uri="{FF2B5EF4-FFF2-40B4-BE49-F238E27FC236}">
                  <a16:creationId xmlns:a16="http://schemas.microsoft.com/office/drawing/2014/main" id="{12087111-0FDE-EF2D-6721-821F38F9DE82}"/>
                </a:ext>
              </a:extLst>
            </p:cNvPr>
            <p:cNvSpPr/>
            <p:nvPr/>
          </p:nvSpPr>
          <p:spPr>
            <a:xfrm rot="16200000" flipH="1">
              <a:off x="299195" y="2407281"/>
              <a:ext cx="695241" cy="695244"/>
            </a:xfrm>
            <a:prstGeom prst="round2SameRect">
              <a:avLst/>
            </a:prstGeom>
            <a:solidFill>
              <a:srgbClr val="33AFFA"/>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F8F24"/>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E0FF9893-827B-8EF0-A9ED-AA70F9E9E803}"/>
                </a:ext>
              </a:extLst>
            </p:cNvPr>
            <p:cNvSpPr txBox="1"/>
            <p:nvPr/>
          </p:nvSpPr>
          <p:spPr>
            <a:xfrm>
              <a:off x="396638" y="2546330"/>
              <a:ext cx="483319" cy="316936"/>
            </a:xfrm>
            <a:prstGeom prst="rect">
              <a:avLst/>
            </a:prstGeom>
            <a:noFill/>
          </p:spPr>
          <p:txBody>
            <a:bodyPr wrap="square" rtlCol="0">
              <a:spAutoFit/>
            </a:bodyPr>
            <a:lstStyle/>
            <a:p>
              <a:pPr algn="ctr"/>
              <a:r>
                <a:rPr lang="en-US" b="1" dirty="0">
                  <a:solidFill>
                    <a:srgbClr val="57586D"/>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E5364CA1-DB3C-314E-385B-FCFE809A4D8F}"/>
                </a:ext>
              </a:extLst>
            </p:cNvPr>
            <p:cNvSpPr txBox="1"/>
            <p:nvPr/>
          </p:nvSpPr>
          <p:spPr>
            <a:xfrm>
              <a:off x="1107441" y="2611699"/>
              <a:ext cx="7477761" cy="316936"/>
            </a:xfrm>
            <a:prstGeom prst="rect">
              <a:avLst/>
            </a:prstGeom>
            <a:noFill/>
          </p:spPr>
          <p:txBody>
            <a:bodyPr wrap="square" rtlCol="0">
              <a:spAutoFit/>
            </a:bodyPr>
            <a:lstStyle/>
            <a:p>
              <a:pPr algn="r"/>
              <a:r>
                <a:rPr lang="ar-SA" dirty="0">
                  <a:solidFill>
                    <a:srgbClr val="57586D"/>
                  </a:solidFill>
                  <a:latin typeface="Arial" panose="020B0604020202020204" pitchFamily="34" charset="0"/>
                  <a:cs typeface="Arial" panose="020B0604020202020204" pitchFamily="34" charset="0"/>
                </a:rPr>
                <a:t>التشغيل الكامل أو الجزئي لخدمات الأقسام الطبية</a:t>
              </a:r>
              <a:endParaRPr lang="en-US" dirty="0">
                <a:solidFill>
                  <a:srgbClr val="57586D"/>
                </a:solidFill>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A25A7C44-9041-7940-963F-C0DE3383B5D8}"/>
              </a:ext>
            </a:extLst>
          </p:cNvPr>
          <p:cNvGrpSpPr/>
          <p:nvPr/>
        </p:nvGrpSpPr>
        <p:grpSpPr>
          <a:xfrm flipH="1">
            <a:off x="3376431" y="2967175"/>
            <a:ext cx="5900415" cy="810180"/>
            <a:chOff x="217913" y="1472559"/>
            <a:chExt cx="8509969" cy="695244"/>
          </a:xfrm>
        </p:grpSpPr>
        <p:grpSp>
          <p:nvGrpSpPr>
            <p:cNvPr id="24" name="Group 23">
              <a:extLst>
                <a:ext uri="{FF2B5EF4-FFF2-40B4-BE49-F238E27FC236}">
                  <a16:creationId xmlns:a16="http://schemas.microsoft.com/office/drawing/2014/main" id="{0DD5887C-B71E-C2F6-2164-A746B709D6DE}"/>
                </a:ext>
              </a:extLst>
            </p:cNvPr>
            <p:cNvGrpSpPr/>
            <p:nvPr/>
          </p:nvGrpSpPr>
          <p:grpSpPr>
            <a:xfrm flipH="1">
              <a:off x="217913" y="1472559"/>
              <a:ext cx="8509969" cy="695244"/>
              <a:chOff x="763929" y="925423"/>
              <a:chExt cx="8431777" cy="2009479"/>
            </a:xfrm>
          </p:grpSpPr>
          <p:sp>
            <p:nvSpPr>
              <p:cNvPr id="30" name="Rectangle 29">
                <a:extLst>
                  <a:ext uri="{FF2B5EF4-FFF2-40B4-BE49-F238E27FC236}">
                    <a16:creationId xmlns:a16="http://schemas.microsoft.com/office/drawing/2014/main" id="{7BC3CEDC-27DA-0AD2-E7D0-A7EF91CC6693}"/>
                  </a:ext>
                </a:extLst>
              </p:cNvPr>
              <p:cNvSpPr/>
              <p:nvPr/>
            </p:nvSpPr>
            <p:spPr>
              <a:xfrm>
                <a:off x="763929" y="925423"/>
                <a:ext cx="8368496" cy="2009476"/>
              </a:xfrm>
              <a:prstGeom prst="rect">
                <a:avLst/>
              </a:prstGeom>
              <a:solidFill>
                <a:srgbClr val="E7E8ED"/>
              </a:solidFill>
              <a:ln>
                <a:noFill/>
              </a:ln>
              <a:effectLst>
                <a:outerShdw blurRad="1143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1" name="Rectangle: Top Corners Rounded 30">
                <a:extLst>
                  <a:ext uri="{FF2B5EF4-FFF2-40B4-BE49-F238E27FC236}">
                    <a16:creationId xmlns:a16="http://schemas.microsoft.com/office/drawing/2014/main" id="{04A2099E-2CA4-E27F-2D5D-50A8981B40C7}"/>
                  </a:ext>
                </a:extLst>
              </p:cNvPr>
              <p:cNvSpPr/>
              <p:nvPr/>
            </p:nvSpPr>
            <p:spPr>
              <a:xfrm rot="5400000">
                <a:off x="7846543" y="1585740"/>
                <a:ext cx="2009469" cy="688856"/>
              </a:xfrm>
              <a:prstGeom prst="round2SameRect">
                <a:avLst/>
              </a:prstGeom>
              <a:solidFill>
                <a:srgbClr val="EF8F24"/>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F8F24"/>
                  </a:solidFill>
                  <a:latin typeface="Arial" panose="020B0604020202020204" pitchFamily="34" charset="0"/>
                  <a:cs typeface="Arial" panose="020B0604020202020204" pitchFamily="34" charset="0"/>
                </a:endParaRPr>
              </a:p>
            </p:txBody>
          </p:sp>
        </p:grpSp>
        <p:sp>
          <p:nvSpPr>
            <p:cNvPr id="25" name="TextBox 24">
              <a:extLst>
                <a:ext uri="{FF2B5EF4-FFF2-40B4-BE49-F238E27FC236}">
                  <a16:creationId xmlns:a16="http://schemas.microsoft.com/office/drawing/2014/main" id="{4F9DCE58-51EE-681C-3486-37CB1D92FF88}"/>
                </a:ext>
              </a:extLst>
            </p:cNvPr>
            <p:cNvSpPr txBox="1"/>
            <p:nvPr/>
          </p:nvSpPr>
          <p:spPr>
            <a:xfrm>
              <a:off x="315358" y="1611611"/>
              <a:ext cx="483317" cy="316937"/>
            </a:xfrm>
            <a:prstGeom prst="rect">
              <a:avLst/>
            </a:prstGeom>
            <a:noFill/>
          </p:spPr>
          <p:txBody>
            <a:bodyPr wrap="square" rtlCol="0">
              <a:spAutoFit/>
            </a:bodyPr>
            <a:lstStyle/>
            <a:p>
              <a:pPr algn="ctr"/>
              <a:r>
                <a:rPr lang="en-US" b="1" dirty="0">
                  <a:solidFill>
                    <a:srgbClr val="57586D"/>
                  </a:solidFill>
                  <a:latin typeface="Arial" panose="020B0604020202020204" pitchFamily="34" charset="0"/>
                  <a:cs typeface="Arial" panose="020B0604020202020204" pitchFamily="34" charset="0"/>
                </a:rPr>
                <a:t>2</a:t>
              </a:r>
            </a:p>
          </p:txBody>
        </p:sp>
      </p:grpSp>
      <p:grpSp>
        <p:nvGrpSpPr>
          <p:cNvPr id="18" name="Group 17">
            <a:extLst>
              <a:ext uri="{FF2B5EF4-FFF2-40B4-BE49-F238E27FC236}">
                <a16:creationId xmlns:a16="http://schemas.microsoft.com/office/drawing/2014/main" id="{E8C44DCC-FF75-9DE3-726F-BF0FD5684D07}"/>
              </a:ext>
            </a:extLst>
          </p:cNvPr>
          <p:cNvGrpSpPr/>
          <p:nvPr/>
        </p:nvGrpSpPr>
        <p:grpSpPr>
          <a:xfrm flipH="1">
            <a:off x="3376431" y="4072205"/>
            <a:ext cx="5900415" cy="810181"/>
            <a:chOff x="217913" y="1472559"/>
            <a:chExt cx="8509969" cy="695244"/>
          </a:xfrm>
        </p:grpSpPr>
        <p:grpSp>
          <p:nvGrpSpPr>
            <p:cNvPr id="19" name="Group 18">
              <a:extLst>
                <a:ext uri="{FF2B5EF4-FFF2-40B4-BE49-F238E27FC236}">
                  <a16:creationId xmlns:a16="http://schemas.microsoft.com/office/drawing/2014/main" id="{E54C5F96-F2B9-9F09-A397-B0B5A7E7FAFE}"/>
                </a:ext>
              </a:extLst>
            </p:cNvPr>
            <p:cNvGrpSpPr/>
            <p:nvPr/>
          </p:nvGrpSpPr>
          <p:grpSpPr>
            <a:xfrm flipH="1">
              <a:off x="217913" y="1472559"/>
              <a:ext cx="8509969" cy="695244"/>
              <a:chOff x="763929" y="925423"/>
              <a:chExt cx="8431777" cy="2009479"/>
            </a:xfrm>
          </p:grpSpPr>
          <p:sp>
            <p:nvSpPr>
              <p:cNvPr id="22" name="Rectangle 21">
                <a:extLst>
                  <a:ext uri="{FF2B5EF4-FFF2-40B4-BE49-F238E27FC236}">
                    <a16:creationId xmlns:a16="http://schemas.microsoft.com/office/drawing/2014/main" id="{1FA57113-3E98-3F01-38A1-00A54749C4FB}"/>
                  </a:ext>
                </a:extLst>
              </p:cNvPr>
              <p:cNvSpPr/>
              <p:nvPr/>
            </p:nvSpPr>
            <p:spPr>
              <a:xfrm>
                <a:off x="763929" y="925423"/>
                <a:ext cx="8368496" cy="2009476"/>
              </a:xfrm>
              <a:prstGeom prst="rect">
                <a:avLst/>
              </a:prstGeom>
              <a:solidFill>
                <a:srgbClr val="E7E8ED"/>
              </a:solidFill>
              <a:ln>
                <a:noFill/>
              </a:ln>
              <a:effectLst>
                <a:outerShdw blurRad="1143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3" name="Rectangle: Top Corners Rounded 22">
                <a:extLst>
                  <a:ext uri="{FF2B5EF4-FFF2-40B4-BE49-F238E27FC236}">
                    <a16:creationId xmlns:a16="http://schemas.microsoft.com/office/drawing/2014/main" id="{D0987929-6420-EA27-A5E4-91AF8F3828DC}"/>
                  </a:ext>
                </a:extLst>
              </p:cNvPr>
              <p:cNvSpPr/>
              <p:nvPr/>
            </p:nvSpPr>
            <p:spPr>
              <a:xfrm rot="5400000">
                <a:off x="7846543" y="1585740"/>
                <a:ext cx="2009469" cy="688856"/>
              </a:xfrm>
              <a:prstGeom prst="round2SameRect">
                <a:avLst/>
              </a:prstGeom>
              <a:solidFill>
                <a:srgbClr val="3CAEA3"/>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3CAEA3"/>
                  </a:solidFill>
                  <a:latin typeface="Arial" panose="020B0604020202020204" pitchFamily="34" charset="0"/>
                  <a:cs typeface="Arial" panose="020B0604020202020204" pitchFamily="34" charset="0"/>
                </a:endParaRPr>
              </a:p>
            </p:txBody>
          </p:sp>
        </p:grpSp>
        <p:sp>
          <p:nvSpPr>
            <p:cNvPr id="20" name="TextBox 19">
              <a:extLst>
                <a:ext uri="{FF2B5EF4-FFF2-40B4-BE49-F238E27FC236}">
                  <a16:creationId xmlns:a16="http://schemas.microsoft.com/office/drawing/2014/main" id="{017DA436-8D61-D451-6309-F024328EDC6B}"/>
                </a:ext>
              </a:extLst>
            </p:cNvPr>
            <p:cNvSpPr txBox="1"/>
            <p:nvPr/>
          </p:nvSpPr>
          <p:spPr>
            <a:xfrm>
              <a:off x="315358" y="1611610"/>
              <a:ext cx="483317" cy="316936"/>
            </a:xfrm>
            <a:prstGeom prst="rect">
              <a:avLst/>
            </a:prstGeom>
            <a:noFill/>
          </p:spPr>
          <p:txBody>
            <a:bodyPr wrap="square" rtlCol="0">
              <a:spAutoFit/>
            </a:bodyPr>
            <a:lstStyle/>
            <a:p>
              <a:pPr algn="ctr"/>
              <a:r>
                <a:rPr lang="en-US" b="1" dirty="0">
                  <a:solidFill>
                    <a:srgbClr val="57586D"/>
                  </a:solidFill>
                  <a:latin typeface="Arial" panose="020B0604020202020204" pitchFamily="34" charset="0"/>
                  <a:cs typeface="Arial" panose="020B0604020202020204" pitchFamily="34" charset="0"/>
                </a:rPr>
                <a:t>3</a:t>
              </a:r>
            </a:p>
          </p:txBody>
        </p:sp>
      </p:grpSp>
      <p:sp>
        <p:nvSpPr>
          <p:cNvPr id="37" name="TextBox 36">
            <a:extLst>
              <a:ext uri="{FF2B5EF4-FFF2-40B4-BE49-F238E27FC236}">
                <a16:creationId xmlns:a16="http://schemas.microsoft.com/office/drawing/2014/main" id="{2BC20815-FFEE-5634-0408-3477E65DDE89}"/>
              </a:ext>
            </a:extLst>
          </p:cNvPr>
          <p:cNvSpPr txBox="1"/>
          <p:nvPr/>
        </p:nvSpPr>
        <p:spPr>
          <a:xfrm flipH="1">
            <a:off x="3479346" y="3187597"/>
            <a:ext cx="5184731" cy="369332"/>
          </a:xfrm>
          <a:prstGeom prst="rect">
            <a:avLst/>
          </a:prstGeom>
          <a:noFill/>
        </p:spPr>
        <p:txBody>
          <a:bodyPr wrap="square" rtlCol="0">
            <a:spAutoFit/>
          </a:bodyPr>
          <a:lstStyle/>
          <a:p>
            <a:pPr algn="r"/>
            <a:r>
              <a:rPr lang="ar-SA" dirty="0">
                <a:solidFill>
                  <a:srgbClr val="57586D"/>
                </a:solidFill>
                <a:latin typeface="Arial" panose="020B0604020202020204" pitchFamily="34" charset="0"/>
                <a:cs typeface="Arial" panose="020B0604020202020204" pitchFamily="34" charset="0"/>
              </a:rPr>
              <a:t>تشغيل برنامج الرعاية الصحية المنزلية والرعاية الصحية الممتدة</a:t>
            </a:r>
            <a:endParaRPr lang="en-US" dirty="0">
              <a:solidFill>
                <a:srgbClr val="57586D"/>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1D2A2D89-D884-D694-6AC8-DAD74EDF2E05}"/>
              </a:ext>
            </a:extLst>
          </p:cNvPr>
          <p:cNvSpPr txBox="1"/>
          <p:nvPr/>
        </p:nvSpPr>
        <p:spPr>
          <a:xfrm flipH="1">
            <a:off x="3479346" y="4292629"/>
            <a:ext cx="5184731" cy="369332"/>
          </a:xfrm>
          <a:prstGeom prst="rect">
            <a:avLst/>
          </a:prstGeom>
          <a:noFill/>
        </p:spPr>
        <p:txBody>
          <a:bodyPr wrap="square" rtlCol="0">
            <a:spAutoFit/>
          </a:bodyPr>
          <a:lstStyle/>
          <a:p>
            <a:pPr algn="r"/>
            <a:r>
              <a:rPr lang="ar-SA" dirty="0">
                <a:solidFill>
                  <a:srgbClr val="57586D"/>
                </a:solidFill>
                <a:latin typeface="Arial" panose="020B0604020202020204" pitchFamily="34" charset="0"/>
                <a:cs typeface="Arial" panose="020B0604020202020204" pitchFamily="34" charset="0"/>
              </a:rPr>
              <a:t>تشغيل العيادة المتنقلة أو </a:t>
            </a:r>
            <a:r>
              <a:rPr lang="ar-SA" dirty="0" err="1">
                <a:solidFill>
                  <a:srgbClr val="57586D"/>
                </a:solidFill>
                <a:latin typeface="Arial" panose="020B0604020202020204" pitchFamily="34" charset="0"/>
                <a:cs typeface="Arial" panose="020B0604020202020204" pitchFamily="34" charset="0"/>
              </a:rPr>
              <a:t>الإفتراضية</a:t>
            </a:r>
            <a:endParaRPr lang="en-US" dirty="0">
              <a:solidFill>
                <a:srgbClr val="57586D"/>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664C2B68-1C2C-EF56-1816-2E0C3D1078A6}"/>
              </a:ext>
            </a:extLst>
          </p:cNvPr>
          <p:cNvSpPr txBox="1"/>
          <p:nvPr/>
        </p:nvSpPr>
        <p:spPr>
          <a:xfrm>
            <a:off x="3788229" y="904138"/>
            <a:ext cx="8048815" cy="584775"/>
          </a:xfrm>
          <a:prstGeom prst="rect">
            <a:avLst/>
          </a:prstGeom>
          <a:noFill/>
        </p:spPr>
        <p:txBody>
          <a:bodyPr wrap="square" rtlCol="0">
            <a:spAutoFit/>
          </a:bodyPr>
          <a:lstStyle/>
          <a:p>
            <a:pPr algn="r"/>
            <a:r>
              <a:rPr lang="ar-SA" sz="3200" b="1" dirty="0">
                <a:solidFill>
                  <a:srgbClr val="1F62FB"/>
                </a:solidFill>
                <a:latin typeface="Arial" panose="020B0604020202020204" pitchFamily="34" charset="0"/>
                <a:cs typeface="Arial" panose="020B0604020202020204" pitchFamily="34" charset="0"/>
              </a:rPr>
              <a:t>خدمات طيب</a:t>
            </a:r>
            <a:endParaRPr lang="en-US" sz="3200" b="1" dirty="0">
              <a:solidFill>
                <a:srgbClr val="1F62F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277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D66C045E-E3F4-0F5F-DA1F-AFFAD4BBF0B1}"/>
              </a:ext>
            </a:extLst>
          </p:cNvPr>
          <p:cNvSpPr/>
          <p:nvPr/>
        </p:nvSpPr>
        <p:spPr>
          <a:xfrm>
            <a:off x="6083126" y="1863"/>
            <a:ext cx="6096000" cy="6858000"/>
          </a:xfrm>
          <a:prstGeom prst="rect">
            <a:avLst/>
          </a:prstGeom>
          <a:blipFill dpi="0" rotWithShape="1">
            <a:blip r:embed="rId2"/>
            <a:srcRect/>
            <a:stretch>
              <a:fillRect/>
            </a:stretch>
          </a:bli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0F585E14-9D80-E61B-8157-DE942D7B66C9}"/>
              </a:ext>
            </a:extLst>
          </p:cNvPr>
          <p:cNvSpPr/>
          <p:nvPr/>
        </p:nvSpPr>
        <p:spPr>
          <a:xfrm>
            <a:off x="0" y="0"/>
            <a:ext cx="12192000" cy="6869575"/>
          </a:xfrm>
          <a:prstGeom prst="rect">
            <a:avLst/>
          </a:prstGeom>
          <a:blipFill dpi="0" rotWithShape="1">
            <a:blip r:embed="rId3">
              <a:alphaModFix amt="72000"/>
              <a:grayscl/>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3313436B-E13F-E459-DE9B-25840FC47DFD}"/>
              </a:ext>
            </a:extLst>
          </p:cNvPr>
          <p:cNvSpPr/>
          <p:nvPr/>
        </p:nvSpPr>
        <p:spPr>
          <a:xfrm>
            <a:off x="0" y="11575"/>
            <a:ext cx="12192000" cy="6858000"/>
          </a:xfrm>
          <a:prstGeom prst="rect">
            <a:avLst/>
          </a:prstGeom>
          <a:solidFill>
            <a:srgbClr val="1F62FB">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3F5EA6"/>
              </a:solidFill>
            </a:endParaRPr>
          </a:p>
        </p:txBody>
      </p:sp>
      <p:sp>
        <p:nvSpPr>
          <p:cNvPr id="28" name="Freeform 75">
            <a:extLst>
              <a:ext uri="{FF2B5EF4-FFF2-40B4-BE49-F238E27FC236}">
                <a16:creationId xmlns:a16="http://schemas.microsoft.com/office/drawing/2014/main" id="{362D5606-A8F2-4922-2D62-E079A71366BC}"/>
              </a:ext>
            </a:extLst>
          </p:cNvPr>
          <p:cNvSpPr/>
          <p:nvPr/>
        </p:nvSpPr>
        <p:spPr>
          <a:xfrm>
            <a:off x="1709823" y="-26089"/>
            <a:ext cx="5671784" cy="7501834"/>
          </a:xfrm>
          <a:custGeom>
            <a:avLst/>
            <a:gdLst>
              <a:gd name="connsiteX0" fmla="*/ 0 w 6994122"/>
              <a:gd name="connsiteY0" fmla="*/ 0 h 6872514"/>
              <a:gd name="connsiteX1" fmla="*/ 6994122 w 6994122"/>
              <a:gd name="connsiteY1" fmla="*/ 0 h 6872514"/>
              <a:gd name="connsiteX2" fmla="*/ 6994122 w 6994122"/>
              <a:gd name="connsiteY2" fmla="*/ 6872514 h 6872514"/>
              <a:gd name="connsiteX3" fmla="*/ 4989231 w 6994122"/>
              <a:gd name="connsiteY3" fmla="*/ 6872514 h 6872514"/>
            </a:gdLst>
            <a:ahLst/>
            <a:cxnLst>
              <a:cxn ang="0">
                <a:pos x="connsiteX0" y="connsiteY0"/>
              </a:cxn>
              <a:cxn ang="0">
                <a:pos x="connsiteX1" y="connsiteY1"/>
              </a:cxn>
              <a:cxn ang="0">
                <a:pos x="connsiteX2" y="connsiteY2"/>
              </a:cxn>
              <a:cxn ang="0">
                <a:pos x="connsiteX3" y="connsiteY3"/>
              </a:cxn>
            </a:cxnLst>
            <a:rect l="l" t="t" r="r" b="b"/>
            <a:pathLst>
              <a:path w="6994122" h="6872514">
                <a:moveTo>
                  <a:pt x="0" y="0"/>
                </a:moveTo>
                <a:lnTo>
                  <a:pt x="6994122" y="0"/>
                </a:lnTo>
                <a:lnTo>
                  <a:pt x="6994122" y="6872514"/>
                </a:lnTo>
                <a:lnTo>
                  <a:pt x="4989231" y="6872514"/>
                </a:lnTo>
                <a:close/>
              </a:path>
            </a:pathLst>
          </a:cu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2E503B">
                  <a:alpha val="58000"/>
                </a:srgbClr>
              </a:solidFill>
            </a:endParaRPr>
          </a:p>
        </p:txBody>
      </p:sp>
      <p:sp>
        <p:nvSpPr>
          <p:cNvPr id="29" name="Freeform 75">
            <a:extLst>
              <a:ext uri="{FF2B5EF4-FFF2-40B4-BE49-F238E27FC236}">
                <a16:creationId xmlns:a16="http://schemas.microsoft.com/office/drawing/2014/main" id="{BAFC4A6A-80CB-FAA9-548E-1F90208AE0D2}"/>
              </a:ext>
            </a:extLst>
          </p:cNvPr>
          <p:cNvSpPr/>
          <p:nvPr/>
        </p:nvSpPr>
        <p:spPr>
          <a:xfrm>
            <a:off x="3450000" y="-27558"/>
            <a:ext cx="5671784" cy="7501834"/>
          </a:xfrm>
          <a:custGeom>
            <a:avLst/>
            <a:gdLst>
              <a:gd name="connsiteX0" fmla="*/ 0 w 6994122"/>
              <a:gd name="connsiteY0" fmla="*/ 0 h 6872514"/>
              <a:gd name="connsiteX1" fmla="*/ 6994122 w 6994122"/>
              <a:gd name="connsiteY1" fmla="*/ 0 h 6872514"/>
              <a:gd name="connsiteX2" fmla="*/ 6994122 w 6994122"/>
              <a:gd name="connsiteY2" fmla="*/ 6872514 h 6872514"/>
              <a:gd name="connsiteX3" fmla="*/ 4989231 w 6994122"/>
              <a:gd name="connsiteY3" fmla="*/ 6872514 h 6872514"/>
            </a:gdLst>
            <a:ahLst/>
            <a:cxnLst>
              <a:cxn ang="0">
                <a:pos x="connsiteX0" y="connsiteY0"/>
              </a:cxn>
              <a:cxn ang="0">
                <a:pos x="connsiteX1" y="connsiteY1"/>
              </a:cxn>
              <a:cxn ang="0">
                <a:pos x="connsiteX2" y="connsiteY2"/>
              </a:cxn>
              <a:cxn ang="0">
                <a:pos x="connsiteX3" y="connsiteY3"/>
              </a:cxn>
            </a:cxnLst>
            <a:rect l="l" t="t" r="r" b="b"/>
            <a:pathLst>
              <a:path w="6994122" h="6872514">
                <a:moveTo>
                  <a:pt x="0" y="0"/>
                </a:moveTo>
                <a:lnTo>
                  <a:pt x="6994122" y="0"/>
                </a:lnTo>
                <a:lnTo>
                  <a:pt x="6994122" y="6872514"/>
                </a:lnTo>
                <a:lnTo>
                  <a:pt x="4989231" y="6872514"/>
                </a:lnTo>
                <a:close/>
              </a:path>
            </a:pathLst>
          </a:cu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2E503B">
                  <a:alpha val="58000"/>
                </a:srgbClr>
              </a:solidFill>
            </a:endParaRPr>
          </a:p>
        </p:txBody>
      </p:sp>
      <p:grpSp>
        <p:nvGrpSpPr>
          <p:cNvPr id="30" name="Group 29">
            <a:extLst>
              <a:ext uri="{FF2B5EF4-FFF2-40B4-BE49-F238E27FC236}">
                <a16:creationId xmlns:a16="http://schemas.microsoft.com/office/drawing/2014/main" id="{FFDA9094-6FF3-34AF-849A-3A5C8DF43755}"/>
              </a:ext>
            </a:extLst>
          </p:cNvPr>
          <p:cNvGrpSpPr/>
          <p:nvPr/>
        </p:nvGrpSpPr>
        <p:grpSpPr>
          <a:xfrm>
            <a:off x="0" y="-389242"/>
            <a:ext cx="11513587" cy="7854913"/>
            <a:chOff x="-1" y="-40602"/>
            <a:chExt cx="12192001" cy="5726710"/>
          </a:xfrm>
        </p:grpSpPr>
        <p:sp>
          <p:nvSpPr>
            <p:cNvPr id="31" name="Rectangle 30">
              <a:extLst>
                <a:ext uri="{FF2B5EF4-FFF2-40B4-BE49-F238E27FC236}">
                  <a16:creationId xmlns:a16="http://schemas.microsoft.com/office/drawing/2014/main" id="{2AAD12EF-D72F-8963-0D14-97ABDE1E764C}"/>
                </a:ext>
              </a:extLst>
            </p:cNvPr>
            <p:cNvSpPr/>
            <p:nvPr/>
          </p:nvSpPr>
          <p:spPr>
            <a:xfrm>
              <a:off x="-1" y="1899842"/>
              <a:ext cx="6275428" cy="2233555"/>
            </a:xfrm>
            <a:prstGeom prst="rect">
              <a:avLst/>
            </a:prstGeom>
            <a:solidFill>
              <a:srgbClr val="1F62FB">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6600" dirty="0"/>
                <a:t>شكراً لكم</a:t>
              </a:r>
              <a:endParaRPr lang="en-US" sz="6600" dirty="0"/>
            </a:p>
          </p:txBody>
        </p:sp>
        <p:sp>
          <p:nvSpPr>
            <p:cNvPr id="32" name="Freeform 75">
              <a:extLst>
                <a:ext uri="{FF2B5EF4-FFF2-40B4-BE49-F238E27FC236}">
                  <a16:creationId xmlns:a16="http://schemas.microsoft.com/office/drawing/2014/main" id="{FDA237DA-8749-0568-1D8E-4A468FBF9221}"/>
                </a:ext>
              </a:extLst>
            </p:cNvPr>
            <p:cNvSpPr/>
            <p:nvPr/>
          </p:nvSpPr>
          <p:spPr>
            <a:xfrm>
              <a:off x="6002778" y="-40602"/>
              <a:ext cx="6189222" cy="5686108"/>
            </a:xfrm>
            <a:custGeom>
              <a:avLst/>
              <a:gdLst>
                <a:gd name="connsiteX0" fmla="*/ 0 w 6994122"/>
                <a:gd name="connsiteY0" fmla="*/ 0 h 6872514"/>
                <a:gd name="connsiteX1" fmla="*/ 6994122 w 6994122"/>
                <a:gd name="connsiteY1" fmla="*/ 0 h 6872514"/>
                <a:gd name="connsiteX2" fmla="*/ 6994122 w 6994122"/>
                <a:gd name="connsiteY2" fmla="*/ 6872514 h 6872514"/>
                <a:gd name="connsiteX3" fmla="*/ 4989231 w 6994122"/>
                <a:gd name="connsiteY3" fmla="*/ 6872514 h 6872514"/>
              </a:gdLst>
              <a:ahLst/>
              <a:cxnLst>
                <a:cxn ang="0">
                  <a:pos x="connsiteX0" y="connsiteY0"/>
                </a:cxn>
                <a:cxn ang="0">
                  <a:pos x="connsiteX1" y="connsiteY1"/>
                </a:cxn>
                <a:cxn ang="0">
                  <a:pos x="connsiteX2" y="connsiteY2"/>
                </a:cxn>
                <a:cxn ang="0">
                  <a:pos x="connsiteX3" y="connsiteY3"/>
                </a:cxn>
              </a:cxnLst>
              <a:rect l="l" t="t" r="r" b="b"/>
              <a:pathLst>
                <a:path w="6994122" h="6872514">
                  <a:moveTo>
                    <a:pt x="0" y="0"/>
                  </a:moveTo>
                  <a:lnTo>
                    <a:pt x="6994122" y="0"/>
                  </a:lnTo>
                  <a:lnTo>
                    <a:pt x="6994122" y="6872514"/>
                  </a:lnTo>
                  <a:lnTo>
                    <a:pt x="4989231" y="6872514"/>
                  </a:lnTo>
                  <a:close/>
                </a:path>
              </a:pathLst>
            </a:cu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2E503B">
                    <a:alpha val="58000"/>
                  </a:srgbClr>
                </a:solidFill>
              </a:endParaRPr>
            </a:p>
          </p:txBody>
        </p:sp>
        <p:sp>
          <p:nvSpPr>
            <p:cNvPr id="33" name="Freeform 75">
              <a:extLst>
                <a:ext uri="{FF2B5EF4-FFF2-40B4-BE49-F238E27FC236}">
                  <a16:creationId xmlns:a16="http://schemas.microsoft.com/office/drawing/2014/main" id="{64EB445F-0367-C018-69E3-1A5BA3F58508}"/>
                </a:ext>
              </a:extLst>
            </p:cNvPr>
            <p:cNvSpPr/>
            <p:nvPr/>
          </p:nvSpPr>
          <p:spPr>
            <a:xfrm>
              <a:off x="5163025" y="14514"/>
              <a:ext cx="6005982" cy="5671594"/>
            </a:xfrm>
            <a:custGeom>
              <a:avLst/>
              <a:gdLst>
                <a:gd name="connsiteX0" fmla="*/ 0 w 6994122"/>
                <a:gd name="connsiteY0" fmla="*/ 0 h 6872514"/>
                <a:gd name="connsiteX1" fmla="*/ 6994122 w 6994122"/>
                <a:gd name="connsiteY1" fmla="*/ 0 h 6872514"/>
                <a:gd name="connsiteX2" fmla="*/ 6994122 w 6994122"/>
                <a:gd name="connsiteY2" fmla="*/ 6872514 h 6872514"/>
                <a:gd name="connsiteX3" fmla="*/ 4989231 w 6994122"/>
                <a:gd name="connsiteY3" fmla="*/ 6872514 h 6872514"/>
              </a:gdLst>
              <a:ahLst/>
              <a:cxnLst>
                <a:cxn ang="0">
                  <a:pos x="connsiteX0" y="connsiteY0"/>
                </a:cxn>
                <a:cxn ang="0">
                  <a:pos x="connsiteX1" y="connsiteY1"/>
                </a:cxn>
                <a:cxn ang="0">
                  <a:pos x="connsiteX2" y="connsiteY2"/>
                </a:cxn>
                <a:cxn ang="0">
                  <a:pos x="connsiteX3" y="connsiteY3"/>
                </a:cxn>
              </a:cxnLst>
              <a:rect l="l" t="t" r="r" b="b"/>
              <a:pathLst>
                <a:path w="6994122" h="6872514">
                  <a:moveTo>
                    <a:pt x="0" y="0"/>
                  </a:moveTo>
                  <a:lnTo>
                    <a:pt x="6994122" y="0"/>
                  </a:lnTo>
                  <a:lnTo>
                    <a:pt x="6994122" y="6872514"/>
                  </a:lnTo>
                  <a:lnTo>
                    <a:pt x="4989231" y="6872514"/>
                  </a:lnTo>
                  <a:close/>
                </a:path>
              </a:pathLst>
            </a:cu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2E503B">
                    <a:alpha val="58000"/>
                  </a:srgbClr>
                </a:solidFill>
              </a:endParaRPr>
            </a:p>
          </p:txBody>
        </p:sp>
      </p:grpSp>
      <p:grpSp>
        <p:nvGrpSpPr>
          <p:cNvPr id="4" name="Group 3">
            <a:extLst>
              <a:ext uri="{FF2B5EF4-FFF2-40B4-BE49-F238E27FC236}">
                <a16:creationId xmlns:a16="http://schemas.microsoft.com/office/drawing/2014/main" id="{CB4587E3-6559-BDAC-2645-A7A677C7D509}"/>
              </a:ext>
            </a:extLst>
          </p:cNvPr>
          <p:cNvGrpSpPr/>
          <p:nvPr/>
        </p:nvGrpSpPr>
        <p:grpSpPr>
          <a:xfrm>
            <a:off x="-1705495" y="1811482"/>
            <a:ext cx="1094940" cy="461397"/>
            <a:chOff x="2032724" y="505505"/>
            <a:chExt cx="6363131" cy="461397"/>
          </a:xfrm>
        </p:grpSpPr>
        <p:sp>
          <p:nvSpPr>
            <p:cNvPr id="5" name="Rectangle 4">
              <a:extLst>
                <a:ext uri="{FF2B5EF4-FFF2-40B4-BE49-F238E27FC236}">
                  <a16:creationId xmlns:a16="http://schemas.microsoft.com/office/drawing/2014/main" id="{69440F31-09C2-FAC2-BC46-411DEB867E21}"/>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DDF9B2C-BF3E-68F0-2D0B-88D9F129D12E}"/>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1E64418-DBF5-D54C-62C0-65DFEA2D0D24}"/>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763D58A-721C-DF91-339E-9C02CDD8EFEE}"/>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5D34066-E3BD-5A01-D022-FAC583B1D278}"/>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6451879-75A0-E17D-09FA-777DA8C39F73}"/>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7CD3617-3D71-E7FB-FE0B-2FA8658150CE}"/>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13148B0-8A1D-D5CD-D445-C2814631D7E7}"/>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extBox 14">
            <a:extLst>
              <a:ext uri="{FF2B5EF4-FFF2-40B4-BE49-F238E27FC236}">
                <a16:creationId xmlns:a16="http://schemas.microsoft.com/office/drawing/2014/main" id="{6AF0832B-FB63-E2CE-4F7A-0887C205F6B9}"/>
              </a:ext>
            </a:extLst>
          </p:cNvPr>
          <p:cNvSpPr txBox="1"/>
          <p:nvPr/>
        </p:nvSpPr>
        <p:spPr>
          <a:xfrm>
            <a:off x="8305050" y="3471769"/>
            <a:ext cx="3885327" cy="584775"/>
          </a:xfrm>
          <a:prstGeom prst="rect">
            <a:avLst/>
          </a:prstGeom>
          <a:solidFill>
            <a:schemeClr val="bg1">
              <a:alpha val="60000"/>
            </a:schemeClr>
          </a:solidFill>
          <a:ln>
            <a:noFill/>
          </a:ln>
        </p:spPr>
        <p:txBody>
          <a:bodyPr wrap="square" rtlCol="0">
            <a:spAutoFit/>
          </a:bodyPr>
          <a:lstStyle/>
          <a:p>
            <a:pPr algn="ctr"/>
            <a:r>
              <a:rPr lang="ar-SA" sz="3200" b="1" dirty="0">
                <a:solidFill>
                  <a:srgbClr val="57586D"/>
                </a:solidFill>
                <a:latin typeface="Bodoni MT Black" panose="02070A03080606020203" pitchFamily="18" charset="0"/>
              </a:rPr>
              <a:t>نهاية العرض الفني</a:t>
            </a:r>
            <a:endParaRPr lang="en-US" sz="3200" b="1" dirty="0">
              <a:solidFill>
                <a:srgbClr val="57586D"/>
              </a:solidFill>
              <a:latin typeface="Bodoni MT Black" panose="02070A03080606020203" pitchFamily="18" charset="0"/>
            </a:endParaRPr>
          </a:p>
        </p:txBody>
      </p:sp>
      <p:pic>
        <p:nvPicPr>
          <p:cNvPr id="2" name="Picture 1" descr="A blue oval with writing on it&#10;&#10;Description automatically generated">
            <a:extLst>
              <a:ext uri="{FF2B5EF4-FFF2-40B4-BE49-F238E27FC236}">
                <a16:creationId xmlns:a16="http://schemas.microsoft.com/office/drawing/2014/main" id="{3C5353D3-937B-E658-4CD6-D55F24D501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338" y="5263758"/>
            <a:ext cx="1981372" cy="1463167"/>
          </a:xfrm>
          <a:prstGeom prst="rect">
            <a:avLst/>
          </a:prstGeom>
        </p:spPr>
      </p:pic>
    </p:spTree>
    <p:extLst>
      <p:ext uri="{BB962C8B-B14F-4D97-AF65-F5344CB8AC3E}">
        <p14:creationId xmlns:p14="http://schemas.microsoft.com/office/powerpoint/2010/main" val="761388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8126</TotalTime>
  <Words>643</Words>
  <Application>Microsoft Office PowerPoint</Application>
  <PresentationFormat>Widescreen</PresentationFormat>
  <Paragraphs>35</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Bodoni MT Black</vt:lpstr>
      <vt:lpstr>Calibri</vt:lpstr>
      <vt:lpstr>Calibri Light</vt:lpstr>
      <vt:lpstr>JF Flat</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taibsa staff05</dc:creator>
  <cp:lastModifiedBy>Mahmoud Abu Farha</cp:lastModifiedBy>
  <cp:revision>177</cp:revision>
  <dcterms:created xsi:type="dcterms:W3CDTF">2023-10-11T08:57:01Z</dcterms:created>
  <dcterms:modified xsi:type="dcterms:W3CDTF">2024-10-14T12:47:46Z</dcterms:modified>
</cp:coreProperties>
</file>